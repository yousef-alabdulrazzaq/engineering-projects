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78" r:id="rId2"/>
    <p:sldId id="279" r:id="rId3"/>
    <p:sldId id="294" r:id="rId4"/>
    <p:sldId id="295" r:id="rId5"/>
    <p:sldId id="281" r:id="rId6"/>
    <p:sldId id="282" r:id="rId7"/>
    <p:sldId id="283" r:id="rId8"/>
    <p:sldId id="265" r:id="rId9"/>
    <p:sldId id="284" r:id="rId10"/>
    <p:sldId id="296" r:id="rId11"/>
    <p:sldId id="297" r:id="rId12"/>
    <p:sldId id="287" r:id="rId13"/>
    <p:sldId id="288" r:id="rId14"/>
    <p:sldId id="289" r:id="rId15"/>
    <p:sldId id="290" r:id="rId16"/>
    <p:sldId id="298" r:id="rId17"/>
    <p:sldId id="292" r:id="rId18"/>
    <p:sldId id="275" r:id="rId19"/>
    <p:sldId id="299" r:id="rId20"/>
    <p:sldId id="29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6ECB"/>
    <a:srgbClr val="898989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4660"/>
  </p:normalViewPr>
  <p:slideViewPr>
    <p:cSldViewPr snapToGrid="0">
      <p:cViewPr>
        <p:scale>
          <a:sx n="50" d="100"/>
          <a:sy n="50" d="100"/>
        </p:scale>
        <p:origin x="57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D7D8F1-B245-4F2A-BB93-75C36B0B47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05FA4-7325-48B4-9DCE-2939A5D323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77C98-E453-4770-81D0-A4ACD2C25E7B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AE19E9-90EF-40FA-B571-2FEE878776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Student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1F516-1A6F-4DA6-A1B4-FACB3F1B0F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DF4EE-AFF9-4901-A4C6-020CEA93D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66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9D564-43F5-4729-B5AF-847C8C1F814B}" type="datetimeFigureOut">
              <a:rPr lang="en-US" smtClean="0"/>
              <a:t>11-Jul-26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Student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CBF02-866C-4AAA-9FCF-DAF95EF23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773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white background with a design&#10;&#10;Description automatically generated">
            <a:extLst>
              <a:ext uri="{FF2B5EF4-FFF2-40B4-BE49-F238E27FC236}">
                <a16:creationId xmlns:a16="http://schemas.microsoft.com/office/drawing/2014/main" id="{95C13894-031C-F211-C3D5-03DB29BB9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553" y="0"/>
            <a:ext cx="34524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4B7B52-99E8-6834-E7DD-407EA7E08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EBABB-E683-7F3C-FBF2-5D1A3807E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AA18B-58C0-39B2-2B23-8C25E4AC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1D92-A25D-499F-9D67-3D1E5DA313AD}" type="datetime1">
              <a:rPr lang="en-US" smtClean="0"/>
              <a:t>11-Jul-26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3C157-5A64-4E59-60C7-959F540C0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>
                <a:latin typeface="Red Hat Display"/>
                <a:ea typeface="Red Hat Display"/>
                <a:cs typeface="Red Hat Display"/>
                <a:sym typeface="Red Hat Display"/>
              </a:rPr>
              <a:t>www.aum.edu.kw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2D76B-858E-506A-CFEE-4DC860361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246" y="6348036"/>
            <a:ext cx="497378" cy="365125"/>
          </a:xfrm>
        </p:spPr>
        <p:txBody>
          <a:bodyPr/>
          <a:lstStyle>
            <a:lvl1pPr>
              <a:defRPr sz="1800"/>
            </a:lvl1pPr>
          </a:lstStyle>
          <a:p>
            <a:fld id="{D6F1C9FF-3F6B-4CD7-AD30-7E5B78A479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7FA79B-898F-98DD-5A2A-4953BB61A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20" y="518425"/>
            <a:ext cx="4286012" cy="109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06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4FCA-A6A3-71F4-9020-A2DB4FD5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208AD-6917-4FEB-FF3C-E9085201D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17BC9-E536-9BD0-9240-B538E7F8F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2637B-952C-49DE-9826-229692BA3D4A}" type="datetime1">
              <a:rPr lang="en-US" smtClean="0"/>
              <a:t>11-Jul-26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C69AE-5D47-0193-C8E0-EE2545F4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www.aum.edu.kw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20512-8317-6BFE-D686-9B87E03CD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C9FF-3F6B-4CD7-AD30-7E5B78A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61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87D8-75FC-4DF3-EE96-03C49054F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4F706-22D2-7393-DAB5-73343EA6F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80AD0-AFE4-12D1-B419-3337F1EDF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2EDD-22DF-4723-9F22-79580A4C731D}" type="datetime1">
              <a:rPr lang="en-US" smtClean="0"/>
              <a:t>11-Jul-26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DD9BD-7044-806B-106B-767ACEC4B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www.aum.edu.kw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A2CFD-D82A-7BD6-2F8F-C8045CA2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C9FF-3F6B-4CD7-AD30-7E5B78A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34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FFBE9-F6FA-B982-FA5A-6E7A56AF5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F4E30-E624-BE9F-5EA4-9A6FD6F3A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9BEA0-5EDC-DC21-C9C9-EAB0EDA1A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21FD1-436A-41FF-4921-2601F8AF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259F-2ADB-432F-93BD-30F49CA07518}" type="datetime1">
              <a:rPr lang="en-US" smtClean="0"/>
              <a:t>11-Jul-26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DE360-4916-DA21-523A-715976AAC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www.aum.edu.kw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FEB92-4A90-5FA3-2DCC-E453CE12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C9FF-3F6B-4CD7-AD30-7E5B78A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0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3FF0-175D-EDAD-E49D-34A535EB5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01142-3AED-F39E-6B47-22240192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EECB51-3D9A-2681-4F24-44FCE2262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E9F29-D24D-33E0-A174-745D92AC56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FAF8E6-F064-ED9A-EBC4-3B62E0668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4FDF6-ABB4-3A33-F218-6AE489F7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393D5-027C-418A-B1C0-B28121A9209E}" type="datetime1">
              <a:rPr lang="en-US" smtClean="0"/>
              <a:t>11-Jul-26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C6EAD-2AA9-E575-38D4-68089ED81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www.aum.edu.kw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84B888-6B79-66CC-C658-E0CE6D12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D6F1C9FF-3F6B-4CD7-AD30-7E5B78A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C0847-1E97-1740-4CE1-A66005A7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5D296F-38F0-E95A-8533-75652278E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543C-262D-4EB9-A24C-9CFDB19E7379}" type="datetime1">
              <a:rPr lang="en-US" smtClean="0"/>
              <a:t>11-Jul-26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019D0-4E22-B144-0387-251830BF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www.aum.edu.kw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FFB45-7C6E-E53D-C17B-26F73ED1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C9FF-3F6B-4CD7-AD30-7E5B78A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10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FAAB3-1A47-963A-50D1-A2D35A07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0543-F33A-4B4D-9CAD-D36140B9E318}" type="datetime1">
              <a:rPr lang="en-US" smtClean="0"/>
              <a:t>11-Jul-26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CDC03-9B1C-6F55-BB86-15A64C265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www.aum.edu.kw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3A3A9-B70A-7853-21AE-EEE4D3DB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C9FF-3F6B-4CD7-AD30-7E5B78A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FDDB-BE86-975E-3737-A59F644A8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C6A89-40D5-46DE-383F-D791F6419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3D190-EE91-8D81-D9C5-A8ADF8E9E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269AB-2F00-39E7-BE7D-428FB7F3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0BEFF-91F7-4444-99FC-57CA900E30C4}" type="datetime1">
              <a:rPr lang="en-US" smtClean="0"/>
              <a:t>11-Jul-26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F7E84-99A8-9332-8113-8CC443AD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www.aum.edu.kw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86E60-3685-A5AE-F527-BC78DE7EB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C9FF-3F6B-4CD7-AD30-7E5B78A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42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DD329-2271-F55A-6DAB-10EC66EB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DEEE62-1B8B-BC7D-F00C-1D9C1AEC6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4799D-7CC0-95A3-53F6-4C43ADC68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72CE3-7C87-690F-4794-4DCA0B4D0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52EA-1308-49EA-8429-1201E9C5475E}" type="datetime1">
              <a:rPr lang="en-US" smtClean="0"/>
              <a:t>11-Jul-26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B4AE5-C124-294A-5705-DC9AF2641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www.aum.edu.kw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14227-8732-1BA0-1253-0A82D6B3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C9FF-3F6B-4CD7-AD30-7E5B78A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3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9B54-48B7-37BA-DA4E-94F39468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F44A9-887A-4323-B394-1D350061E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E6809-E792-C5C2-2B33-4FF7CB5E5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24E09-7F81-47FA-BE3F-955C5FC96014}" type="datetime1">
              <a:rPr lang="en-US" smtClean="0"/>
              <a:t>11-Jul-26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AF956-AD9B-1645-1386-0C5E6438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www.aum.edu.kw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0B21D-B680-7B36-4A9C-49FA260F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C9FF-3F6B-4CD7-AD30-7E5B78A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8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9FCE0-DA18-5B80-B6D3-DEA924844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5FFDD-C634-307E-D950-2E6308C14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AD0C9-6391-D024-FA08-1A5E95B5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ABFD-A066-43BA-99AD-87287B761806}" type="datetime1">
              <a:rPr lang="en-US" smtClean="0"/>
              <a:t>11-Jul-26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AE459-0A2A-639A-C82C-D2B064FA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www.aum.edu.kw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25F26-7B71-B5D6-03C3-0607711F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C9FF-3F6B-4CD7-AD30-7E5B78A47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6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red background with a bird&#10;&#10;Description automatically generated">
            <a:extLst>
              <a:ext uri="{FF2B5EF4-FFF2-40B4-BE49-F238E27FC236}">
                <a16:creationId xmlns:a16="http://schemas.microsoft.com/office/drawing/2014/main" id="{5CE68507-E4AC-50D9-2AB4-27E850D5DA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82453" y="0"/>
            <a:ext cx="3109547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9FF874-D763-DF53-D722-D71AC9834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99381-9FB2-162E-B56B-C4A40ADB3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576A7-476A-8D79-D632-58E941914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18717-7777-44B6-8476-C21573824E3A}" type="datetime1">
              <a:rPr lang="en-US" smtClean="0"/>
              <a:t>11-Jul-26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E6B3E-9A43-846B-D253-09FC029F2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www.aum.edu.kw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E55C83-A0F5-6FC4-EF87-7E5B13A9848D}"/>
              </a:ext>
            </a:extLst>
          </p:cNvPr>
          <p:cNvSpPr/>
          <p:nvPr/>
        </p:nvSpPr>
        <p:spPr>
          <a:xfrm>
            <a:off x="0" y="365124"/>
            <a:ext cx="140678" cy="13255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W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E02B1B-8CE2-9538-14F0-DE518AABFE8B}"/>
              </a:ext>
            </a:extLst>
          </p:cNvPr>
          <p:cNvSpPr/>
          <p:nvPr userDrawn="1"/>
        </p:nvSpPr>
        <p:spPr>
          <a:xfrm>
            <a:off x="140678" y="6356350"/>
            <a:ext cx="697522" cy="365125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F3451-9B0E-897A-083D-4ECD7742C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559" y="6348036"/>
            <a:ext cx="4973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D6F1C9FF-3F6B-4CD7-AD30-7E5B78A479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45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chemeClr val="accent6">
              <a:lumMod val="50000"/>
            </a:schemeClr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6">
            <a:lumMod val="50000"/>
          </a:schemeClr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6">
            <a:lumMod val="50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6">
            <a:lumMod val="50000"/>
          </a:schemeClr>
        </a:buClr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6">
            <a:lumMod val="50000"/>
          </a:schemeClr>
        </a:buClr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6">
            <a:lumMod val="50000"/>
          </a:schemeClr>
        </a:buClr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50392-88A5-1996-C866-57684C5DD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95500"/>
            <a:ext cx="10363200" cy="889000"/>
          </a:xfrm>
        </p:spPr>
        <p:txBody>
          <a:bodyPr>
            <a:noAutofit/>
          </a:bodyPr>
          <a:lstStyle/>
          <a:p>
            <a:pPr algn="ctr"/>
            <a:r>
              <a:rPr sz="4000" b="1" dirty="0">
                <a:solidFill>
                  <a:srgbClr val="222222"/>
                </a:solidFill>
              </a:rPr>
              <a:t>EECE301: Signals and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B6AF3-EADF-78CC-86DA-4122AAC6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3615" y="6356349"/>
            <a:ext cx="497378" cy="365125"/>
          </a:xfrm>
        </p:spPr>
        <p:txBody>
          <a:bodyPr/>
          <a:lstStyle/>
          <a:p>
            <a:pPr algn="ctr"/>
            <a:fld id="{D6F1C9FF-3F6B-4CD7-AD30-7E5B78A479A7}" type="slidenum">
              <a:rPr lang="en-US" smtClean="0"/>
              <a:pPr algn="ctr"/>
              <a:t>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F4122-8E56-AF82-6A28-816DF705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Red Hat Display"/>
                <a:ea typeface="Red Hat Display"/>
                <a:cs typeface="Red Hat Display"/>
                <a:sym typeface="Red Hat Display"/>
              </a:rPr>
              <a:t>www.aum.edu.kw</a:t>
            </a:r>
            <a:endParaRPr lang="en-GB" dirty="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8FBA647-333E-493D-9237-BA0523BE0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1624" y="3141801"/>
            <a:ext cx="11047936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3600" b="1" dirty="0">
                <a:solidFill>
                  <a:srgbClr val="99191E"/>
                </a:solidFill>
                <a:latin typeface="Calibri"/>
              </a:rPr>
              <a:t>Noise Analysis &amp; Filtering of an Audio Signal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222222"/>
                </a:solidFill>
                <a:latin typeface="Calibri"/>
              </a:rPr>
              <a:t>PD2	    </a:t>
            </a:r>
            <a:r>
              <a:rPr sz="1600" b="1" dirty="0">
                <a:solidFill>
                  <a:srgbClr val="222222"/>
                </a:solidFill>
                <a:latin typeface="Calibri"/>
              </a:rPr>
              <a:t>Section M1</a:t>
            </a:r>
            <a:r>
              <a:rPr lang="en-US" sz="1600" b="1" dirty="0">
                <a:solidFill>
                  <a:srgbClr val="222222"/>
                </a:solidFill>
                <a:latin typeface="Calibri"/>
              </a:rPr>
              <a:t>	</a:t>
            </a:r>
            <a:r>
              <a:rPr sz="1600" b="1" dirty="0">
                <a:solidFill>
                  <a:srgbClr val="222222"/>
                </a:solidFill>
                <a:latin typeface="Calibri"/>
              </a:rPr>
              <a:t>Group 5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0" dirty="0">
                <a:solidFill>
                  <a:srgbClr val="222222"/>
                </a:solidFill>
                <a:latin typeface="Calibri"/>
              </a:rPr>
              <a:t>Yousef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AlAbdulrazzaq</a:t>
            </a:r>
            <a:r>
              <a:rPr b="0" dirty="0">
                <a:solidFill>
                  <a:srgbClr val="222222"/>
                </a:solidFill>
                <a:latin typeface="Calibri"/>
              </a:rPr>
              <a:t> (75018)      Jamal </a:t>
            </a:r>
            <a:r>
              <a:rPr b="0" dirty="0" err="1">
                <a:solidFill>
                  <a:srgbClr val="222222"/>
                </a:solidFill>
                <a:latin typeface="Calibri"/>
              </a:rPr>
              <a:t>AlEleawah</a:t>
            </a:r>
            <a:r>
              <a:rPr b="0" dirty="0">
                <a:solidFill>
                  <a:srgbClr val="222222"/>
                </a:solidFill>
                <a:latin typeface="Calibri"/>
              </a:rPr>
              <a:t> (10094770)      Abdelrahman Hussein (10095516)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b="0" dirty="0">
                <a:solidFill>
                  <a:srgbClr val="5A5A5A"/>
                </a:solidFill>
                <a:latin typeface="Century Schoolbook" panose="02040604050505020304" pitchFamily="18" charset="0"/>
              </a:rPr>
              <a:t>Instructor:  Dr. Yazid Khattabi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5A5A5A"/>
                </a:solidFill>
                <a:latin typeface="Calibri"/>
              </a:rPr>
              <a:t>12 July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6115C4-8E6B-8ADE-9117-7D7A7F96DE53}"/>
              </a:ext>
            </a:extLst>
          </p:cNvPr>
          <p:cNvSpPr txBox="1"/>
          <p:nvPr/>
        </p:nvSpPr>
        <p:spPr>
          <a:xfrm>
            <a:off x="1015299" y="6356349"/>
            <a:ext cx="1740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Jamal AlEleawah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983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F1575-4C2C-EE12-91A8-8FED7AB0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Table of Contents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B4DF4-5D24-AE73-F6E7-E2743E93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5621" y="6356349"/>
            <a:ext cx="497378" cy="365125"/>
          </a:xfrm>
        </p:spPr>
        <p:txBody>
          <a:bodyPr/>
          <a:lstStyle/>
          <a:p>
            <a:pPr algn="ctr"/>
            <a:fld id="{D6F1C9FF-3F6B-4CD7-AD30-7E5B78A479A7}" type="slidenum">
              <a:rPr lang="en-US" smtClean="0"/>
              <a:pPr algn="ctr"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72836-069E-5D15-244E-8C6CFAFB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www.aum.edu.kw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5120640" cy="2367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 dirty="0">
                <a:solidFill>
                  <a:srgbClr val="E1242C"/>
                </a:solidFill>
                <a:latin typeface="Calibri"/>
              </a:rPr>
              <a:t>1.  </a:t>
            </a:r>
            <a:r>
              <a:rPr sz="1700" b="1" dirty="0">
                <a:solidFill>
                  <a:srgbClr val="222222"/>
                </a:solidFill>
                <a:latin typeface="Calibri"/>
              </a:rPr>
              <a:t>Introduction</a:t>
            </a:r>
            <a:r>
              <a:rPr sz="1300" i="1" dirty="0">
                <a:solidFill>
                  <a:srgbClr val="5A5A5A"/>
                </a:solidFill>
                <a:latin typeface="Calibri"/>
              </a:rPr>
              <a:t> </a:t>
            </a:r>
            <a:r>
              <a:rPr lang="en-US" sz="1300" i="1" dirty="0">
                <a:solidFill>
                  <a:srgbClr val="5A5A5A"/>
                </a:solidFill>
                <a:latin typeface="Calibri"/>
              </a:rPr>
              <a:t> </a:t>
            </a:r>
          </a:p>
          <a:p>
            <a:pPr>
              <a:spcAft>
                <a:spcPts val="1100"/>
              </a:spcAft>
            </a:pPr>
            <a:r>
              <a:rPr lang="en-US" sz="1700" b="1" dirty="0">
                <a:solidFill>
                  <a:srgbClr val="E1242C"/>
                </a:solidFill>
                <a:latin typeface="Calibri"/>
              </a:rPr>
              <a:t>2.  </a:t>
            </a:r>
            <a:r>
              <a:rPr lang="en-US" sz="1700" b="1" dirty="0">
                <a:solidFill>
                  <a:srgbClr val="222222"/>
                </a:solidFill>
                <a:latin typeface="Calibri"/>
              </a:rPr>
              <a:t>Project Objectives</a:t>
            </a:r>
            <a:r>
              <a:rPr lang="en-US" sz="1300" i="1" dirty="0">
                <a:solidFill>
                  <a:srgbClr val="5A5A5A"/>
                </a:solidFill>
                <a:latin typeface="Calibri"/>
              </a:rPr>
              <a:t>  </a:t>
            </a:r>
          </a:p>
          <a:p>
            <a:pPr>
              <a:spcAft>
                <a:spcPts val="1100"/>
              </a:spcAft>
            </a:pPr>
            <a:r>
              <a:rPr sz="1700" b="1" dirty="0">
                <a:solidFill>
                  <a:srgbClr val="E1242C"/>
                </a:solidFill>
                <a:latin typeface="Calibri"/>
              </a:rPr>
              <a:t>3.  </a:t>
            </a:r>
            <a:r>
              <a:rPr sz="1700" b="1" dirty="0">
                <a:solidFill>
                  <a:srgbClr val="222222"/>
                </a:solidFill>
                <a:latin typeface="Calibri"/>
              </a:rPr>
              <a:t>Criteria &amp; Constraints</a:t>
            </a:r>
            <a:r>
              <a:rPr sz="1300" i="1" dirty="0">
                <a:solidFill>
                  <a:srgbClr val="5A5A5A"/>
                </a:solidFill>
                <a:latin typeface="Calibri"/>
              </a:rPr>
              <a:t>  </a:t>
            </a:r>
          </a:p>
          <a:p>
            <a:pPr>
              <a:spcAft>
                <a:spcPts val="1100"/>
              </a:spcAft>
            </a:pPr>
            <a:r>
              <a:rPr sz="1700" b="1" dirty="0">
                <a:solidFill>
                  <a:srgbClr val="E1242C"/>
                </a:solidFill>
                <a:latin typeface="Calibri"/>
              </a:rPr>
              <a:t>4.  </a:t>
            </a:r>
            <a:r>
              <a:rPr sz="1700" b="1" dirty="0">
                <a:solidFill>
                  <a:srgbClr val="222222"/>
                </a:solidFill>
                <a:latin typeface="Calibri"/>
              </a:rPr>
              <a:t>Assigned Code &amp; Audio</a:t>
            </a:r>
            <a:r>
              <a:rPr sz="1300" i="1" dirty="0">
                <a:solidFill>
                  <a:srgbClr val="5A5A5A"/>
                </a:solidFill>
                <a:latin typeface="Calibri"/>
              </a:rPr>
              <a:t>  </a:t>
            </a:r>
          </a:p>
          <a:p>
            <a:pPr>
              <a:spcAft>
                <a:spcPts val="1100"/>
              </a:spcAft>
            </a:pPr>
            <a:r>
              <a:rPr sz="1700" b="1" dirty="0">
                <a:solidFill>
                  <a:srgbClr val="E1242C"/>
                </a:solidFill>
                <a:latin typeface="Calibri"/>
              </a:rPr>
              <a:t>5.  </a:t>
            </a:r>
            <a:r>
              <a:rPr sz="1700" b="1" dirty="0">
                <a:solidFill>
                  <a:srgbClr val="222222"/>
                </a:solidFill>
                <a:latin typeface="Calibri"/>
              </a:rPr>
              <a:t>MATLAB Program Overview</a:t>
            </a:r>
            <a:r>
              <a:rPr sz="1300" i="1" dirty="0">
                <a:solidFill>
                  <a:srgbClr val="5A5A5A"/>
                </a:solidFill>
                <a:latin typeface="Calibri"/>
              </a:rPr>
              <a:t>  </a:t>
            </a:r>
          </a:p>
          <a:p>
            <a:pPr>
              <a:spcAft>
                <a:spcPts val="1100"/>
              </a:spcAft>
            </a:pPr>
            <a:r>
              <a:rPr sz="1700" b="1" dirty="0">
                <a:solidFill>
                  <a:srgbClr val="E1242C"/>
                </a:solidFill>
                <a:latin typeface="Calibri"/>
              </a:rPr>
              <a:t>6.  </a:t>
            </a:r>
            <a:r>
              <a:rPr sz="1700" b="1" dirty="0">
                <a:solidFill>
                  <a:srgbClr val="222222"/>
                </a:solidFill>
                <a:latin typeface="Calibri"/>
              </a:rPr>
              <a:t>Program Flowchart</a:t>
            </a:r>
            <a:r>
              <a:rPr sz="1300" i="1" dirty="0">
                <a:solidFill>
                  <a:srgbClr val="5A5A5A"/>
                </a:solidFill>
                <a:latin typeface="Calibri"/>
              </a:rPr>
              <a:t>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65960"/>
            <a:ext cx="5120640" cy="2367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 dirty="0">
                <a:solidFill>
                  <a:srgbClr val="E1242C"/>
                </a:solidFill>
                <a:latin typeface="Calibri"/>
              </a:rPr>
              <a:t>7.  </a:t>
            </a:r>
            <a:r>
              <a:rPr sz="1700" b="1" dirty="0">
                <a:solidFill>
                  <a:srgbClr val="222222"/>
                </a:solidFill>
                <a:latin typeface="Calibri"/>
              </a:rPr>
              <a:t>Signal Processing Methodology</a:t>
            </a:r>
            <a:r>
              <a:rPr sz="1300" i="1" dirty="0">
                <a:solidFill>
                  <a:srgbClr val="5A5A5A"/>
                </a:solidFill>
                <a:latin typeface="Calibri"/>
              </a:rPr>
              <a:t>  </a:t>
            </a:r>
          </a:p>
          <a:p>
            <a:pPr>
              <a:spcAft>
                <a:spcPts val="1100"/>
              </a:spcAft>
            </a:pPr>
            <a:r>
              <a:rPr sz="1700" b="1" dirty="0">
                <a:solidFill>
                  <a:srgbClr val="E1242C"/>
                </a:solidFill>
                <a:latin typeface="Calibri"/>
              </a:rPr>
              <a:t>8.  </a:t>
            </a:r>
            <a:r>
              <a:rPr sz="1700" b="1" dirty="0">
                <a:solidFill>
                  <a:srgbClr val="222222"/>
                </a:solidFill>
                <a:latin typeface="Calibri"/>
              </a:rPr>
              <a:t>Results &amp; Analysis</a:t>
            </a:r>
            <a:r>
              <a:rPr sz="1300" i="1" dirty="0">
                <a:solidFill>
                  <a:srgbClr val="5A5A5A"/>
                </a:solidFill>
                <a:latin typeface="Calibri"/>
              </a:rPr>
              <a:t>  </a:t>
            </a:r>
          </a:p>
          <a:p>
            <a:pPr>
              <a:spcAft>
                <a:spcPts val="1100"/>
              </a:spcAft>
            </a:pPr>
            <a:r>
              <a:rPr sz="1700" b="1" dirty="0">
                <a:solidFill>
                  <a:srgbClr val="E1242C"/>
                </a:solidFill>
                <a:latin typeface="Calibri"/>
              </a:rPr>
              <a:t>9.  </a:t>
            </a:r>
            <a:r>
              <a:rPr sz="1700" b="1" dirty="0">
                <a:solidFill>
                  <a:srgbClr val="222222"/>
                </a:solidFill>
                <a:latin typeface="Calibri"/>
              </a:rPr>
              <a:t>Discussion</a:t>
            </a:r>
            <a:r>
              <a:rPr sz="1300" i="1" dirty="0">
                <a:solidFill>
                  <a:srgbClr val="5A5A5A"/>
                </a:solidFill>
                <a:latin typeface="Calibri"/>
              </a:rPr>
              <a:t>  </a:t>
            </a:r>
          </a:p>
          <a:p>
            <a:pPr>
              <a:spcAft>
                <a:spcPts val="1100"/>
              </a:spcAft>
            </a:pPr>
            <a:r>
              <a:rPr sz="1700" b="1" dirty="0">
                <a:solidFill>
                  <a:srgbClr val="E1242C"/>
                </a:solidFill>
                <a:latin typeface="Calibri"/>
              </a:rPr>
              <a:t>10.  </a:t>
            </a:r>
            <a:r>
              <a:rPr sz="1700" b="1" dirty="0">
                <a:solidFill>
                  <a:srgbClr val="222222"/>
                </a:solidFill>
                <a:latin typeface="Calibri"/>
              </a:rPr>
              <a:t>Reflections on the Team</a:t>
            </a:r>
            <a:r>
              <a:rPr sz="1300" i="1" dirty="0">
                <a:solidFill>
                  <a:srgbClr val="5A5A5A"/>
                </a:solidFill>
                <a:latin typeface="Calibri"/>
              </a:rPr>
              <a:t>  </a:t>
            </a:r>
          </a:p>
          <a:p>
            <a:pPr>
              <a:spcAft>
                <a:spcPts val="1100"/>
              </a:spcAft>
            </a:pPr>
            <a:r>
              <a:rPr sz="1700" b="1" dirty="0">
                <a:solidFill>
                  <a:srgbClr val="E1242C"/>
                </a:solidFill>
                <a:latin typeface="Calibri"/>
              </a:rPr>
              <a:t>11.  </a:t>
            </a:r>
            <a:r>
              <a:rPr sz="1700" b="1" dirty="0">
                <a:solidFill>
                  <a:srgbClr val="222222"/>
                </a:solidFill>
                <a:latin typeface="Calibri"/>
              </a:rPr>
              <a:t>Conclusion &amp; Future Remarks</a:t>
            </a:r>
            <a:endParaRPr sz="1300" i="1" dirty="0">
              <a:solidFill>
                <a:srgbClr val="5A5A5A"/>
              </a:solidFill>
              <a:latin typeface="Calibri"/>
            </a:endParaRPr>
          </a:p>
          <a:p>
            <a:pPr>
              <a:spcAft>
                <a:spcPts val="1100"/>
              </a:spcAft>
            </a:pPr>
            <a:r>
              <a:rPr sz="1700" b="1" dirty="0">
                <a:solidFill>
                  <a:srgbClr val="E1242C"/>
                </a:solidFill>
                <a:latin typeface="Calibri"/>
              </a:rPr>
              <a:t>12.  </a:t>
            </a:r>
            <a:r>
              <a:rPr sz="1700" b="1" dirty="0">
                <a:solidFill>
                  <a:srgbClr val="222222"/>
                </a:solidFill>
                <a:latin typeface="Calibri"/>
              </a:rPr>
              <a:t>References</a:t>
            </a:r>
            <a:endParaRPr sz="1300" i="1" dirty="0">
              <a:solidFill>
                <a:srgbClr val="5A5A5A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16032-3E3B-FD10-AC58-E3EE5C2BC60F}"/>
              </a:ext>
            </a:extLst>
          </p:cNvPr>
          <p:cNvSpPr txBox="1"/>
          <p:nvPr/>
        </p:nvSpPr>
        <p:spPr>
          <a:xfrm>
            <a:off x="1015299" y="6356349"/>
            <a:ext cx="1740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Jamal AlEleawah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39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 dirty="0">
                <a:solidFill>
                  <a:srgbClr val="222222"/>
                </a:solidFill>
                <a:latin typeface="Calibri"/>
              </a:rPr>
              <a:t>A clean audio clip has been corrupted with high-frequency noise, and we recover it using frequency analysis and filtering.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 dirty="0">
                <a:solidFill>
                  <a:srgbClr val="222222"/>
                </a:solidFill>
                <a:latin typeface="Calibri"/>
              </a:rPr>
              <a:t>PD1 studied a continuous-time signal under noise; here we extend that to a discrete-time MATLAB simulation on real audio.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 dirty="0">
                <a:solidFill>
                  <a:srgbClr val="222222"/>
                </a:solidFill>
                <a:latin typeface="Calibri"/>
              </a:rPr>
              <a:t>Our assignment (Table 2): Section M1, Group 5, runs Code3 on </a:t>
            </a:r>
            <a:r>
              <a:rPr sz="1800" b="0" dirty="0" err="1">
                <a:solidFill>
                  <a:srgbClr val="222222"/>
                </a:solidFill>
                <a:latin typeface="Calibri"/>
              </a:rPr>
              <a:t>AudioB</a:t>
            </a:r>
            <a:r>
              <a:rPr sz="1800" b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  <a:latin typeface="Calibri"/>
              </a:rPr>
              <a:t>The work rests on two tools: Fourier Transform (F</a:t>
            </a:r>
            <a:r>
              <a:rPr lang="en-US" sz="1800" b="0" dirty="0">
                <a:solidFill>
                  <a:srgbClr val="222222"/>
                </a:solidFill>
                <a:latin typeface="Calibri"/>
              </a:rPr>
              <a:t>FT)</a:t>
            </a:r>
            <a:r>
              <a:rPr sz="1800" b="0" dirty="0">
                <a:solidFill>
                  <a:srgbClr val="222222"/>
                </a:solidFill>
                <a:latin typeface="Calibri"/>
              </a:rPr>
              <a:t> spectral analysis and a low-pass filter.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2914C-FEF1-8EFF-5025-A515DBAC5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9315" y="6348036"/>
            <a:ext cx="497378" cy="365125"/>
          </a:xfrm>
        </p:spPr>
        <p:txBody>
          <a:bodyPr/>
          <a:lstStyle/>
          <a:p>
            <a:pPr algn="ctr"/>
            <a:fld id="{D6F1C9FF-3F6B-4CD7-AD30-7E5B78A479A7}" type="slidenum">
              <a:rPr lang="en-US" smtClean="0"/>
              <a:pPr algn="ctr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031FAD-2E73-EC39-9829-8606C3CB5ED4}"/>
              </a:ext>
            </a:extLst>
          </p:cNvPr>
          <p:cNvSpPr txBox="1"/>
          <p:nvPr/>
        </p:nvSpPr>
        <p:spPr>
          <a:xfrm>
            <a:off x="1015299" y="6356349"/>
            <a:ext cx="1740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Jamal AlEleawah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593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Characterize the assigned audio signal in both time and frequency domains.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Model additive two-tone interference and observe its spectral signature.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Design and apply a low-pass filter to suppress out-of-band noise.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Interpret the filter’s effect and justify every result using Fourier theory.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Reconstruct and evaluate the filtered signal, and identify the method’s limits.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34B5C-EB32-0385-343F-8D8A37D2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5621" y="6348036"/>
            <a:ext cx="497378" cy="365125"/>
          </a:xfrm>
        </p:spPr>
        <p:txBody>
          <a:bodyPr/>
          <a:lstStyle/>
          <a:p>
            <a:pPr algn="ctr"/>
            <a:fld id="{D6F1C9FF-3F6B-4CD7-AD30-7E5B78A479A7}" type="slidenum">
              <a:rPr lang="en-US" smtClean="0"/>
              <a:pPr algn="ctr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7F612-100F-00C4-503F-B35364DD644A}"/>
              </a:ext>
            </a:extLst>
          </p:cNvPr>
          <p:cNvSpPr txBox="1"/>
          <p:nvPr/>
        </p:nvSpPr>
        <p:spPr>
          <a:xfrm>
            <a:off x="1015299" y="6356349"/>
            <a:ext cx="1740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Jamal AlEleawah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36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Criteria &amp; Constraints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900" b="1">
                <a:solidFill>
                  <a:srgbClr val="E1242C"/>
                </a:solidFill>
                <a:latin typeface="Calibri"/>
              </a:rPr>
              <a:t>Design Criteria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Recover the desired audio band with minimal distortion.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Attenuate the out-of-band tones strongly and measurably.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Keep the filter transparent inside the signal band.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900" b="1">
                <a:solidFill>
                  <a:srgbClr val="E1242C"/>
                </a:solidFill>
                <a:latin typeface="Calibri"/>
              </a:rPr>
              <a:t>Constraints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Sampling rate is fixed by the file: Fs = 48 kHz (Nyquist 24 kHz).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Use the provided code and audio as-is; only pick the assigned pair.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One fixed low-pass filter (order 15, fc = 6 kHz), no adaptive or staged filtering.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83841D2-0792-4F53-30D5-A11DB88B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5621" y="6360648"/>
            <a:ext cx="497378" cy="365125"/>
          </a:xfrm>
        </p:spPr>
        <p:txBody>
          <a:bodyPr/>
          <a:lstStyle/>
          <a:p>
            <a:pPr algn="ctr"/>
            <a:fld id="{D6F1C9FF-3F6B-4CD7-AD30-7E5B78A479A7}" type="slidenum">
              <a:rPr lang="en-US" sz="1800" smtClean="0">
                <a:solidFill>
                  <a:schemeClr val="bg1"/>
                </a:solidFill>
              </a:rPr>
              <a:pPr algn="ctr"/>
              <a:t>5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3A1C0-9870-C695-60EC-9AC8E49E3E89}"/>
              </a:ext>
            </a:extLst>
          </p:cNvPr>
          <p:cNvSpPr txBox="1"/>
          <p:nvPr/>
        </p:nvSpPr>
        <p:spPr>
          <a:xfrm>
            <a:off x="1015299" y="6356349"/>
            <a:ext cx="1740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Jamal AlEleawah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54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Assigned MATLAB Code &amp; Audio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Our assigned pair is Code3 running on AudioB (Section M, odd, Group 5).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AudioB: 3.624 s, Fs = 48 kHz, mono, 173,952 samples, peak amplitude 0.97.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Code3 adds two tones, 0.024·sin(2π·5000t) + 0.048·sin(2π·10000t), at </a:t>
            </a:r>
            <a:r>
              <a:rPr sz="1800" b="1">
                <a:solidFill>
                  <a:srgbClr val="222222"/>
                </a:solidFill>
                <a:latin typeface="Calibri"/>
              </a:rPr>
              <a:t>5 kHz and 10 kHz</a:t>
            </a:r>
            <a:r>
              <a:rPr sz="1800" b="0">
                <a:solidFill>
                  <a:srgbClr val="222222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The code selects the file through audioread; we enable the AudioB line and run it unmodified.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5742432"/>
            <a:ext cx="10515600" cy="475488"/>
          </a:xfrm>
          <a:prstGeom prst="rect">
            <a:avLst/>
          </a:prstGeom>
          <a:solidFill>
            <a:srgbClr val="FBECEC"/>
          </a:solidFill>
          <a:ln w="15875">
            <a:solidFill>
              <a:srgbClr val="991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bIns="25400" rtlCol="0" anchor="ctr"/>
          <a:lstStyle/>
          <a:p>
            <a:pPr algn="l"/>
            <a:r>
              <a:rPr sz="1350" b="0">
                <a:solidFill>
                  <a:srgbClr val="99191E"/>
                </a:solidFill>
                <a:latin typeface="Calibri"/>
              </a:rPr>
              <a:t>The 5 kHz tone lands inside the audio band while the 10 kHz tone lands outside it, and that single fact drives every result.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F0330C9-931F-27A3-2BBE-1F1DD130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5621" y="6348036"/>
            <a:ext cx="497378" cy="365125"/>
          </a:xfrm>
        </p:spPr>
        <p:txBody>
          <a:bodyPr/>
          <a:lstStyle/>
          <a:p>
            <a:pPr algn="ctr"/>
            <a:fld id="{D6F1C9FF-3F6B-4CD7-AD30-7E5B78A479A7}" type="slidenum">
              <a:rPr lang="en-US" smtClean="0"/>
              <a:pPr algn="ctr"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144C17-6039-2209-0377-5C34C840007D}"/>
              </a:ext>
            </a:extLst>
          </p:cNvPr>
          <p:cNvSpPr txBox="1"/>
          <p:nvPr/>
        </p:nvSpPr>
        <p:spPr>
          <a:xfrm>
            <a:off x="1015299" y="6356349"/>
            <a:ext cx="1740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Jamal AlEleawah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38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MATLAB Program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A single linear pipeline, with no loops or branching beyond file selection: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1242C"/>
                </a:solidFill>
                <a:latin typeface="Calibri"/>
              </a:rPr>
              <a:t>1.  </a:t>
            </a:r>
            <a:r>
              <a:rPr sz="1550" b="1">
                <a:solidFill>
                  <a:srgbClr val="222222"/>
                </a:solidFill>
                <a:latin typeface="Calibri"/>
              </a:rPr>
              <a:t>Read audio  </a:t>
            </a:r>
            <a:r>
              <a:rPr sz="1550" b="0">
                <a:solidFill>
                  <a:srgbClr val="222222"/>
                </a:solidFill>
                <a:latin typeface="Calibri"/>
              </a:rPr>
              <a:t>audioread → signal s, rate Fs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1242C"/>
                </a:solidFill>
                <a:latin typeface="Calibri"/>
              </a:rPr>
              <a:t>2.  </a:t>
            </a:r>
            <a:r>
              <a:rPr sz="1550" b="1">
                <a:solidFill>
                  <a:srgbClr val="222222"/>
                </a:solidFill>
                <a:latin typeface="Calibri"/>
              </a:rPr>
              <a:t>Corrupt  </a:t>
            </a:r>
            <a:r>
              <a:rPr sz="1550" b="0">
                <a:solidFill>
                  <a:srgbClr val="222222"/>
                </a:solidFill>
                <a:latin typeface="Calibri"/>
              </a:rPr>
              <a:t>add two-tone interference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1242C"/>
                </a:solidFill>
                <a:latin typeface="Calibri"/>
              </a:rPr>
              <a:t>3.  </a:t>
            </a:r>
            <a:r>
              <a:rPr sz="1550" b="1">
                <a:solidFill>
                  <a:srgbClr val="222222"/>
                </a:solidFill>
                <a:latin typeface="Calibri"/>
              </a:rPr>
              <a:t>Inspect  </a:t>
            </a:r>
            <a:r>
              <a:rPr sz="1550" b="0">
                <a:solidFill>
                  <a:srgbClr val="222222"/>
                </a:solidFill>
                <a:latin typeface="Calibri"/>
              </a:rPr>
              <a:t>time-domain plot + play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1242C"/>
                </a:solidFill>
                <a:latin typeface="Calibri"/>
              </a:rPr>
              <a:t>4.  </a:t>
            </a:r>
            <a:r>
              <a:rPr sz="1550" b="1">
                <a:solidFill>
                  <a:srgbClr val="222222"/>
                </a:solidFill>
                <a:latin typeface="Calibri"/>
              </a:rPr>
              <a:t>Transform  </a:t>
            </a:r>
            <a:r>
              <a:rPr sz="1550" b="0">
                <a:solidFill>
                  <a:srgbClr val="222222"/>
                </a:solidFill>
                <a:latin typeface="Calibri"/>
              </a:rPr>
              <a:t>fft → fftshift → two-sided spectrum (2|X|/N)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1242C"/>
                </a:solidFill>
                <a:latin typeface="Calibri"/>
              </a:rPr>
              <a:t>5.  </a:t>
            </a:r>
            <a:r>
              <a:rPr sz="1550" b="1">
                <a:solidFill>
                  <a:srgbClr val="222222"/>
                </a:solidFill>
                <a:latin typeface="Calibri"/>
              </a:rPr>
              <a:t>Design filter  </a:t>
            </a:r>
            <a:r>
              <a:rPr sz="1550" b="0">
                <a:solidFill>
                  <a:srgbClr val="222222"/>
                </a:solidFill>
                <a:latin typeface="Calibri"/>
              </a:rPr>
              <a:t>butter(15, 6000/(Fs/2), 'low'); view freqz / impz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1242C"/>
                </a:solidFill>
                <a:latin typeface="Calibri"/>
              </a:rPr>
              <a:t>6.  </a:t>
            </a:r>
            <a:r>
              <a:rPr sz="1550" b="1">
                <a:solidFill>
                  <a:srgbClr val="222222"/>
                </a:solidFill>
                <a:latin typeface="Calibri"/>
              </a:rPr>
              <a:t>Filter &amp; re-analyze  </a:t>
            </a:r>
            <a:r>
              <a:rPr sz="1550" b="0">
                <a:solidFill>
                  <a:srgbClr val="222222"/>
                </a:solidFill>
                <a:latin typeface="Calibri"/>
              </a:rPr>
              <a:t>filter → one-sided spectrum of output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E1242C"/>
                </a:solidFill>
                <a:latin typeface="Calibri"/>
              </a:rPr>
              <a:t>7.  </a:t>
            </a:r>
            <a:r>
              <a:rPr sz="1550" b="1">
                <a:solidFill>
                  <a:srgbClr val="222222"/>
                </a:solidFill>
                <a:latin typeface="Calibri"/>
              </a:rPr>
              <a:t>Reconstruct  </a:t>
            </a:r>
            <a:r>
              <a:rPr sz="1550" b="0">
                <a:solidFill>
                  <a:srgbClr val="222222"/>
                </a:solidFill>
                <a:latin typeface="Calibri"/>
              </a:rPr>
              <a:t>ifft → plot + play filtered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78DE5-3553-BE06-F918-2C6FFA28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9314" y="6348036"/>
            <a:ext cx="497378" cy="365125"/>
          </a:xfrm>
        </p:spPr>
        <p:txBody>
          <a:bodyPr/>
          <a:lstStyle/>
          <a:p>
            <a:pPr algn="ctr"/>
            <a:fld id="{D6F1C9FF-3F6B-4CD7-AD30-7E5B78A479A7}" type="slidenum">
              <a:rPr lang="en-US" smtClean="0"/>
              <a:pPr algn="ctr"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070F0-D2ED-35FB-FBFA-9FEB8DA30CCC}"/>
              </a:ext>
            </a:extLst>
          </p:cNvPr>
          <p:cNvSpPr txBox="1"/>
          <p:nvPr/>
        </p:nvSpPr>
        <p:spPr>
          <a:xfrm>
            <a:off x="1015299" y="6356349"/>
            <a:ext cx="2184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Yousef </a:t>
            </a:r>
            <a:r>
              <a:rPr lang="en-US" dirty="0" err="1">
                <a:solidFill>
                  <a:srgbClr val="222222"/>
                </a:solidFill>
              </a:rPr>
              <a:t>AlAbdulrazzaq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678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Program Flowchart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AC6BF8-DC27-F2CD-25D6-82F469FE4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394" y="1690688"/>
            <a:ext cx="7971211" cy="3749365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030B512-2040-C9BF-5CBE-33FA4C37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9314" y="6348036"/>
            <a:ext cx="497378" cy="365125"/>
          </a:xfrm>
        </p:spPr>
        <p:txBody>
          <a:bodyPr/>
          <a:lstStyle/>
          <a:p>
            <a:pPr algn="ctr"/>
            <a:fld id="{D6F1C9FF-3F6B-4CD7-AD30-7E5B78A479A7}" type="slidenum">
              <a:rPr lang="en-US" smtClean="0"/>
              <a:pPr algn="ctr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FFB97-69A7-6F6A-A2C3-4ACC0B84F1C9}"/>
              </a:ext>
            </a:extLst>
          </p:cNvPr>
          <p:cNvSpPr txBox="1"/>
          <p:nvPr/>
        </p:nvSpPr>
        <p:spPr>
          <a:xfrm>
            <a:off x="1015299" y="6356349"/>
            <a:ext cx="2184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Yousef </a:t>
            </a:r>
            <a:r>
              <a:rPr lang="en-US" dirty="0" err="1">
                <a:solidFill>
                  <a:srgbClr val="222222"/>
                </a:solidFill>
              </a:rPr>
              <a:t>AlAbdulrazzaq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Methodology: Sampling &amp; the Nyquist Limit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At Fs = 48 kHz, samples land every ts = 1/Fs ≈ 20.8 µs.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The Nyquist frequency Fs/2 = </a:t>
            </a:r>
            <a:r>
              <a:rPr sz="1800" b="1">
                <a:solidFill>
                  <a:srgbClr val="222222"/>
                </a:solidFill>
                <a:latin typeface="Calibri"/>
              </a:rPr>
              <a:t>24 kHz</a:t>
            </a:r>
            <a:r>
              <a:rPr sz="1800" b="0">
                <a:solidFill>
                  <a:srgbClr val="222222"/>
                </a:solidFill>
                <a:latin typeface="Calibri"/>
              </a:rPr>
              <a:t> is the highest frequency we can represent.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Our highest tone, 10 kHz, sits far below 24 kHz, so nothing aliases.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So both tones appear at their true frequencies, 5 kHz and 10 kHz.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5742432"/>
            <a:ext cx="10515600" cy="475488"/>
          </a:xfrm>
          <a:prstGeom prst="rect">
            <a:avLst/>
          </a:prstGeom>
          <a:solidFill>
            <a:srgbClr val="FBECEC"/>
          </a:solidFill>
          <a:ln w="15875">
            <a:solidFill>
              <a:srgbClr val="991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bIns="25400" rtlCol="0" anchor="ctr"/>
          <a:lstStyle/>
          <a:p>
            <a:pPr algn="l"/>
            <a:r>
              <a:rPr sz="1350" b="0">
                <a:solidFill>
                  <a:srgbClr val="99191E"/>
                </a:solidFill>
                <a:latin typeface="Calibri"/>
              </a:rPr>
              <a:t>Because sampling sits well above Nyquist, the discrete spectrum faithfully represents the true signal.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9770292-E33D-4BFE-3C3A-B1F9CEE9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5621" y="6348036"/>
            <a:ext cx="497378" cy="365125"/>
          </a:xfrm>
        </p:spPr>
        <p:txBody>
          <a:bodyPr/>
          <a:lstStyle/>
          <a:p>
            <a:pPr algn="ctr"/>
            <a:fld id="{D6F1C9FF-3F6B-4CD7-AD30-7E5B78A479A7}" type="slidenum">
              <a:rPr lang="en-US" smtClean="0"/>
              <a:pPr algn="ctr"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F1BFB1-1DE9-877D-D9C2-83D0476DFA40}"/>
              </a:ext>
            </a:extLst>
          </p:cNvPr>
          <p:cNvSpPr txBox="1"/>
          <p:nvPr/>
        </p:nvSpPr>
        <p:spPr>
          <a:xfrm>
            <a:off x="1015299" y="6356349"/>
            <a:ext cx="2184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Yousef </a:t>
            </a:r>
            <a:r>
              <a:rPr lang="en-US" dirty="0" err="1">
                <a:solidFill>
                  <a:srgbClr val="222222"/>
                </a:solidFill>
              </a:rPr>
              <a:t>AlAbdulrazzaq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9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Methodology: Spectrum &amp; Amplitude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Fourier Transform (FFT) gives the DFT, and fftshift re-centers 0 Hz for a two-sided view over [−Fs/2, Fs/2).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Scaling by 2|X|/N maps a sine of amplitude A to a spectral peak of height 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The measured peaks, </a:t>
            </a:r>
            <a:r>
              <a:rPr sz="1800" b="1">
                <a:solidFill>
                  <a:srgbClr val="222222"/>
                </a:solidFill>
                <a:latin typeface="Calibri"/>
              </a:rPr>
              <a:t>0.024</a:t>
            </a:r>
            <a:r>
              <a:rPr sz="1800" b="0">
                <a:solidFill>
                  <a:srgbClr val="222222"/>
                </a:solidFill>
                <a:latin typeface="Calibri"/>
              </a:rPr>
              <a:t> at 5 kHz and </a:t>
            </a:r>
            <a:r>
              <a:rPr sz="1800" b="1">
                <a:solidFill>
                  <a:srgbClr val="222222"/>
                </a:solidFill>
                <a:latin typeface="Calibri"/>
              </a:rPr>
              <a:t>0.048</a:t>
            </a:r>
            <a:r>
              <a:rPr sz="1800" b="0">
                <a:solidFill>
                  <a:srgbClr val="222222"/>
                </a:solidFill>
                <a:latin typeface="Calibri"/>
              </a:rPr>
              <a:t> at 10 kHz, match the noise we added.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This is the bridge from the CTFT to the DFT: the discrete spectrum approximates the continuous transform.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5742432"/>
            <a:ext cx="10515600" cy="475488"/>
          </a:xfrm>
          <a:prstGeom prst="rect">
            <a:avLst/>
          </a:prstGeom>
          <a:solidFill>
            <a:srgbClr val="FBECEC"/>
          </a:solidFill>
          <a:ln w="15875">
            <a:solidFill>
              <a:srgbClr val="991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bIns="25400" rtlCol="0" anchor="ctr"/>
          <a:lstStyle/>
          <a:p>
            <a:pPr algn="l"/>
            <a:r>
              <a:rPr sz="1350" b="0">
                <a:solidFill>
                  <a:srgbClr val="99191E"/>
                </a:solidFill>
                <a:latin typeface="Calibri"/>
              </a:rPr>
              <a:t>Every measured peak matches the amplitude we injected.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5B9CB7C-6DA5-6E54-246D-56BA613F0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559" y="6348036"/>
            <a:ext cx="497378" cy="365125"/>
          </a:xfrm>
        </p:spPr>
        <p:txBody>
          <a:bodyPr/>
          <a:lstStyle/>
          <a:p>
            <a:fld id="{D6F1C9FF-3F6B-4CD7-AD30-7E5B78A479A7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FD3A5-F95A-003E-066E-06F78B66B7ED}"/>
              </a:ext>
            </a:extLst>
          </p:cNvPr>
          <p:cNvSpPr txBox="1"/>
          <p:nvPr/>
        </p:nvSpPr>
        <p:spPr>
          <a:xfrm>
            <a:off x="1015299" y="6356349"/>
            <a:ext cx="2184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Yousef </a:t>
            </a:r>
            <a:r>
              <a:rPr lang="en-US" dirty="0" err="1">
                <a:solidFill>
                  <a:srgbClr val="222222"/>
                </a:solidFill>
              </a:rPr>
              <a:t>AlAbdulrazzaq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89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Methodology: Low-Pass Filter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butter(15, 6000/(Fs/2), 'low') builds a 15th-order low-pass filter with a </a:t>
            </a:r>
            <a:r>
              <a:rPr sz="1800" b="1">
                <a:solidFill>
                  <a:srgbClr val="222222"/>
                </a:solidFill>
                <a:latin typeface="Calibri"/>
              </a:rPr>
              <a:t>6 kHz</a:t>
            </a:r>
            <a:r>
              <a:rPr sz="1800" b="0">
                <a:solidFill>
                  <a:srgbClr val="222222"/>
                </a:solidFill>
                <a:latin typeface="Calibri"/>
              </a:rPr>
              <a:t> cutoff.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The cutoff normalizes to 6000/24000 = 0.25, a quarter of Nyquist.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The passband stays maximally flat, rolloff is monotonic, and the gain is exactly </a:t>
            </a:r>
            <a:r>
              <a:rPr sz="1800" b="1">
                <a:solidFill>
                  <a:srgbClr val="222222"/>
                </a:solidFill>
                <a:latin typeface="Calibri"/>
              </a:rPr>
              <a:t>−3 dB</a:t>
            </a:r>
            <a:r>
              <a:rPr sz="1800" b="0">
                <a:solidFill>
                  <a:srgbClr val="222222"/>
                </a:solidFill>
                <a:latin typeface="Calibri"/>
              </a:rPr>
              <a:t> at fc.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It is stable (all poles inside the unit circle, max |pole| = 0.93) and causal.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5742432"/>
            <a:ext cx="10515600" cy="475488"/>
          </a:xfrm>
          <a:prstGeom prst="rect">
            <a:avLst/>
          </a:prstGeom>
          <a:solidFill>
            <a:srgbClr val="FBECEC"/>
          </a:solidFill>
          <a:ln w="15875">
            <a:solidFill>
              <a:srgbClr val="991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bIns="25400" rtlCol="0" anchor="ctr"/>
          <a:lstStyle/>
          <a:p>
            <a:pPr algn="l"/>
            <a:r>
              <a:rPr sz="1350" b="0">
                <a:solidFill>
                  <a:srgbClr val="99191E"/>
                </a:solidFill>
                <a:latin typeface="Calibri"/>
              </a:rPr>
              <a:t>Order 15 gives a transition steep enough to separate 5 kHz from 10 kHz cleanly.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E9AD4DB-6B3B-2A4D-E907-FE131338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559" y="6348036"/>
            <a:ext cx="497378" cy="365125"/>
          </a:xfrm>
        </p:spPr>
        <p:txBody>
          <a:bodyPr/>
          <a:lstStyle/>
          <a:p>
            <a:fld id="{D6F1C9FF-3F6B-4CD7-AD30-7E5B78A479A7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9A87F5-13AE-1AD6-EA87-9DAD38205C1A}"/>
              </a:ext>
            </a:extLst>
          </p:cNvPr>
          <p:cNvSpPr txBox="1"/>
          <p:nvPr/>
        </p:nvSpPr>
        <p:spPr>
          <a:xfrm>
            <a:off x="1015299" y="6356349"/>
            <a:ext cx="2184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Yousef </a:t>
            </a:r>
            <a:r>
              <a:rPr lang="en-US" dirty="0" err="1">
                <a:solidFill>
                  <a:srgbClr val="222222"/>
                </a:solidFill>
              </a:rPr>
              <a:t>AlAbdulrazzaq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844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Results: Time Domain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The full corrupted signal, spanning 3.62 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The noise is invisible in time: the tones (0.024 and 0.048) are tiny next to speech near 0.97.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The noisy peak reaches </a:t>
            </a:r>
            <a:r>
              <a:rPr sz="1550" b="1">
                <a:solidFill>
                  <a:srgbClr val="222222"/>
                </a:solidFill>
                <a:latin typeface="Calibri"/>
              </a:rPr>
              <a:t>1.004</a:t>
            </a:r>
            <a:r>
              <a:rPr sz="1550" b="0">
                <a:solidFill>
                  <a:srgbClr val="222222"/>
                </a:solidFill>
                <a:latin typeface="Calibri"/>
              </a:rPr>
              <a:t>, just grazing the playback clip limit.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The time view tells us nothing, so we look at the frequencies instead.</a:t>
            </a:r>
          </a:p>
        </p:txBody>
      </p:sp>
      <p:pic>
        <p:nvPicPr>
          <p:cNvPr id="5" name="Picture 4" descr="Fig1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660" y="1051560"/>
            <a:ext cx="5529598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" y="5779008"/>
            <a:ext cx="10515600" cy="475488"/>
          </a:xfrm>
          <a:prstGeom prst="rect">
            <a:avLst/>
          </a:prstGeom>
          <a:solidFill>
            <a:srgbClr val="FBECEC"/>
          </a:solidFill>
          <a:ln w="15875">
            <a:solidFill>
              <a:srgbClr val="991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bIns="25400" rtlCol="0" anchor="ctr"/>
          <a:lstStyle/>
          <a:p>
            <a:pPr algn="l"/>
            <a:r>
              <a:rPr sz="1350" b="0">
                <a:solidFill>
                  <a:srgbClr val="99191E"/>
                </a:solidFill>
                <a:latin typeface="Calibri"/>
              </a:rPr>
              <a:t>The time domain hides narrowband tones; only the spectrum reveals them.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9766132-434E-2C7B-812A-791B28337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559" y="6348036"/>
            <a:ext cx="497378" cy="365125"/>
          </a:xfrm>
        </p:spPr>
        <p:txBody>
          <a:bodyPr/>
          <a:lstStyle/>
          <a:p>
            <a:fld id="{D6F1C9FF-3F6B-4CD7-AD30-7E5B78A479A7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D1102D-E6BD-0350-E19B-0D700FFBCE9F}"/>
              </a:ext>
            </a:extLst>
          </p:cNvPr>
          <p:cNvSpPr txBox="1"/>
          <p:nvPr/>
        </p:nvSpPr>
        <p:spPr>
          <a:xfrm>
            <a:off x="1015299" y="6356349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Yousef </a:t>
            </a:r>
            <a:r>
              <a:rPr lang="en-US" dirty="0" err="1">
                <a:solidFill>
                  <a:srgbClr val="222222"/>
                </a:solidFill>
              </a:rPr>
              <a:t>AlAbdulrazzaq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28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Results: Two-Sided Spectrum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Two sharp spikes appear at </a:t>
            </a:r>
            <a:r>
              <a:rPr sz="1550" b="1">
                <a:solidFill>
                  <a:srgbClr val="222222"/>
                </a:solidFill>
                <a:latin typeface="Calibri"/>
              </a:rPr>
              <a:t>±5 kHz and ±10 kHz</a:t>
            </a:r>
            <a:r>
              <a:rPr sz="1550" b="0">
                <a:solidFill>
                  <a:srgbClr val="222222"/>
                </a:solidFill>
                <a:latin typeface="Calibri"/>
              </a:rPr>
              <a:t>, the hidden tones now made obvious.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Their heights, </a:t>
            </a:r>
            <a:r>
              <a:rPr sz="1550" b="1">
                <a:solidFill>
                  <a:srgbClr val="222222"/>
                </a:solidFill>
                <a:latin typeface="Calibri"/>
              </a:rPr>
              <a:t>0.024 and 0.048</a:t>
            </a:r>
            <a:r>
              <a:rPr sz="1550" b="0">
                <a:solidFill>
                  <a:srgbClr val="222222"/>
                </a:solidFill>
                <a:latin typeface="Calibri"/>
              </a:rPr>
              <a:t>, confirm the 2/N amplitude scaling.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The desired audio sits below ~2 to 3 kHz (baseband lump near 0 Hz).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That clear separation makes a low-pass filter the natural tool.</a:t>
            </a:r>
          </a:p>
        </p:txBody>
      </p:sp>
      <p:pic>
        <p:nvPicPr>
          <p:cNvPr id="5" name="Picture 4" descr="Fig2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998" y="1051560"/>
            <a:ext cx="5538923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" y="5779008"/>
            <a:ext cx="10515600" cy="475488"/>
          </a:xfrm>
          <a:prstGeom prst="rect">
            <a:avLst/>
          </a:prstGeom>
          <a:solidFill>
            <a:srgbClr val="FBECEC"/>
          </a:solidFill>
          <a:ln w="15875">
            <a:solidFill>
              <a:srgbClr val="991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bIns="25400" rtlCol="0" anchor="ctr"/>
          <a:lstStyle/>
          <a:p>
            <a:pPr algn="l"/>
            <a:r>
              <a:rPr sz="1350" b="0">
                <a:solidFill>
                  <a:srgbClr val="99191E"/>
                </a:solidFill>
                <a:latin typeface="Calibri"/>
              </a:rPr>
              <a:t>The frequency domain turns an invisible problem into an obvious one.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334A19D-4EDD-197D-FB69-A1B18B595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559" y="6348036"/>
            <a:ext cx="497378" cy="365125"/>
          </a:xfrm>
        </p:spPr>
        <p:txBody>
          <a:bodyPr/>
          <a:lstStyle/>
          <a:p>
            <a:fld id="{D6F1C9FF-3F6B-4CD7-AD30-7E5B78A479A7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84B59-8512-5B09-799F-2B000CD9ACA4}"/>
              </a:ext>
            </a:extLst>
          </p:cNvPr>
          <p:cNvSpPr txBox="1"/>
          <p:nvPr/>
        </p:nvSpPr>
        <p:spPr>
          <a:xfrm>
            <a:off x="1015299" y="6356349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Abdelrahman Hussein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159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Results: Filter Response</a:t>
            </a:r>
          </a:p>
        </p:txBody>
      </p:sp>
      <p:pic>
        <p:nvPicPr>
          <p:cNvPr id="3" name="Picture 2" descr="Fig3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26" y="1600200"/>
            <a:ext cx="4581426" cy="3703320"/>
          </a:xfrm>
          <a:prstGeom prst="rect">
            <a:avLst/>
          </a:prstGeom>
        </p:spPr>
      </p:pic>
      <p:pic>
        <p:nvPicPr>
          <p:cNvPr id="4" name="Picture 3" descr="Fig4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725" y="1600200"/>
            <a:ext cx="4566788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334000"/>
            <a:ext cx="10515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Calibri"/>
              </a:rPr>
              <a:t>Flat passband to fc, then steep rolloff: −3 dB at 6 kHz, ≈−80 dB at 10 kHz; impulse response decays (stable, causal).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742432"/>
            <a:ext cx="10515600" cy="475488"/>
          </a:xfrm>
          <a:prstGeom prst="rect">
            <a:avLst/>
          </a:prstGeom>
          <a:solidFill>
            <a:srgbClr val="FBECEC"/>
          </a:solidFill>
          <a:ln w="15875">
            <a:solidFill>
              <a:srgbClr val="991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bIns="25400" rtlCol="0" anchor="ctr"/>
          <a:lstStyle/>
          <a:p>
            <a:pPr algn="l"/>
            <a:r>
              <a:rPr sz="1350" b="0">
                <a:solidFill>
                  <a:srgbClr val="99191E"/>
                </a:solidFill>
                <a:latin typeface="Calibri"/>
              </a:rPr>
              <a:t>The gain |H(f)| at each tone predicts its fate: 5 kHz barely touched, 10 kHz crushed by 80 dB.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3B69D7E-8A0F-983C-FA9E-C457CF412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559" y="6348036"/>
            <a:ext cx="497378" cy="365125"/>
          </a:xfrm>
        </p:spPr>
        <p:txBody>
          <a:bodyPr/>
          <a:lstStyle/>
          <a:p>
            <a:fld id="{D6F1C9FF-3F6B-4CD7-AD30-7E5B78A479A7}" type="slidenum">
              <a:rPr lang="en-US" smtClean="0"/>
              <a:t>14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F7DB32-4441-A964-4A0F-E9B5F7AC2BA5}"/>
              </a:ext>
            </a:extLst>
          </p:cNvPr>
          <p:cNvSpPr txBox="1"/>
          <p:nvPr/>
        </p:nvSpPr>
        <p:spPr>
          <a:xfrm>
            <a:off x="1015299" y="6356349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Abdelrahman Hussein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962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Results: Filtered Spectrum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The 10 kHz tone drops from 0.048 to 4.7×10⁻⁶ (</a:t>
            </a:r>
            <a:r>
              <a:rPr sz="1550" b="1">
                <a:solidFill>
                  <a:srgbClr val="222222"/>
                </a:solidFill>
                <a:latin typeface="Calibri"/>
              </a:rPr>
              <a:t>−80 dB</a:t>
            </a:r>
            <a:r>
              <a:rPr sz="1550" b="0">
                <a:solidFill>
                  <a:srgbClr val="222222"/>
                </a:solidFill>
                <a:latin typeface="Calibri"/>
              </a:rPr>
              <a:t>), effectively gone.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The 5 kHz tone stays at 0.024, passing through untouched.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The desired band is preserved: the filter removes only </a:t>
            </a:r>
            <a:r>
              <a:rPr sz="1550" b="1">
                <a:solidFill>
                  <a:srgbClr val="222222"/>
                </a:solidFill>
                <a:latin typeface="Calibri"/>
              </a:rPr>
              <a:t>0.05%</a:t>
            </a:r>
            <a:r>
              <a:rPr sz="1550" b="0">
                <a:solidFill>
                  <a:srgbClr val="222222"/>
                </a:solidFill>
                <a:latin typeface="Calibri"/>
              </a:rPr>
              <a:t> of the audio energy.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You can hear it: the 10 kHz whistle is gone, but the 5 kHz whistle remains.</a:t>
            </a:r>
          </a:p>
        </p:txBody>
      </p:sp>
      <p:pic>
        <p:nvPicPr>
          <p:cNvPr id="5" name="Picture 4" descr="Fig5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477" y="1051560"/>
            <a:ext cx="5515964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" y="5779008"/>
            <a:ext cx="10515600" cy="475488"/>
          </a:xfrm>
          <a:prstGeom prst="rect">
            <a:avLst/>
          </a:prstGeom>
          <a:solidFill>
            <a:srgbClr val="FBECEC"/>
          </a:solidFill>
          <a:ln w="15875">
            <a:solidFill>
              <a:srgbClr val="991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bIns="25400" rtlCol="0" anchor="ctr"/>
          <a:lstStyle/>
          <a:p>
            <a:pPr algn="l"/>
            <a:r>
              <a:rPr sz="1350" b="0">
                <a:solidFill>
                  <a:srgbClr val="99191E"/>
                </a:solidFill>
                <a:latin typeface="Calibri"/>
              </a:rPr>
              <a:t>A low-pass filter removes only the out-of-band tone; the in-band tone survives.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91EF112-6614-40C0-F87C-AC8466FD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559" y="6348036"/>
            <a:ext cx="497378" cy="365125"/>
          </a:xfrm>
        </p:spPr>
        <p:txBody>
          <a:bodyPr/>
          <a:lstStyle/>
          <a:p>
            <a:fld id="{D6F1C9FF-3F6B-4CD7-AD30-7E5B78A479A7}" type="slidenum">
              <a:rPr lang="en-US" smtClean="0"/>
              <a:t>15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2FA1B7-267B-226C-4B51-B3E31CD41FBD}"/>
              </a:ext>
            </a:extLst>
          </p:cNvPr>
          <p:cNvSpPr txBox="1"/>
          <p:nvPr/>
        </p:nvSpPr>
        <p:spPr>
          <a:xfrm>
            <a:off x="1015299" y="6356349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Abdelrahman Hussein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460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Results: The Reconstruction Artifact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The code rebuilds the signal by taking the inverse Fourier Transform (ifft) of the one-sided spectrum.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That inverse comes out complex and half-length (max |imag| = </a:t>
            </a:r>
            <a:r>
              <a:rPr sz="1550" b="1">
                <a:solidFill>
                  <a:srgbClr val="222222"/>
                </a:solidFill>
                <a:latin typeface="Calibri"/>
              </a:rPr>
              <a:t>1.22</a:t>
            </a:r>
            <a:r>
              <a:rPr sz="1550" b="0">
                <a:solidFill>
                  <a:srgbClr val="222222"/>
                </a:solidFill>
                <a:latin typeface="Calibri"/>
              </a:rPr>
              <a:t>, dropped by real()).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So the "time-domain filtered" plot is an artifact, spanning </a:t>
            </a:r>
            <a:r>
              <a:rPr sz="1550" b="1">
                <a:solidFill>
                  <a:srgbClr val="222222"/>
                </a:solidFill>
                <a:latin typeface="Calibri"/>
              </a:rPr>
              <a:t>1.81 s</a:t>
            </a:r>
            <a:r>
              <a:rPr sz="1550" b="0">
                <a:solidFill>
                  <a:srgbClr val="222222"/>
                </a:solidFill>
                <a:latin typeface="Calibri"/>
              </a:rPr>
              <a:t> instead of 3.62 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222222"/>
                </a:solidFill>
                <a:latin typeface="Calibri"/>
              </a:rPr>
              <a:t>The right fix is to plot the filter output directly, since it is already the time signal.</a:t>
            </a:r>
          </a:p>
        </p:txBody>
      </p:sp>
      <p:pic>
        <p:nvPicPr>
          <p:cNvPr id="5" name="Picture 4" descr="Fig6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377" y="1051560"/>
            <a:ext cx="5568164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" y="5779008"/>
            <a:ext cx="10515600" cy="475488"/>
          </a:xfrm>
          <a:prstGeom prst="rect">
            <a:avLst/>
          </a:prstGeom>
          <a:solidFill>
            <a:srgbClr val="FBECEC"/>
          </a:solidFill>
          <a:ln w="15875">
            <a:solidFill>
              <a:srgbClr val="991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bIns="25400" rtlCol="0" anchor="ctr"/>
          <a:lstStyle/>
          <a:p>
            <a:pPr algn="l"/>
            <a:r>
              <a:rPr sz="1350" b="0">
                <a:solidFill>
                  <a:srgbClr val="99191E"/>
                </a:solidFill>
                <a:latin typeface="Calibri"/>
              </a:rPr>
              <a:t>We explain the plot rather than trust it; the filter output itself is the real signal.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1CD0BD7-E03B-A945-333D-1BDFB39D9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559" y="6348036"/>
            <a:ext cx="497378" cy="365125"/>
          </a:xfrm>
        </p:spPr>
        <p:txBody>
          <a:bodyPr/>
          <a:lstStyle/>
          <a:p>
            <a:fld id="{D6F1C9FF-3F6B-4CD7-AD30-7E5B78A479A7}" type="slidenum">
              <a:rPr lang="en-US" smtClean="0"/>
              <a:t>16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28B92F-3DAC-D26D-ECED-CE2FEC272BE4}"/>
              </a:ext>
            </a:extLst>
          </p:cNvPr>
          <p:cNvSpPr txBox="1"/>
          <p:nvPr/>
        </p:nvSpPr>
        <p:spPr>
          <a:xfrm>
            <a:off x="1015299" y="6356349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Abdelrahman Hussein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803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50" b="0">
                <a:solidFill>
                  <a:srgbClr val="222222"/>
                </a:solidFill>
                <a:latin typeface="Calibri"/>
              </a:rPr>
              <a:t>Fourier theory predicts every result: how far a tone drops is just the filter's gain at that frequency.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50" b="0">
                <a:solidFill>
                  <a:srgbClr val="222222"/>
                </a:solidFill>
                <a:latin typeface="Calibri"/>
              </a:rPr>
              <a:t>A low-pass filter cannot remove in-band interference: the 5 kHz tone sits inside the 6 kHz passband, so it survives </a:t>
            </a:r>
            <a:r>
              <a:rPr sz="1750" b="1">
                <a:solidFill>
                  <a:srgbClr val="222222"/>
                </a:solidFill>
                <a:latin typeface="Calibri"/>
              </a:rPr>
              <a:t>by design, not by error.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50" b="0">
                <a:solidFill>
                  <a:srgbClr val="222222"/>
                </a:solidFill>
                <a:latin typeface="Calibri"/>
              </a:rPr>
              <a:t>The 6 kHz cutoff is the right call for out-of-band noise: it keeps </a:t>
            </a:r>
            <a:r>
              <a:rPr sz="1750" b="1">
                <a:solidFill>
                  <a:srgbClr val="222222"/>
                </a:solidFill>
                <a:latin typeface="Calibri"/>
              </a:rPr>
              <a:t>99.95%</a:t>
            </a:r>
            <a:r>
              <a:rPr sz="1750" b="0">
                <a:solidFill>
                  <a:srgbClr val="222222"/>
                </a:solidFill>
                <a:latin typeface="Calibri"/>
              </a:rPr>
              <a:t> of the audio energy while removing the 10 kHz tone.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50" b="0">
                <a:solidFill>
                  <a:srgbClr val="222222"/>
                </a:solidFill>
                <a:latin typeface="Calibri"/>
              </a:rPr>
              <a:t>This is the convolution theorem at work: filtering in time equals multiplication in frequency (X·H).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5742432"/>
            <a:ext cx="10515600" cy="475488"/>
          </a:xfrm>
          <a:prstGeom prst="rect">
            <a:avLst/>
          </a:prstGeom>
          <a:solidFill>
            <a:srgbClr val="FBECEC"/>
          </a:solidFill>
          <a:ln w="15875">
            <a:solidFill>
              <a:srgbClr val="991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bIns="25400" rtlCol="0" anchor="ctr"/>
          <a:lstStyle/>
          <a:p>
            <a:pPr algn="l"/>
            <a:r>
              <a:rPr sz="1350" b="0">
                <a:solidFill>
                  <a:srgbClr val="99191E"/>
                </a:solidFill>
                <a:latin typeface="Calibri"/>
              </a:rPr>
              <a:t>The surviving tone is not a filter failure; it is a fundamental limit of low-pass filtering.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2BC268A-EC2F-B30C-BFB1-B6990C11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559" y="6348036"/>
            <a:ext cx="497378" cy="365125"/>
          </a:xfrm>
        </p:spPr>
        <p:txBody>
          <a:bodyPr/>
          <a:lstStyle/>
          <a:p>
            <a:fld id="{D6F1C9FF-3F6B-4CD7-AD30-7E5B78A479A7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C8917-EC42-5426-7D80-CB3D84DC2108}"/>
              </a:ext>
            </a:extLst>
          </p:cNvPr>
          <p:cNvSpPr txBox="1"/>
          <p:nvPr/>
        </p:nvSpPr>
        <p:spPr>
          <a:xfrm>
            <a:off x="1015299" y="6356349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Abdelrahman Hussein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321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Reflections on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50" b="0">
                <a:solidFill>
                  <a:srgbClr val="222222"/>
                </a:solidFill>
                <a:latin typeface="Calibri"/>
              </a:rPr>
              <a:t>Work was divided by pipeline stage: signal setup, filter design, and results/analysis.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50" b="0">
                <a:solidFill>
                  <a:srgbClr val="222222"/>
                </a:solidFill>
                <a:latin typeface="Calibri"/>
              </a:rPr>
              <a:t>The project reinforced the link between PD1 theory (CTFT, filtering) and PD2 simulation.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50" b="0">
                <a:solidFill>
                  <a:srgbClr val="222222"/>
                </a:solidFill>
                <a:latin typeface="Calibri"/>
              </a:rPr>
              <a:t>Main takeaway: spectral thinking makes an “invisible” time-domain problem obvious.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50" b="0">
                <a:solidFill>
                  <a:srgbClr val="222222"/>
                </a:solidFill>
                <a:latin typeface="Calibri"/>
              </a:rPr>
              <a:t>Coordination via a shared MATLAB run and review; each member owns their section for Q&amp;A.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1C39F-747B-BA25-E9DD-F019F831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559" y="6348036"/>
            <a:ext cx="497378" cy="365125"/>
          </a:xfrm>
        </p:spPr>
        <p:txBody>
          <a:bodyPr/>
          <a:lstStyle/>
          <a:p>
            <a:fld id="{D6F1C9FF-3F6B-4CD7-AD30-7E5B78A479A7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D3CC50-1246-7CA5-BF0F-F29CBEFB5EC2}"/>
              </a:ext>
            </a:extLst>
          </p:cNvPr>
          <p:cNvSpPr txBox="1"/>
          <p:nvPr/>
        </p:nvSpPr>
        <p:spPr>
          <a:xfrm>
            <a:off x="1015299" y="6356349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Abdelrahman Hussein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Conclusion &amp; Future Remarks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900" b="1">
                <a:solidFill>
                  <a:srgbClr val="E1242C"/>
                </a:solidFill>
                <a:latin typeface="Calibri"/>
              </a:rPr>
              <a:t>Conclusion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0" dirty="0">
                <a:solidFill>
                  <a:srgbClr val="222222"/>
                </a:solidFill>
                <a:latin typeface="Calibri"/>
              </a:rPr>
              <a:t>Frequency analysis revealed the hidden interference.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0" dirty="0">
                <a:solidFill>
                  <a:srgbClr val="222222"/>
                </a:solidFill>
                <a:latin typeface="Calibri"/>
              </a:rPr>
              <a:t>A 15th-order low-pass filter removed the 10 kHz tone with negligible audio distortion.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0" dirty="0">
                <a:solidFill>
                  <a:srgbClr val="222222"/>
                </a:solidFill>
                <a:latin typeface="Calibri"/>
              </a:rPr>
              <a:t>The 5 kHz in-band tone persists, exposing the limit of a single low-pass stage.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900" b="1">
                <a:solidFill>
                  <a:srgbClr val="E1242C"/>
                </a:solidFill>
                <a:latin typeface="Calibri"/>
              </a:rPr>
              <a:t>Future Remarks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0">
                <a:solidFill>
                  <a:srgbClr val="222222"/>
                </a:solidFill>
                <a:latin typeface="Calibri"/>
              </a:rPr>
              <a:t>Add a band-stop / notch filter at 5 kHz to remove the in-band tone.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0">
                <a:solidFill>
                  <a:srgbClr val="222222"/>
                </a:solidFill>
                <a:latin typeface="Calibri"/>
              </a:rPr>
              <a:t>Use FIR (linear-phase) filtering for distortion-controlled suppression.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50" b="0">
                <a:solidFill>
                  <a:srgbClr val="222222"/>
                </a:solidFill>
                <a:latin typeface="Calibri"/>
              </a:rPr>
              <a:t>Explore adaptive filtering for selective, signal-aware noise removal.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5E87AFD-C27B-74FC-BD85-E2AA8676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6702" y="6348036"/>
            <a:ext cx="497378" cy="365125"/>
          </a:xfrm>
        </p:spPr>
        <p:txBody>
          <a:bodyPr/>
          <a:lstStyle/>
          <a:p>
            <a:pPr algn="ctr"/>
            <a:fld id="{D6F1C9FF-3F6B-4CD7-AD30-7E5B78A479A7}" type="slidenum">
              <a:rPr lang="en-US" sz="1800" smtClean="0">
                <a:solidFill>
                  <a:schemeClr val="bg1"/>
                </a:solidFill>
              </a:rPr>
              <a:pPr algn="ctr"/>
              <a:t>19</a:t>
            </a:fld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8D32C6-4140-1C7F-8C06-6AF1369BF35F}"/>
              </a:ext>
            </a:extLst>
          </p:cNvPr>
          <p:cNvSpPr txBox="1"/>
          <p:nvPr/>
        </p:nvSpPr>
        <p:spPr>
          <a:xfrm>
            <a:off x="1015299" y="6356349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Abdelrahman Hussein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415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Oppenheim, A. V., &amp; Willsky, A. S. (1997). </a:t>
            </a:r>
            <a:r>
              <a:rPr sz="1600" b="0" i="1">
                <a:solidFill>
                  <a:srgbClr val="222222"/>
                </a:solidFill>
                <a:latin typeface="Calibri"/>
              </a:rPr>
              <a:t>Signals and Systems</a:t>
            </a:r>
            <a:r>
              <a:rPr sz="1600" b="0">
                <a:solidFill>
                  <a:srgbClr val="222222"/>
                </a:solidFill>
                <a:latin typeface="Calibri"/>
              </a:rPr>
              <a:t> (2nd ed.). Prentice Hall.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MathWorks. (2026). </a:t>
            </a:r>
            <a:r>
              <a:rPr sz="1600" b="0" i="1">
                <a:solidFill>
                  <a:srgbClr val="222222"/>
                </a:solidFill>
                <a:latin typeface="Calibri"/>
              </a:rPr>
              <a:t>butter, freqz, filter, fft</a:t>
            </a:r>
            <a:r>
              <a:rPr sz="1600" b="0">
                <a:solidFill>
                  <a:srgbClr val="222222"/>
                </a:solidFill>
                <a:latin typeface="Calibri"/>
              </a:rPr>
              <a:t>. MATLAB Documentation. https://www.mathworks.com/help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EECE301 Course Project: Part 2 Description (Summer 2026). American University of the Middle East.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C9ED0-BE1A-C80A-C50A-2CDCC408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559" y="6348036"/>
            <a:ext cx="497378" cy="365125"/>
          </a:xfrm>
        </p:spPr>
        <p:txBody>
          <a:bodyPr/>
          <a:lstStyle/>
          <a:p>
            <a:fld id="{D6F1C9FF-3F6B-4CD7-AD30-7E5B78A479A7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84BEB6-E6E9-90D1-431E-0341FC7E4D5E}"/>
              </a:ext>
            </a:extLst>
          </p:cNvPr>
          <p:cNvSpPr txBox="1"/>
          <p:nvPr/>
        </p:nvSpPr>
        <p:spPr>
          <a:xfrm>
            <a:off x="1015299" y="6356349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</a:rPr>
              <a:t>Abdelrahman Hussein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33490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9(Spring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9(Spring)" id="{80D4FBD1-83F9-479A-8F24-C23F4363B12C}" vid="{0B7BBADB-8C13-41E4-9CB9-5EC03F4C0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8FE4ECD-77FD-479A-92EA-90CBD98945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bb0c366-2ce0-4fe4-bb32-979f5e630a0d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460EAA1-7C6D-47EA-A202-EC4AF00C76B4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dc213674-8c6b-45ee-95a8-bb22b4f9dc9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Theme9(Spring)</Template>
  <TotalTime>4531</TotalTime>
  <Words>1642</Words>
  <Application>Microsoft Office PowerPoint</Application>
  <PresentationFormat>Widescreen</PresentationFormat>
  <Paragraphs>168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Century Schoolbook</vt:lpstr>
      <vt:lpstr>Courier New</vt:lpstr>
      <vt:lpstr>Red Hat Display</vt:lpstr>
      <vt:lpstr>Times New Roman</vt:lpstr>
      <vt:lpstr>Theme9(Spring)</vt:lpstr>
      <vt:lpstr>EECE301: Signals and Systems</vt:lpstr>
      <vt:lpstr>Table of Contents</vt:lpstr>
      <vt:lpstr>Introduction</vt:lpstr>
      <vt:lpstr>Project Objectives</vt:lpstr>
      <vt:lpstr>Criteria &amp; Constraints</vt:lpstr>
      <vt:lpstr>Assigned MATLAB Code &amp; Audio File</vt:lpstr>
      <vt:lpstr>MATLAB Program Overview</vt:lpstr>
      <vt:lpstr>Program Flowchart</vt:lpstr>
      <vt:lpstr>Methodology: Sampling &amp; the Nyquist Limit</vt:lpstr>
      <vt:lpstr>Methodology: Spectrum &amp; Amplitude Scaling</vt:lpstr>
      <vt:lpstr>Methodology: Low-Pass Filter Design</vt:lpstr>
      <vt:lpstr>Results: Time Domain</vt:lpstr>
      <vt:lpstr>Results: Two-Sided Spectrum</vt:lpstr>
      <vt:lpstr>Results: Filter Response</vt:lpstr>
      <vt:lpstr>Results: Filtered Spectrum</vt:lpstr>
      <vt:lpstr>Results: The Reconstruction Artifact</vt:lpstr>
      <vt:lpstr>Discussion</vt:lpstr>
      <vt:lpstr>Reflections on the Team</vt:lpstr>
      <vt:lpstr>Conclusion &amp; Future Remarks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and Systems EE-CE 301 Spring 2025</dc:title>
  <dc:creator>Muhammad</dc:creator>
  <cp:lastModifiedBy>AbdulRahman Ahmed</cp:lastModifiedBy>
  <cp:revision>305</cp:revision>
  <dcterms:created xsi:type="dcterms:W3CDTF">2024-11-25T11:43:29Z</dcterms:created>
  <dcterms:modified xsi:type="dcterms:W3CDTF">2026-07-12T13:57:11Z</dcterms:modified>
</cp:coreProperties>
</file>