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8"/>
  </p:notesMasterIdLst>
  <p:sldIdLst>
    <p:sldId id="263" r:id="rId5"/>
    <p:sldId id="257" r:id="rId6"/>
    <p:sldId id="265" r:id="rId7"/>
    <p:sldId id="258" r:id="rId8"/>
    <p:sldId id="267" r:id="rId9"/>
    <p:sldId id="264" r:id="rId10"/>
    <p:sldId id="268" r:id="rId11"/>
    <p:sldId id="269" r:id="rId12"/>
    <p:sldId id="270" r:id="rId13"/>
    <p:sldId id="274" r:id="rId14"/>
    <p:sldId id="271" r:id="rId15"/>
    <p:sldId id="275" r:id="rId16"/>
    <p:sldId id="273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Red Hat Display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64DD1E7-CB1E-42B3-83F8-8ACAA84D7D76}">
          <p14:sldIdLst>
            <p14:sldId id="263"/>
            <p14:sldId id="257"/>
            <p14:sldId id="265"/>
            <p14:sldId id="258"/>
            <p14:sldId id="267"/>
            <p14:sldId id="264"/>
            <p14:sldId id="268"/>
            <p14:sldId id="269"/>
            <p14:sldId id="270"/>
            <p14:sldId id="274"/>
            <p14:sldId id="271"/>
            <p14:sldId id="275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V8hG7gaNpw+lhZuzptkHhUWPz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55FF2-D2CF-473C-8372-23B56764D694}" v="29" dt="2026-01-03T20:12:51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89691" autoAdjust="0"/>
  </p:normalViewPr>
  <p:slideViewPr>
    <p:cSldViewPr snapToGrid="0">
      <p:cViewPr varScale="1">
        <p:scale>
          <a:sx n="196" d="100"/>
          <a:sy n="196" d="100"/>
        </p:scale>
        <p:origin x="672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36" Type="http://customschemas.google.com/relationships/presentationmetadata" Target="meta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4;p1">
            <a:extLst>
              <a:ext uri="{FF2B5EF4-FFF2-40B4-BE49-F238E27FC236}">
                <a16:creationId xmlns:a16="http://schemas.microsoft.com/office/drawing/2014/main" id="{631C2DF5-1362-47E0-9992-CA0F5EE5E7F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97859" y="1922141"/>
            <a:ext cx="6290441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>
              <a:defRPr sz="5400"/>
            </a:lvl1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800" b="1" dirty="0">
                <a:latin typeface="Century Gothic" panose="020B0502020202020204" pitchFamily="34" charset="0"/>
                <a:ea typeface="Red Hat Display"/>
                <a:cs typeface="Calibri" panose="020F0502020204030204" pitchFamily="34" charset="0"/>
                <a:sym typeface="Red Hat Display"/>
              </a:rPr>
              <a:t>PRESENTATION</a:t>
            </a:r>
            <a:br>
              <a:rPr lang="en-GB" sz="4800" b="1" dirty="0">
                <a:latin typeface="Century Gothic" panose="020B0502020202020204" pitchFamily="34" charset="0"/>
                <a:ea typeface="Red Hat Display"/>
                <a:cs typeface="Calibri" panose="020F0502020204030204" pitchFamily="34" charset="0"/>
                <a:sym typeface="Red Hat Display"/>
              </a:rPr>
            </a:br>
            <a:r>
              <a:rPr lang="en-GB" sz="4800" b="1" dirty="0">
                <a:latin typeface="Century Gothic" panose="020B0502020202020204" pitchFamily="34" charset="0"/>
                <a:ea typeface="Red Hat Display"/>
                <a:cs typeface="Calibri" panose="020F0502020204030204" pitchFamily="34" charset="0"/>
                <a:sym typeface="Red Hat Display"/>
              </a:rPr>
              <a:t>TITTLE</a:t>
            </a:r>
            <a:endParaRPr sz="4800" b="1" dirty="0">
              <a:latin typeface="Century Gothic" panose="020B0502020202020204" pitchFamily="34" charset="0"/>
              <a:ea typeface="Red Hat Display"/>
              <a:cs typeface="Calibri" panose="020F0502020204030204" pitchFamily="34" charset="0"/>
              <a:sym typeface="Red Hat Display"/>
            </a:endParaRPr>
          </a:p>
        </p:txBody>
      </p:sp>
      <p:sp>
        <p:nvSpPr>
          <p:cNvPr id="9" name="Google Shape;55;p1">
            <a:extLst>
              <a:ext uri="{FF2B5EF4-FFF2-40B4-BE49-F238E27FC236}">
                <a16:creationId xmlns:a16="http://schemas.microsoft.com/office/drawing/2014/main" id="{E5E4EFC6-10AC-457A-90BE-EB16C5D5FDC1}"/>
              </a:ext>
            </a:extLst>
          </p:cNvPr>
          <p:cNvSpPr txBox="1"/>
          <p:nvPr userDrawn="1"/>
        </p:nvSpPr>
        <p:spPr>
          <a:xfrm>
            <a:off x="1219200" y="4442603"/>
            <a:ext cx="139518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 dirty="0" err="1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sz="1400" b="0" i="0" u="none" strike="noStrike" cap="none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DC77A7-8710-436F-B5E7-19B60E66B5F0}"/>
              </a:ext>
            </a:extLst>
          </p:cNvPr>
          <p:cNvSpPr/>
          <p:nvPr userDrawn="1"/>
        </p:nvSpPr>
        <p:spPr>
          <a:xfrm>
            <a:off x="975360" y="4497639"/>
            <a:ext cx="243840" cy="243840"/>
          </a:xfrm>
          <a:prstGeom prst="ellipse">
            <a:avLst/>
          </a:prstGeom>
          <a:solidFill>
            <a:srgbClr val="D1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W"/>
          </a:p>
        </p:txBody>
      </p:sp>
      <p:pic>
        <p:nvPicPr>
          <p:cNvPr id="11" name="Picture 10" descr="A red and white background with a design&#10;&#10;Description automatically generated">
            <a:extLst>
              <a:ext uri="{FF2B5EF4-FFF2-40B4-BE49-F238E27FC236}">
                <a16:creationId xmlns:a16="http://schemas.microsoft.com/office/drawing/2014/main" id="{418E62F8-02A7-4379-A005-0EF5EC635B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6156" y="0"/>
            <a:ext cx="3612229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A0ADE9-7A46-486B-82F3-A690D904DF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720" y="518425"/>
            <a:ext cx="4286012" cy="10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6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7BBF4DE-513C-4814-86EE-EEEA3522B6F4}"/>
              </a:ext>
            </a:extLst>
          </p:cNvPr>
          <p:cNvSpPr/>
          <p:nvPr userDrawn="1"/>
        </p:nvSpPr>
        <p:spPr>
          <a:xfrm>
            <a:off x="0" y="462013"/>
            <a:ext cx="96253" cy="7783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W"/>
          </a:p>
        </p:txBody>
      </p:sp>
      <p:sp>
        <p:nvSpPr>
          <p:cNvPr id="23" name="Google Shape;15;p13">
            <a:extLst>
              <a:ext uri="{FF2B5EF4-FFF2-40B4-BE49-F238E27FC236}">
                <a16:creationId xmlns:a16="http://schemas.microsoft.com/office/drawing/2014/main" id="{E201477A-2207-47E3-9C82-AA3445AF1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27565"/>
            <a:ext cx="6530534" cy="304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9" name="Google Shape;19;p14">
            <a:extLst>
              <a:ext uri="{FF2B5EF4-FFF2-40B4-BE49-F238E27FC236}">
                <a16:creationId xmlns:a16="http://schemas.microsoft.com/office/drawing/2014/main" id="{214D99CB-0A61-44BD-9A7F-7B1235CA93FA}"/>
              </a:ext>
            </a:extLst>
          </p:cNvPr>
          <p:cNvSpPr txBox="1">
            <a:spLocks/>
          </p:cNvSpPr>
          <p:nvPr userDrawn="1"/>
        </p:nvSpPr>
        <p:spPr>
          <a:xfrm>
            <a:off x="8517256" y="474212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Google Shape;55;p1">
            <a:extLst>
              <a:ext uri="{FF2B5EF4-FFF2-40B4-BE49-F238E27FC236}">
                <a16:creationId xmlns:a16="http://schemas.microsoft.com/office/drawing/2014/main" id="{81EFFF43-0464-49FF-9D8B-0F13EBE1A872}"/>
              </a:ext>
            </a:extLst>
          </p:cNvPr>
          <p:cNvSpPr txBox="1"/>
          <p:nvPr userDrawn="1"/>
        </p:nvSpPr>
        <p:spPr>
          <a:xfrm>
            <a:off x="3779520" y="4786123"/>
            <a:ext cx="139518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b="0" i="0" u="none" strike="noStrike" cap="none" dirty="0" err="1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sz="1000" b="0" i="0" u="none" strike="noStrike" cap="none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50399-EDE1-4C7B-83BC-4CEAAD93E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lang="en-US" sz="4800" b="1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Arial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23870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69E0535-6FD9-4D8F-80CA-FF7A96DB665F}"/>
              </a:ext>
            </a:extLst>
          </p:cNvPr>
          <p:cNvSpPr/>
          <p:nvPr userDrawn="1"/>
        </p:nvSpPr>
        <p:spPr>
          <a:xfrm>
            <a:off x="0" y="462013"/>
            <a:ext cx="96253" cy="7783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W"/>
          </a:p>
        </p:txBody>
      </p:sp>
      <p:pic>
        <p:nvPicPr>
          <p:cNvPr id="26" name="Picture 25" descr="A black and red background with a bird&#10;&#10;Description automatically generated">
            <a:extLst>
              <a:ext uri="{FF2B5EF4-FFF2-40B4-BE49-F238E27FC236}">
                <a16:creationId xmlns:a16="http://schemas.microsoft.com/office/drawing/2014/main" id="{7356EFA9-D406-4147-B1F7-82B217840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52618" y="0"/>
            <a:ext cx="2591382" cy="5143500"/>
          </a:xfrm>
          <a:prstGeom prst="rect">
            <a:avLst/>
          </a:prstGeom>
        </p:spPr>
      </p:pic>
      <p:sp>
        <p:nvSpPr>
          <p:cNvPr id="27" name="Google Shape;15;p13">
            <a:extLst>
              <a:ext uri="{FF2B5EF4-FFF2-40B4-BE49-F238E27FC236}">
                <a16:creationId xmlns:a16="http://schemas.microsoft.com/office/drawing/2014/main" id="{F5F3B15A-58C1-48A3-AB6A-E8A3A8F0B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27565"/>
            <a:ext cx="6530534" cy="304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8" name="Google Shape;19;p14">
            <a:extLst>
              <a:ext uri="{FF2B5EF4-FFF2-40B4-BE49-F238E27FC236}">
                <a16:creationId xmlns:a16="http://schemas.microsoft.com/office/drawing/2014/main" id="{A6353D6C-199F-4C21-9FC8-2D00FAAA26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" name="Google Shape;55;p1">
            <a:extLst>
              <a:ext uri="{FF2B5EF4-FFF2-40B4-BE49-F238E27FC236}">
                <a16:creationId xmlns:a16="http://schemas.microsoft.com/office/drawing/2014/main" id="{4544F053-DAFF-4191-A4FE-EAC318BF6A0C}"/>
              </a:ext>
            </a:extLst>
          </p:cNvPr>
          <p:cNvSpPr txBox="1"/>
          <p:nvPr userDrawn="1"/>
        </p:nvSpPr>
        <p:spPr>
          <a:xfrm>
            <a:off x="3779520" y="4786123"/>
            <a:ext cx="139518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b="0" i="0" u="none" strike="noStrike" cap="none" dirty="0" err="1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sz="1000" b="0" i="0" u="none" strike="noStrike" cap="none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E2517-3805-41A0-9280-523D3C8CC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lang="en-US" sz="4800" b="1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Arial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3897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Google Shape;88;p5">
            <a:extLst>
              <a:ext uri="{FF2B5EF4-FFF2-40B4-BE49-F238E27FC236}">
                <a16:creationId xmlns:a16="http://schemas.microsoft.com/office/drawing/2014/main" id="{CCE35384-1C34-4B82-9C35-9348FE4AEB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7690" y="1864985"/>
            <a:ext cx="449520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64814"/>
              <a:buNone/>
            </a:pPr>
            <a:r>
              <a:rPr lang="en-GB" sz="4800" b="1" dirty="0">
                <a:latin typeface="Red Hat Display"/>
                <a:ea typeface="Red Hat Display"/>
                <a:cs typeface="Red Hat Display"/>
                <a:sym typeface="Red Hat Display"/>
              </a:rPr>
              <a:t>Click to add text</a:t>
            </a:r>
            <a:endParaRPr sz="4800" b="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89;p5">
            <a:extLst>
              <a:ext uri="{FF2B5EF4-FFF2-40B4-BE49-F238E27FC236}">
                <a16:creationId xmlns:a16="http://schemas.microsoft.com/office/drawing/2014/main" id="{E8C27F19-C26F-41A3-9DF6-6BD499D2B37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311700" y="3877000"/>
            <a:ext cx="85323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>
              <a:defRPr/>
            </a:lvl1pPr>
          </a:lstStyle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1050" dirty="0">
                <a:solidFill>
                  <a:srgbClr val="202122"/>
                </a:solidFill>
                <a:highlight>
                  <a:srgbClr val="FFFFFF"/>
                </a:highlight>
                <a:latin typeface="Red Hat Display"/>
                <a:ea typeface="Red Hat Display"/>
                <a:cs typeface="Red Hat Display"/>
                <a:sym typeface="Red Hat Display"/>
              </a:rPr>
              <a:t>Add text here</a:t>
            </a:r>
            <a:endParaRPr sz="1050" i="1" dirty="0">
              <a:solidFill>
                <a:srgbClr val="202122"/>
              </a:solidFill>
              <a:highlight>
                <a:srgbClr val="FFFFFF"/>
              </a:highlight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6507A9-F6AD-48CF-BE8A-F071629395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3109" y="2722985"/>
            <a:ext cx="3583891" cy="788864"/>
          </a:xfrm>
          <a:prstGeom prst="rect">
            <a:avLst/>
          </a:prstGeom>
        </p:spPr>
      </p:pic>
      <p:pic>
        <p:nvPicPr>
          <p:cNvPr id="7" name="Picture 6" descr="A red and black background&#10;&#10;Description automatically generated">
            <a:extLst>
              <a:ext uri="{FF2B5EF4-FFF2-40B4-BE49-F238E27FC236}">
                <a16:creationId xmlns:a16="http://schemas.microsoft.com/office/drawing/2014/main" id="{F9C6FFC9-AB3A-4F68-9FF7-604F028C4C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-13288"/>
            <a:ext cx="9144001" cy="2736273"/>
          </a:xfrm>
          <a:prstGeom prst="rect">
            <a:avLst/>
          </a:prstGeom>
        </p:spPr>
      </p:pic>
      <p:sp>
        <p:nvSpPr>
          <p:cNvPr id="8" name="Google Shape;55;p1">
            <a:extLst>
              <a:ext uri="{FF2B5EF4-FFF2-40B4-BE49-F238E27FC236}">
                <a16:creationId xmlns:a16="http://schemas.microsoft.com/office/drawing/2014/main" id="{347DC3B6-346A-414C-8532-1951B4478A4E}"/>
              </a:ext>
            </a:extLst>
          </p:cNvPr>
          <p:cNvSpPr txBox="1"/>
          <p:nvPr userDrawn="1"/>
        </p:nvSpPr>
        <p:spPr>
          <a:xfrm>
            <a:off x="3779520" y="4786123"/>
            <a:ext cx="139518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b="0" i="0" u="none" strike="noStrike" cap="none" dirty="0" err="1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sz="1000" b="0" i="0" u="none" strike="noStrike" cap="none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7C560F-F4A7-40EA-8498-473346192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34" y="1786935"/>
            <a:ext cx="6290441" cy="1292631"/>
          </a:xfrm>
        </p:spPr>
        <p:txBody>
          <a:bodyPr/>
          <a:lstStyle/>
          <a:p>
            <a:r>
              <a:rPr lang="en-US" sz="3600" dirty="0"/>
              <a:t>Battery Range Indicator Circuit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E8F6C4-29BA-EABB-EB18-5F1C80846524}"/>
              </a:ext>
            </a:extLst>
          </p:cNvPr>
          <p:cNvSpPr txBox="1"/>
          <p:nvPr/>
        </p:nvSpPr>
        <p:spPr>
          <a:xfrm>
            <a:off x="531845" y="3079566"/>
            <a:ext cx="53651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Course: Linear Circuit Analysis </a:t>
            </a:r>
          </a:p>
          <a:p>
            <a:r>
              <a:rPr lang="en-US" dirty="0"/>
              <a:t>Semester: Fall 2025 </a:t>
            </a:r>
          </a:p>
          <a:p>
            <a:endParaRPr lang="en-US" dirty="0"/>
          </a:p>
          <a:p>
            <a:r>
              <a:rPr lang="en-US" dirty="0"/>
              <a:t>- Yousef Alabkal 57078 </a:t>
            </a:r>
          </a:p>
          <a:p>
            <a:r>
              <a:rPr lang="en-US" dirty="0"/>
              <a:t>- Essa Altaher 10086967</a:t>
            </a:r>
          </a:p>
          <a:p>
            <a:r>
              <a:rPr lang="en-US" dirty="0"/>
              <a:t>-Yousef AlAbdulrazzaq 75018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31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6D27AE-C6BE-4E7E-97F3-EB824CA2B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Systems that use batteries require a simple way to indicate charge</a:t>
            </a:r>
          </a:p>
          <a:p>
            <a:r>
              <a:rPr lang="en-US" dirty="0">
                <a:solidFill>
                  <a:schemeClr val="tx1"/>
                </a:solidFill>
              </a:rPr>
              <a:t>Users must know the charge level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Low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Normal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Overcharged </a:t>
            </a:r>
          </a:p>
          <a:p>
            <a:r>
              <a:rPr lang="en-US" dirty="0">
                <a:solidFill>
                  <a:schemeClr val="tx1"/>
                </a:solidFill>
              </a:rPr>
              <a:t>Incorrect battery usage may reduce the batteries life and damage devices 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3544B138-BE75-40F8-BAAA-516E76D073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25ED521-1805-4ADC-978E-D51BE5C7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sz="3200" dirty="0"/>
              <a:t>Introduction and problem definition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8772C-901C-78DA-3405-7C3A6D200603}"/>
              </a:ext>
            </a:extLst>
          </p:cNvPr>
          <p:cNvSpPr txBox="1"/>
          <p:nvPr/>
        </p:nvSpPr>
        <p:spPr>
          <a:xfrm>
            <a:off x="369651" y="4455268"/>
            <a:ext cx="1347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Essa Altaher</a:t>
            </a:r>
          </a:p>
        </p:txBody>
      </p:sp>
    </p:spTree>
    <p:extLst>
      <p:ext uri="{BB962C8B-B14F-4D97-AF65-F5344CB8AC3E}">
        <p14:creationId xmlns:p14="http://schemas.microsoft.com/office/powerpoint/2010/main" val="416562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8D83-1A49-D157-964F-A86733CA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40169E-B990-D9D6-3795-AAE1F4E7E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Context: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Used in portable Electronics 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Fully analog solution (no micro controllers)</a:t>
            </a:r>
          </a:p>
          <a:p>
            <a:pPr marL="5969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Objectives: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Monitor battery voltage 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Compare voltage against thresholds 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Display battery state using LEDs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Include ON/OFF control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38006F18-82EE-D66F-D236-AC2DB7E51A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B86473-F249-25D6-F155-382B461B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sz="3200" dirty="0"/>
              <a:t>Project Context and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106C58-B5EC-43EC-9383-4033B0913DA6}"/>
              </a:ext>
            </a:extLst>
          </p:cNvPr>
          <p:cNvSpPr txBox="1"/>
          <p:nvPr/>
        </p:nvSpPr>
        <p:spPr>
          <a:xfrm>
            <a:off x="369651" y="4455268"/>
            <a:ext cx="1347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Essa Altaher</a:t>
            </a:r>
          </a:p>
        </p:txBody>
      </p:sp>
    </p:spTree>
    <p:extLst>
      <p:ext uri="{BB962C8B-B14F-4D97-AF65-F5344CB8AC3E}">
        <p14:creationId xmlns:p14="http://schemas.microsoft.com/office/powerpoint/2010/main" val="247663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3FB32D-D1D8-44E4-BD94-A0C77CF9C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302" y="2225386"/>
            <a:ext cx="6643396" cy="692727"/>
          </a:xfrm>
        </p:spPr>
        <p:txBody>
          <a:bodyPr>
            <a:noAutofit/>
          </a:bodyPr>
          <a:lstStyle/>
          <a:p>
            <a:r>
              <a:rPr lang="en-US" sz="3200" dirty="0"/>
              <a:t>Design Constraints and standards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BAF257-1232-CFC2-E290-C4861C4FA8C3}"/>
              </a:ext>
            </a:extLst>
          </p:cNvPr>
          <p:cNvSpPr txBox="1"/>
          <p:nvPr/>
        </p:nvSpPr>
        <p:spPr>
          <a:xfrm>
            <a:off x="369651" y="4455268"/>
            <a:ext cx="1347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Essa Altaher</a:t>
            </a:r>
          </a:p>
        </p:txBody>
      </p:sp>
    </p:spTree>
    <p:extLst>
      <p:ext uri="{BB962C8B-B14F-4D97-AF65-F5344CB8AC3E}">
        <p14:creationId xmlns:p14="http://schemas.microsoft.com/office/powerpoint/2010/main" val="214468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BB2B-43CD-542C-0A93-F2FEC637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48E170-0270-A2FF-7AB8-119F168CE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527565"/>
            <a:ext cx="6620561" cy="3702526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Limited components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Fixed supply voltage</a:t>
            </a:r>
          </a:p>
          <a:p>
            <a:r>
              <a:rPr lang="en-US" sz="2000" dirty="0">
                <a:solidFill>
                  <a:schemeClr val="tx1"/>
                </a:solidFill>
              </a:rPr>
              <a:t>Battery voltage range limitation 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LED current safety limit</a:t>
            </a:r>
          </a:p>
          <a:p>
            <a:r>
              <a:rPr lang="en-US" sz="2000" dirty="0">
                <a:solidFill>
                  <a:schemeClr val="tx1"/>
                </a:solidFill>
              </a:rPr>
              <a:t>Output behavior 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Cost and simplicity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B03499E8-9C73-2B76-8CD9-5C010CC3E7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3820709-03AE-0436-380B-4ECE3448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sz="3200" dirty="0"/>
              <a:t>Realistic Constraints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F02F9-8CA6-E76D-ECEE-C79E81C82719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</a:t>
            </a:r>
            <a:r>
              <a:rPr lang="en-US" dirty="0" err="1"/>
              <a:t>Alabkal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91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24CE8-8FF7-51C1-FD25-0F3BC46E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0ECD0A-C631-BC63-36D0-385C09CF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IEC 61010-1 - General electrical safety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IEC 62133 - Battery safety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IEC 60747 - Semiconductor components (LM393, BC547)</a:t>
            </a:r>
          </a:p>
          <a:p>
            <a:r>
              <a:rPr lang="en-US" sz="2000" dirty="0">
                <a:solidFill>
                  <a:schemeClr val="tx1"/>
                </a:solidFill>
              </a:rPr>
              <a:t>GSO 2530 - GCC low voltage requirements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IEEE 315 - Schematic symbols</a:t>
            </a:r>
          </a:p>
          <a:p>
            <a:r>
              <a:rPr lang="en-US" sz="2000" dirty="0">
                <a:solidFill>
                  <a:schemeClr val="tx1"/>
                </a:solidFill>
              </a:rPr>
              <a:t>ABET design and safety considerations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E33D965A-8712-4AD2-1A32-4D28AE0E25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29EAFB5-8BE8-488D-2610-9F8F1AC7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sz="3200" dirty="0"/>
              <a:t>Engineering standards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B34778-8B36-B67F-479D-F9F45C4E658C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</a:t>
            </a:r>
            <a:r>
              <a:rPr lang="en-US" dirty="0" err="1"/>
              <a:t>Alabkal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65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4BF75-E17C-D193-C5FB-6AF5BDFD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0CDA6B-DB62-F7B3-E7D8-197785776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Battery indicators commonly use: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Voltage dividers 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Comparators or op-amps </a:t>
            </a:r>
          </a:p>
          <a:p>
            <a:pPr marL="59690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LM393 comparator is widely used due to its: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Low power consumption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Dual comparator configuration 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Open collector outputs ***</a:t>
            </a:r>
          </a:p>
          <a:p>
            <a:pPr marL="596900" lvl="1" indent="0">
              <a:buNone/>
            </a:pPr>
            <a:endParaRPr lang="en-US" dirty="0"/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A9D9AA31-276A-B0B4-E0C4-36E2103D9F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F2C33A8-D644-C2BB-64EE-3BCC8193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sz="3200" dirty="0"/>
              <a:t>Literature Review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EF6BF3-F2AC-A5E5-FCB9-9475A5C60FEC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</a:t>
            </a:r>
            <a:r>
              <a:rPr lang="en-US" dirty="0" err="1"/>
              <a:t>Alabkal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607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BC1EFE-243F-BE90-D46D-6B7B83E9C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Comparator-based voltage monitoring 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Simple LED threshold indicator 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Micro-controller solution </a:t>
            </a:r>
          </a:p>
          <a:p>
            <a:pPr marL="1143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9B4F99-BE29-8A86-84B9-32D11B37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Possible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F0AEE-0504-52F8-3C04-2BB7D0A61D5A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</a:t>
            </a:r>
            <a:r>
              <a:rPr lang="en-US" dirty="0" err="1"/>
              <a:t>Alabkal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23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8562C5-7965-449E-201E-D1513C586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Scale battery voltage using a voltage divider.</a:t>
            </a:r>
          </a:p>
          <a:p>
            <a:pPr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Generate reference voltages using resistors.</a:t>
            </a:r>
          </a:p>
          <a:p>
            <a:pPr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Compare battery voltage with reference thresholds using comparators. </a:t>
            </a:r>
          </a:p>
          <a:p>
            <a:pPr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Control led based on comparator outputs.</a:t>
            </a:r>
          </a:p>
          <a:p>
            <a:pPr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Implement on/off control using a switch.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EB911B-E2FA-3E56-4BA3-45EEC9DF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 Process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A7F9D-0CBE-AB5E-C182-83FDBC443477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AlAbdulrazzaq</a:t>
            </a:r>
          </a:p>
        </p:txBody>
      </p:sp>
    </p:spTree>
    <p:extLst>
      <p:ext uri="{BB962C8B-B14F-4D97-AF65-F5344CB8AC3E}">
        <p14:creationId xmlns:p14="http://schemas.microsoft.com/office/powerpoint/2010/main" val="200715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3F522-F651-DD3C-04B6-DD803F48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81DD572-CA47-BEDB-785C-762C364E88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3154" y="1107778"/>
                <a:ext cx="8285045" cy="433705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ID-Based Parameters: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𝑠𝑢𝑚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K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K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K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ar-KW" sz="200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Upper Threshold (Overcharge Limit):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𝑠𝑢𝑚</m:t>
                            </m:r>
                          </m:sub>
                        </m:sSub>
                      </m:num>
                      <m:den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𝑠𝑢𝑚</m:t>
                            </m:r>
                          </m:sub>
                        </m:sSub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ar-KW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Lower Threshold (Low Battery Limit):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K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ar-KW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KW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Battery Status: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𝑏𝑎𝑡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KW" sz="2000" dirty="0">
                    <a:solidFill>
                      <a:schemeClr val="tx1"/>
                    </a:solidFill>
                  </a:rPr>
                  <a:t>→ </a:t>
                </a:r>
                <a:r>
                  <a:rPr lang="en-US" sz="2000" dirty="0">
                    <a:solidFill>
                      <a:schemeClr val="tx1"/>
                    </a:solidFill>
                  </a:rPr>
                  <a:t>Red LED (Overcharged)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𝑏𝑎𝑡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KW" sz="2000" dirty="0">
                    <a:solidFill>
                      <a:schemeClr val="tx1"/>
                    </a:solidFill>
                  </a:rPr>
                  <a:t>→ </a:t>
                </a:r>
                <a:r>
                  <a:rPr lang="en-US" sz="2000" dirty="0">
                    <a:solidFill>
                      <a:schemeClr val="tx1"/>
                    </a:solidFill>
                  </a:rPr>
                  <a:t>Green LED (Normal)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𝑏𝑎𝑡</m:t>
                        </m:r>
                      </m:sub>
                    </m:sSub>
                    <m:r>
                      <a:rPr lang="ar-K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K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KW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KW" sz="2000" dirty="0">
                    <a:solidFill>
                      <a:schemeClr val="tx1"/>
                    </a:solidFill>
                  </a:rPr>
                  <a:t>→ </a:t>
                </a:r>
                <a:r>
                  <a:rPr lang="en-US" sz="2000" dirty="0">
                    <a:solidFill>
                      <a:schemeClr val="tx1"/>
                    </a:solidFill>
                  </a:rPr>
                  <a:t>Yellow LED (Low)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81DD572-CA47-BEDB-785C-762C364E8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3154" y="1107778"/>
                <a:ext cx="8285045" cy="433705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B56E58-219B-9255-EF9A-17243B34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Threshold Calculations: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B80B6-465D-2B1B-6BF1-867EA79A0BB4}"/>
              </a:ext>
            </a:extLst>
          </p:cNvPr>
          <p:cNvSpPr txBox="1"/>
          <p:nvPr/>
        </p:nvSpPr>
        <p:spPr>
          <a:xfrm>
            <a:off x="5856051" y="4620280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AlAbdulrazzaq</a:t>
            </a:r>
          </a:p>
        </p:txBody>
      </p:sp>
    </p:spTree>
    <p:extLst>
      <p:ext uri="{BB962C8B-B14F-4D97-AF65-F5344CB8AC3E}">
        <p14:creationId xmlns:p14="http://schemas.microsoft.com/office/powerpoint/2010/main" val="355790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E9C87-4D1D-E5BB-D88F-0291BAD7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Circuit Design schematic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7D6C59-0D49-F40C-B21C-4A412E31AC75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AlAbdulrazzaq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F164B62F-E7F0-4828-2477-ECB02986E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2" y="1198310"/>
            <a:ext cx="2684359" cy="3076372"/>
          </a:xfrm>
          <a:prstGeom prst="rect">
            <a:avLst/>
          </a:prstGeom>
        </p:spPr>
      </p:pic>
      <p:pic>
        <p:nvPicPr>
          <p:cNvPr id="7" name="Picture 6" descr="A diagram of electrical components&#10;&#10;AI-generated content may be incorrect.">
            <a:extLst>
              <a:ext uri="{FF2B5EF4-FFF2-40B4-BE49-F238E27FC236}">
                <a16:creationId xmlns:a16="http://schemas.microsoft.com/office/drawing/2014/main" id="{61302E41-3CDA-C88B-4FD5-8EBE46FE0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243" y="1198310"/>
            <a:ext cx="5718203" cy="312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6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39E3-9AEC-6E7A-98B4-67220AC7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9CB0AA-DA7B-5669-67F4-683B283A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Circuit Design schematic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57E7DE-F327-FF5C-3E79-A5C5FD81D614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AlAbdulrazzaq</a:t>
            </a:r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F0B1231E-9CBB-3EAC-9FC2-F88B4894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8" y="1269460"/>
            <a:ext cx="3255247" cy="2390572"/>
          </a:xfrm>
          <a:prstGeom prst="rect">
            <a:avLst/>
          </a:prstGeom>
        </p:spPr>
      </p:pic>
      <p:pic>
        <p:nvPicPr>
          <p:cNvPr id="9" name="Picture 8" descr="A diagram of a circuit&#10;&#10;AI-generated content may be incorrect.">
            <a:extLst>
              <a:ext uri="{FF2B5EF4-FFF2-40B4-BE49-F238E27FC236}">
                <a16:creationId xmlns:a16="http://schemas.microsoft.com/office/drawing/2014/main" id="{D8597998-EC95-CC4B-FEA4-593CB6EFF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247" y="1229978"/>
            <a:ext cx="5401744" cy="268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85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1C0651-24ED-5686-A446-C78BD5585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7565"/>
            <a:ext cx="4396488" cy="304131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1"/>
                </a:solidFill>
              </a:rPr>
              <a:t>Normal Battery: </a:t>
            </a:r>
            <a:r>
              <a:rPr lang="en-US" b="1" dirty="0">
                <a:solidFill>
                  <a:schemeClr val="tx1"/>
                </a:solidFill>
              </a:rPr>
              <a:t>Vth2​&lt;Vbat​&lt;Vth1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LM393 outputs do nothing.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So the base of Q1 sees: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+12 V -&gt; R20  -&gt; base: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Base is HIGH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Q1 turns ON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Green LED turns ON</a:t>
            </a:r>
          </a:p>
          <a:p>
            <a:r>
              <a:rPr lang="en-US" dirty="0">
                <a:solidFill>
                  <a:schemeClr val="tx1"/>
                </a:solidFill>
              </a:rPr>
              <a:t>Overcharged Battery: </a:t>
            </a:r>
            <a:r>
              <a:rPr lang="en-US" b="1" dirty="0">
                <a:solidFill>
                  <a:schemeClr val="tx1"/>
                </a:solidFill>
              </a:rPr>
              <a:t>Vbat​&gt;Vth1​</a:t>
            </a:r>
          </a:p>
          <a:p>
            <a:pPr lvl="1"/>
            <a:r>
              <a:rPr lang="en-US" sz="1200" dirty="0" err="1">
                <a:solidFill>
                  <a:schemeClr val="tx1"/>
                </a:solidFill>
              </a:rPr>
              <a:t>batt_low</a:t>
            </a:r>
            <a:r>
              <a:rPr lang="en-US" sz="1200" dirty="0">
                <a:solidFill>
                  <a:schemeClr val="tx1"/>
                </a:solidFill>
              </a:rPr>
              <a:t> output pulls the base down through R17.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Result: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Base voltage drops near 0 V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Q1 turns OFF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Green LED turns OFF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0D00D5-93EF-2B47-FD96-2CD891B8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Circuit Operation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922AB-5D58-92A5-EDD3-5BBF5790A324}"/>
              </a:ext>
            </a:extLst>
          </p:cNvPr>
          <p:cNvSpPr txBox="1"/>
          <p:nvPr/>
        </p:nvSpPr>
        <p:spPr>
          <a:xfrm>
            <a:off x="369651" y="4455268"/>
            <a:ext cx="1347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AlAbdulrazzaq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EB6DC0-D184-BDD0-3A7D-4C419719F9D6}"/>
              </a:ext>
            </a:extLst>
          </p:cNvPr>
          <p:cNvSpPr txBox="1">
            <a:spLocks/>
          </p:cNvSpPr>
          <p:nvPr/>
        </p:nvSpPr>
        <p:spPr>
          <a:xfrm>
            <a:off x="4421221" y="1527565"/>
            <a:ext cx="4145606" cy="304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Low Voltage Battery: </a:t>
            </a:r>
            <a:r>
              <a:rPr lang="en-US" b="1" dirty="0" err="1">
                <a:solidFill>
                  <a:schemeClr val="tx1"/>
                </a:solidFill>
              </a:rPr>
              <a:t>Vbat</a:t>
            </a:r>
            <a:r>
              <a:rPr lang="en-US" b="1" dirty="0">
                <a:solidFill>
                  <a:schemeClr val="tx1"/>
                </a:solidFill>
              </a:rPr>
              <a:t>​&lt;Vth2</a:t>
            </a:r>
            <a:r>
              <a:rPr lang="en-US" dirty="0"/>
              <a:t>​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</a:rPr>
              <a:t>Same idea: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</a:rPr>
              <a:t>batt_high</a:t>
            </a:r>
            <a:r>
              <a:rPr lang="en-US" sz="1050" dirty="0">
                <a:solidFill>
                  <a:schemeClr val="tx1"/>
                </a:solidFill>
              </a:rPr>
              <a:t> pulls base LOW through R18</a:t>
            </a:r>
          </a:p>
          <a:p>
            <a:pPr lvl="1"/>
            <a:r>
              <a:rPr lang="en-US" sz="1050" dirty="0">
                <a:solidFill>
                  <a:schemeClr val="tx1"/>
                </a:solidFill>
              </a:rPr>
              <a:t>Q1 turns OFF</a:t>
            </a:r>
          </a:p>
          <a:p>
            <a:pPr lvl="1"/>
            <a:r>
              <a:rPr lang="en-US" sz="1050" dirty="0">
                <a:solidFill>
                  <a:schemeClr val="tx1"/>
                </a:solidFill>
              </a:rPr>
              <a:t>Green LED turns OFF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275358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E900F1AD7C0841BCE8EDF3F3191615" ma:contentTypeVersion="5" ma:contentTypeDescription="Create a new document." ma:contentTypeScope="" ma:versionID="3fe6bd6ca511947868d342b73d27c6c6">
  <xsd:schema xmlns:xsd="http://www.w3.org/2001/XMLSchema" xmlns:xs="http://www.w3.org/2001/XMLSchema" xmlns:p="http://schemas.microsoft.com/office/2006/metadata/properties" xmlns:ns3="9ad72b47-894c-4521-a645-fea256c05d25" targetNamespace="http://schemas.microsoft.com/office/2006/metadata/properties" ma:root="true" ma:fieldsID="77aed7f6f6f19546b89af8e0e560adb5" ns3:_="">
    <xsd:import namespace="9ad72b47-894c-4521-a645-fea256c05d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d72b47-894c-4521-a645-fea256c05d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2D278A-547A-468A-96E8-CD54EF7B3C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d72b47-894c-4521-a645-fea256c05d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88DA9E-82BB-4576-9261-FC9CDBB55DC8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9ad72b47-894c-4521-a645-fea256c05d25"/>
  </ds:schemaRefs>
</ds:datastoreItem>
</file>

<file path=customXml/itemProps3.xml><?xml version="1.0" encoding="utf-8"?>
<ds:datastoreItem xmlns:ds="http://schemas.openxmlformats.org/officeDocument/2006/customXml" ds:itemID="{207E9017-D5ED-4D0D-B754-FE7FB8003F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455</Words>
  <Application>Microsoft Office PowerPoint</Application>
  <PresentationFormat>On-screen Show (16:9)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Cambria Math</vt:lpstr>
      <vt:lpstr>Arial</vt:lpstr>
      <vt:lpstr>Red Hat Display</vt:lpstr>
      <vt:lpstr>Century Gothic</vt:lpstr>
      <vt:lpstr>Simple Light</vt:lpstr>
      <vt:lpstr>Battery Range Indicator Circuit</vt:lpstr>
      <vt:lpstr>Introduction and problem definition </vt:lpstr>
      <vt:lpstr>Project Context and Objectives</vt:lpstr>
      <vt:lpstr>Design Constraints and standards</vt:lpstr>
      <vt:lpstr>Realistic Constraints </vt:lpstr>
      <vt:lpstr>Engineering standards</vt:lpstr>
      <vt:lpstr>Literature Review </vt:lpstr>
      <vt:lpstr>Possible solutions</vt:lpstr>
      <vt:lpstr>Design Process </vt:lpstr>
      <vt:lpstr>Threshold Calculations:</vt:lpstr>
      <vt:lpstr>Circuit Design schematic</vt:lpstr>
      <vt:lpstr>Circuit Design schematic</vt:lpstr>
      <vt:lpstr>Circuit Operation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TITTLE</dc:title>
  <dc:creator>Taha Beyrouthy</dc:creator>
  <cp:lastModifiedBy>Yousef AlAbdulrazzaq</cp:lastModifiedBy>
  <cp:revision>28</cp:revision>
  <dcterms:modified xsi:type="dcterms:W3CDTF">2026-01-03T22:41:40Z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0x010100D9E900F1AD7C0841BCE8EDF3F3191615</vt:lpwstr>
  </property>
</Properties>
</file>