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71" r:id="rId2"/>
    <p:sldId id="257" r:id="rId3"/>
    <p:sldId id="258" r:id="rId4"/>
    <p:sldId id="259" r:id="rId5"/>
    <p:sldId id="260" r:id="rId6"/>
    <p:sldId id="272" r:id="rId7"/>
    <p:sldId id="273" r:id="rId8"/>
    <p:sldId id="274" r:id="rId9"/>
    <p:sldId id="275" r:id="rId10"/>
    <p:sldId id="276" r:id="rId11"/>
    <p:sldId id="277" r:id="rId12"/>
    <p:sldId id="278" r:id="rId13"/>
    <p:sldId id="279" r:id="rId14"/>
    <p:sldId id="269" r:id="rId15"/>
    <p:sldId id="270" r:id="rId16"/>
  </p:sldIdLst>
  <p:sldSz cx="9144000" cy="5143500" type="screen16x9"/>
  <p:notesSz cx="6858000" cy="9144000"/>
  <p:embeddedFontLst>
    <p:embeddedFont>
      <p:font typeface="Century Gothic" panose="020B0502020202020204" pitchFamily="34" charset="0"/>
      <p:regular r:id="rId18"/>
      <p:bold r:id="rId19"/>
      <p:italic r:id="rId20"/>
      <p:boldItalic r:id="rId21"/>
    </p:embeddedFont>
    <p:embeddedFont>
      <p:font typeface="Consolas" panose="020B0609020204030204" pitchFamily="49" charset="0"/>
      <p:regular r:id="rId22"/>
      <p:bold r:id="rId23"/>
      <p:italic r:id="rId24"/>
      <p:boldItalic r:id="rId25"/>
    </p:embeddedFont>
    <p:embeddedFont>
      <p:font typeface="Red Hat Display"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B64DD1E7-CB1E-42B3-83F8-8ACAA84D7D76}">
          <p14:sldIdLst>
            <p14:sldId id="271"/>
            <p14:sldId id="257"/>
            <p14:sldId id="258"/>
            <p14:sldId id="259"/>
            <p14:sldId id="260"/>
            <p14:sldId id="272"/>
            <p14:sldId id="273"/>
            <p14:sldId id="274"/>
            <p14:sldId id="275"/>
            <p14:sldId id="276"/>
            <p14:sldId id="277"/>
            <p14:sldId id="278"/>
            <p14:sldId id="279"/>
            <p14:sldId id="269"/>
            <p14:sldId id="270"/>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iV8hG7gaNpw+lhZuzptkHhUWPz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235F"/>
    <a:srgbClr val="D3A62A"/>
    <a:srgbClr val="FFF6D5"/>
    <a:srgbClr val="EBC94B"/>
    <a:srgbClr val="33CCCC"/>
    <a:srgbClr val="81E1DF"/>
    <a:srgbClr val="D10000"/>
    <a:srgbClr val="84E2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7" autoAdjust="0"/>
    <p:restoredTop sz="95251" autoAdjust="0"/>
  </p:normalViewPr>
  <p:slideViewPr>
    <p:cSldViewPr snapToGrid="0">
      <p:cViewPr varScale="1">
        <p:scale>
          <a:sx n="211" d="100"/>
          <a:sy n="211" d="100"/>
        </p:scale>
        <p:origin x="600" y="12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42"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43"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4138458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algn="l"/>
            <a:r>
              <a:rPr sz="1100">
                <a:latin typeface="Calibri"/>
              </a:rPr>
              <a:t>Quick agenda. We'll start with the problem statement and the assumptions we made when interpreting overflow. Then we'll show the block diagram and walk through the function table that lists all eight operations. After that we go one by one through each operation, showing the truth table, K-map, and the simplified equation. We close with the Verilog and a short conclusion.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algn="l"/>
            <a:r>
              <a:rPr sz="1100" dirty="0">
                <a:latin typeface="Calibri"/>
              </a:rPr>
              <a:t>Here's the problem. We've got two 3-bit sensor inputs called G and Y, plus a 3-bit selector S. The module has to do eight different things based on S, and the result lights up a single 7-segment display along with an overflow LED.</a:t>
            </a:r>
          </a:p>
          <a:p>
            <a:pPr algn="l"/>
            <a:r>
              <a:rPr sz="1100" dirty="0">
                <a:latin typeface="Calibri"/>
              </a:rPr>
              <a:t>A few decisions we had to make. First, since 3-bit inputs cap at 7, "overflow" can't mean the input is too big. We defined it as the computed result going above 7, like 2 times G when G is 5 or more. Second, for subtraction we treat Y greater than G as overflow too, because the result would go negative. Third, the segments on the DE-series board are active low, so a zero in our HEX output actually turns a segment on.</a:t>
            </a:r>
          </a:p>
          <a:p>
            <a:pPr algn="l"/>
            <a:r>
              <a:rPr sz="1100" dirty="0">
                <a:latin typeface="Calibri"/>
              </a:rPr>
              <a:t>The encoding scheme on the left shows how D maps to the display. Codes zero through seven are just digits. Then we use four extra codes for E, U, the equals sign for overflow, and blank for off.</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algn="l"/>
            <a:r>
              <a:rPr sz="1100" dirty="0">
                <a:latin typeface="Calibri"/>
              </a:rPr>
              <a:t>This is the top-level architecture. Three inputs on the left feed into the Robotic Sensor Processing block in the center. G and Y are the 3-bit sensor readings. S is the 3-bit selector that picks which of the eight operations runs.</a:t>
            </a:r>
          </a:p>
          <a:p>
            <a:pPr algn="l"/>
            <a:r>
              <a:rPr sz="1100" dirty="0">
                <a:latin typeface="Calibri"/>
              </a:rPr>
              <a:t>Processing produces two outputs. D is a 4-bit display code that goes through the 7-Segment Decoder, and from there the 7-bit HEX bus drives the display. The OF flag goes straight to the Overflow LED.</a:t>
            </a:r>
          </a:p>
          <a:p>
            <a:pPr algn="l"/>
            <a:r>
              <a:rPr sz="1100" dirty="0">
                <a:latin typeface="Calibri"/>
              </a:rPr>
              <a:t>We added the explicit OF path to the LED because the project requires us to indicate when results go out of range. The bus widths are shown by the slash and number on each wire, which is standard digital schematic notation.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algn="l"/>
            <a:r>
              <a:rPr sz="1100" dirty="0">
                <a:latin typeface="Calibri"/>
              </a:rPr>
              <a:t>This is the master table. Each row is one operation, picked by the 3-bit selector S.</a:t>
            </a:r>
          </a:p>
          <a:p>
            <a:pPr algn="l"/>
            <a:r>
              <a:rPr sz="1100" dirty="0">
                <a:latin typeface="Calibri"/>
              </a:rPr>
              <a:t>The first four operations cover motor speed, turning angle, sensor compare, and forward adjust. Motor speed is two times G, used to drive the wheels faster when the front sensor reads high. Turning angle is three times Y for the side sensor. Compare just tests whether G equals Y and shows E or U. Forward adjust is G plus three, a small offset bias.</a:t>
            </a:r>
          </a:p>
          <a:p>
            <a:pPr algn="l"/>
            <a:r>
              <a:rPr sz="1100" dirty="0">
                <a:latin typeface="Calibri"/>
              </a:rPr>
              <a:t>The next three are clearance, path average, and difference. Clearance is seven minus Y, useful for inverting a proximity reading. Path average is the floor of G plus Y over two. Difference is G minus Y, with overflow when Y is bigger than G because the result would go negative.</a:t>
            </a:r>
          </a:p>
          <a:p>
            <a:pPr algn="l"/>
            <a:r>
              <a:rPr sz="1100" dirty="0">
                <a:latin typeface="Calibri"/>
              </a:rPr>
              <a:t>The last operation, system off, just blanks the display. Notice five of the eight ops can overflow, and three never do, including the average since the max is still seven.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dirty="0"/>
              <a:t>First operation, motor speed. The front sensor reading G gets multiplied by two before driving the motors.</a:t>
            </a:r>
          </a:p>
          <a:p>
            <a:endParaRPr dirty="0"/>
          </a:p>
          <a:p>
            <a:r>
              <a:rPr dirty="0"/>
              <a:t>The truth table on the left shows what happens for each G. From zero through three, two times G fits in the four-bit display fine. Once G reaches four, the result is eight or higher, which can't fit, so we set the overflow flag and force the display to one-one-zero-zero, our overflow code.</a:t>
            </a:r>
          </a:p>
          <a:p>
            <a:endParaRPr dirty="0"/>
          </a:p>
          <a:p>
            <a:r>
              <a:rPr dirty="0"/>
              <a:t>Now the five K-maps on the right break the four-bit output into individual bit equations. D three is the simplest, just G two, since the bottom row is all ones. D two has two overlapping groups, the bottom row plus the right pair of columns, simplifying to G two plus G one. D one needs a small group of two on the top row, giving G two prime times G zero. D zero is constant zero everywhere. And the overflow flag matches D three exactly, both equal to G two.</a:t>
            </a:r>
          </a:p>
          <a:p>
            <a:endParaRPr dirty="0"/>
          </a:p>
          <a:p>
            <a:r>
              <a:rPr dirty="0"/>
              <a:t>When you put these together, the assembly at the bottom shows the full four-bit output as a function of the input bits.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dirty="0"/>
              <a:t>Turning angle multiplies Y by three. From the truth table, only Y of zero, one, and two give valid display values. Once Y hits three, three Y is nine, which exceeds seven, so we go to overflow.</a:t>
            </a:r>
          </a:p>
          <a:p>
            <a:endParaRPr dirty="0"/>
          </a:p>
          <a:p>
            <a:r>
              <a:rPr dirty="0"/>
              <a:t>The K-maps tell the story bit by bit. D three has two groups, the whole bottom row plus a vertical pair in the third column, giving Y two plus the AND of Y one and Y zero. D two simplifies cleanly to Y two plus Y one. D one is interesting because the two ones in the K-map are not adjacent, so they form an XOR pattern, and we factor out Y two prime. D zero is a single minterm at the cell where Y is zero zero one. Overflow matches D three exactly.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Sensor compare checks if G equals Y. We can't draw a single K-map for this because the truth table has six input variables, sixty-four rows, way beyond a Chapter three K-map.</a:t>
            </a:r>
          </a:p>
          <a:p>
            <a:endParaRPr dirty="0"/>
          </a:p>
          <a:p>
            <a:r>
              <a:rPr dirty="0"/>
              <a:t>Instead, we use the Chapter four equality comparator. The basic building block is a one-bit equality cell, which is just an XNOR gate. When the two bits match, the output is one. We chain three of these in parallel, one per bit position, and </a:t>
            </a:r>
            <a:r>
              <a:rPr dirty="0" err="1"/>
              <a:t>AND</a:t>
            </a:r>
            <a:r>
              <a:rPr dirty="0"/>
              <a:t> their outputs. The result is the equality flag.</a:t>
            </a:r>
          </a:p>
          <a:p>
            <a:endParaRPr dirty="0"/>
          </a:p>
          <a:p>
            <a:r>
              <a:rPr dirty="0"/>
              <a:t>For the display output, we pre-decided that E equals one zero </a:t>
            </a:r>
            <a:r>
              <a:rPr dirty="0" err="1"/>
              <a:t>zero</a:t>
            </a:r>
            <a:r>
              <a:rPr dirty="0"/>
              <a:t> </a:t>
            </a:r>
            <a:r>
              <a:rPr dirty="0" err="1"/>
              <a:t>zero</a:t>
            </a:r>
            <a:r>
              <a:rPr dirty="0"/>
              <a:t> and U equals one zero </a:t>
            </a:r>
            <a:r>
              <a:rPr dirty="0" err="1"/>
              <a:t>zero</a:t>
            </a:r>
            <a:r>
              <a:rPr dirty="0"/>
              <a:t> one. So three of the four output bits are constants, and only D zero changes. D zero is the inverted equality flag, so D zero is one when the bits don't match.</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t>Forward adjust adds three to G. From G of zero up to G of four, the result fits in the display. Once G is five or higher, G plus three is eight or more, so we overflow.</a:t>
            </a:r>
          </a:p>
          <a:p>
            <a:endParaRPr/>
          </a:p>
          <a:p>
            <a:r>
              <a:t>The five K-maps work out the per-bit equations. D three has two overlapping groups in the bottom row, which factor as G two times the OR of G one and G zero. D two is one almost everywhere, only zero at G equals zero zero zero, so it simplifies to a three-input OR. D one is harder, with three ones not all adjacent, so we end up with a sum of two product terms. D zero uses a wrap-around group across the leftmost and rightmost columns of the top row, plus a vertical pair on the left edge. Notice the overflow K-map matches D three exactly.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t>Clearance is seven minus Y. There's a beautiful identity hiding here. For any three-bit Y, seven minus Y equals the bitwise NOT of Y. You can see this directly in the truth table, where the lower three bits of D are exactly Y inverted bit by bit.</a:t>
            </a:r>
          </a:p>
          <a:p>
            <a:endParaRPr/>
          </a:p>
          <a:p>
            <a:r>
              <a:t>The K-maps confirm this. D three is all zeros since the result never reaches eight. D two is one wherever Y two is zero, which is the whole top row, giving Y two prime. D one is the same pattern but on Y one, simplifying to Y one prime. D zero needs the famous wrap-around group spanning the leftmost and rightmost columns, and that gives Y zero prime.</a:t>
            </a:r>
          </a:p>
          <a:p>
            <a:endParaRPr/>
          </a:p>
          <a:p>
            <a:r>
              <a:t>Because seven minus Y is always non-negative, the overflow flag is constantly zero.</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t>Path average computes the floor of G plus Y over two. With both inputs three bits wide, the maximum sum is fourteen, which gives an average of seven. Seven still fits in the display, so this operation never overflows.</a:t>
            </a:r>
          </a:p>
          <a:p>
            <a:endParaRPr/>
          </a:p>
          <a:p>
            <a:r>
              <a:t>The implementation reuses two Chapter four building blocks. First, a three-bit ripple-carry adder produces a four-bit sum. Then the right shift by one is just a wire reroute: we take the upper three bits of the sum and route them to D bits two, one, and zero. The least significant sum bit is discarded because the floor operation drops it. D three stays at zero since the maximum result is seven.</a:t>
            </a:r>
          </a:p>
          <a:p>
            <a:endParaRPr/>
          </a:p>
          <a:p>
            <a:r>
              <a:t>This is cleaner than per-bit K-maps because the function has six input variables, and a six-variable K-map is impractical at Chapter three level.</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t>Difference is G minus Y. We only get a valid display when G is at least Y. If Y is bigger, the result would go negative, and we flag overflow.</a:t>
            </a:r>
          </a:p>
          <a:p>
            <a:endParaRPr/>
          </a:p>
          <a:p>
            <a:r>
              <a:t>Two Chapter four blocks make this clean. The three-bit magnitude comparator inspects bits from the most significant downward, comparing them in pairs. Its single-bit output is the overflow flag, true when Y is greater than G.</a:t>
            </a:r>
          </a:p>
          <a:p>
            <a:endParaRPr/>
          </a:p>
          <a:p>
            <a:r>
              <a:t>In parallel, a three-bit subtractor computes G minus Y. Its output is only meaningful when no underflow happens, but we compute it anyway and select between it and the overflow code using a multiplexer driven by the comparator output. When OF is one, the display shows one one zero zero. When OF is zero, the display is zero followed by the three-bit difference.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t>System off is the simplest operation. When S is one one one, we ignore the sensor inputs entirely and blank the display.</a:t>
            </a:r>
          </a:p>
          <a:p>
            <a:endParaRPr/>
          </a:p>
          <a:p>
            <a:r>
              <a:t>The five small K-maps illustrate that constants are the trivial case of the K-map method. D three, D one, and D zero are constant ones, so every cell of their K-map is shaded. D two and the overflow flag are constant zeros, so every cell stays white. There's no minimization to do because the function does not depend on the inputs.</a:t>
            </a:r>
          </a:p>
          <a:p>
            <a:endParaRPr/>
          </a:p>
          <a:p>
            <a:r>
              <a:t>The display code one zero one one is reserved in our encoding for blank. The seven-segment decoder maps it to all segments off, which is what we want when the system is powered down.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algn="l"/>
            <a:r>
              <a:rPr sz="1100">
                <a:latin typeface="Calibri"/>
              </a:rPr>
              <a:t>We split the design into three Verilog modules. Each one shows up as its own screenshot once we compile in Quartus.</a:t>
            </a:r>
          </a:p>
          <a:p>
            <a:pPr algn="l"/>
            <a:r>
              <a:rPr sz="1100">
                <a:latin typeface="Calibri"/>
              </a:rPr>
              <a:t>The top module on the left is short. It just declares the I/O ports for G, Y, S, the HEX bus to the display, and the overflow LED, then instantiates the two sub-modules and wires them together.</a:t>
            </a:r>
          </a:p>
          <a:p>
            <a:pPr algn="l"/>
            <a:r>
              <a:rPr sz="1100">
                <a:latin typeface="Calibri"/>
              </a:rPr>
              <a:t>The middle screenshot is the heart of the design, the Robotic Sensor Processing module. It's an always-comb block with a case statement on S. Each branch handles one of the eight operations and produces both D and OF in the same step.</a:t>
            </a:r>
          </a:p>
          <a:p>
            <a:pPr algn="l"/>
            <a:r>
              <a:rPr sz="1100">
                <a:latin typeface="Calibri"/>
              </a:rPr>
              <a:t>The right one is the 7-segment decoder. It takes the 4-bit display code and maps it to the seven segment outputs. Codes zero through seven give standard digits. Codes 1000 through 1010 give the E, U, and equals symbols. Code 1011 gives a blank display.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algn="l"/>
            <a:r>
              <a:rPr sz="1100">
                <a:latin typeface="Calibri"/>
              </a:rPr>
              <a:t>To wrap up. We built a digital robotic sensor processor that takes in two sensor readings and a function selector, runs one of eight operations, and drives a display plus an overflow LED.</a:t>
            </a:r>
          </a:p>
          <a:p>
            <a:pPr algn="l"/>
            <a:r>
              <a:rPr sz="1100">
                <a:latin typeface="Calibri"/>
              </a:rPr>
              <a:t>On the design side we derived truth tables and K-maps for every operation, then pulled out the simplest equations from each. For the arithmetic ops, the equations are arithmetic. For the boolean ops they're SOP minimizations. The Verilog implementation lives in three modules, one for I/O, one for the processing logic, and one for the segment decoder.</a:t>
            </a:r>
          </a:p>
          <a:p>
            <a:pPr algn="l"/>
            <a:r>
              <a:rPr sz="1100">
                <a:latin typeface="Calibri"/>
              </a:rPr>
              <a:t>Five of the eight operations can overflow, and we handled that with a dedicated overflow code on the display and a separate LED. The other three, compare, clearance, and path average, are designed to always stay in the zero through seven range, so they never need the overflow path.</a:t>
            </a:r>
          </a:p>
          <a:p>
            <a:pPr algn="l"/>
            <a:r>
              <a:rPr sz="1100">
                <a:latin typeface="Calibri"/>
              </a:rPr>
              <a:t>That's our design. Happy to take questions on any part of it.</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preserve="1" userDrawn="1">
  <p:cSld name="1_Title and body">
    <p:spTree>
      <p:nvGrpSpPr>
        <p:cNvPr id="1" name="Shape 13"/>
        <p:cNvGrpSpPr/>
        <p:nvPr/>
      </p:nvGrpSpPr>
      <p:grpSpPr>
        <a:xfrm>
          <a:off x="0" y="0"/>
          <a:ext cx="0" cy="0"/>
          <a:chOff x="0" y="0"/>
          <a:chExt cx="0" cy="0"/>
        </a:xfrm>
      </p:grpSpPr>
      <p:sp>
        <p:nvSpPr>
          <p:cNvPr id="8" name="Google Shape;54;p1">
            <a:extLst>
              <a:ext uri="{FF2B5EF4-FFF2-40B4-BE49-F238E27FC236}">
                <a16:creationId xmlns:a16="http://schemas.microsoft.com/office/drawing/2014/main" id="{631C2DF5-1362-47E0-9992-CA0F5EE5E7F4}"/>
              </a:ext>
            </a:extLst>
          </p:cNvPr>
          <p:cNvSpPr txBox="1">
            <a:spLocks noGrp="1"/>
          </p:cNvSpPr>
          <p:nvPr>
            <p:ph type="ctrTitle"/>
          </p:nvPr>
        </p:nvSpPr>
        <p:spPr>
          <a:xfrm>
            <a:off x="797859" y="1922141"/>
            <a:ext cx="6290441" cy="1661963"/>
          </a:xfrm>
          <a:prstGeom prst="rect">
            <a:avLst/>
          </a:prstGeom>
          <a:noFill/>
          <a:ln>
            <a:noFill/>
          </a:ln>
        </p:spPr>
        <p:txBody>
          <a:bodyPr spcFirstLastPara="1" wrap="square" lIns="91425" tIns="91425" rIns="91425" bIns="91425" anchor="b" anchorCtr="0">
            <a:spAutoFit/>
          </a:bodyPr>
          <a:lstStyle>
            <a:lvl1pPr>
              <a:defRPr sz="5400"/>
            </a:lvl1pPr>
          </a:lstStyle>
          <a:p>
            <a:pPr marL="0" lvl="0" indent="0" algn="l" rtl="0">
              <a:lnSpc>
                <a:spcPct val="100000"/>
              </a:lnSpc>
              <a:spcBef>
                <a:spcPts val="0"/>
              </a:spcBef>
              <a:spcAft>
                <a:spcPts val="0"/>
              </a:spcAft>
              <a:buSzPts val="5200"/>
              <a:buNone/>
            </a:pPr>
            <a:r>
              <a:rPr lang="en-GB" sz="4800" b="1" dirty="0">
                <a:latin typeface="Century Gothic" panose="020B0502020202020204" pitchFamily="34" charset="0"/>
                <a:ea typeface="Red Hat Display"/>
                <a:cs typeface="Calibri" panose="020F0502020204030204" pitchFamily="34" charset="0"/>
                <a:sym typeface="Red Hat Display"/>
              </a:rPr>
              <a:t>PRESENTATION</a:t>
            </a:r>
            <a:br>
              <a:rPr lang="en-GB" sz="4800" b="1" dirty="0">
                <a:latin typeface="Century Gothic" panose="020B0502020202020204" pitchFamily="34" charset="0"/>
                <a:ea typeface="Red Hat Display"/>
                <a:cs typeface="Calibri" panose="020F0502020204030204" pitchFamily="34" charset="0"/>
                <a:sym typeface="Red Hat Display"/>
              </a:rPr>
            </a:br>
            <a:r>
              <a:rPr lang="en-GB" sz="4800" b="1" dirty="0">
                <a:latin typeface="Century Gothic" panose="020B0502020202020204" pitchFamily="34" charset="0"/>
                <a:ea typeface="Red Hat Display"/>
                <a:cs typeface="Calibri" panose="020F0502020204030204" pitchFamily="34" charset="0"/>
                <a:sym typeface="Red Hat Display"/>
              </a:rPr>
              <a:t>TITTLE</a:t>
            </a:r>
            <a:endParaRPr sz="4800" b="1" dirty="0">
              <a:latin typeface="Century Gothic" panose="020B0502020202020204" pitchFamily="34" charset="0"/>
              <a:ea typeface="Red Hat Display"/>
              <a:cs typeface="Calibri" panose="020F0502020204030204" pitchFamily="34" charset="0"/>
              <a:sym typeface="Red Hat Display"/>
            </a:endParaRPr>
          </a:p>
        </p:txBody>
      </p:sp>
      <p:sp>
        <p:nvSpPr>
          <p:cNvPr id="9" name="Google Shape;55;p1">
            <a:extLst>
              <a:ext uri="{FF2B5EF4-FFF2-40B4-BE49-F238E27FC236}">
                <a16:creationId xmlns:a16="http://schemas.microsoft.com/office/drawing/2014/main" id="{E5E4EFC6-10AC-457A-90BE-EB16C5D5FDC1}"/>
              </a:ext>
            </a:extLst>
          </p:cNvPr>
          <p:cNvSpPr txBox="1"/>
          <p:nvPr userDrawn="1"/>
        </p:nvSpPr>
        <p:spPr>
          <a:xfrm>
            <a:off x="1219200" y="4442603"/>
            <a:ext cx="1395180" cy="353913"/>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GB" sz="1100" b="1" i="0" u="none" strike="noStrike" cap="none" dirty="0" err="1">
                <a:solidFill>
                  <a:schemeClr val="tx1"/>
                </a:solidFill>
                <a:latin typeface="Red Hat Display"/>
                <a:ea typeface="Red Hat Display"/>
                <a:cs typeface="Red Hat Display"/>
                <a:sym typeface="Red Hat Display"/>
              </a:rPr>
              <a:t>www.aum.edu.kw</a:t>
            </a:r>
            <a:endParaRPr sz="1400" b="0" i="0" u="none" strike="noStrike" cap="none" dirty="0">
              <a:solidFill>
                <a:schemeClr val="tx1"/>
              </a:solidFill>
              <a:latin typeface="Red Hat Display"/>
              <a:ea typeface="Red Hat Display"/>
              <a:cs typeface="Red Hat Display"/>
              <a:sym typeface="Red Hat Display"/>
            </a:endParaRPr>
          </a:p>
        </p:txBody>
      </p:sp>
      <p:sp>
        <p:nvSpPr>
          <p:cNvPr id="10" name="Oval 9">
            <a:extLst>
              <a:ext uri="{FF2B5EF4-FFF2-40B4-BE49-F238E27FC236}">
                <a16:creationId xmlns:a16="http://schemas.microsoft.com/office/drawing/2014/main" id="{38DC77A7-8710-436F-B5E7-19B60E66B5F0}"/>
              </a:ext>
            </a:extLst>
          </p:cNvPr>
          <p:cNvSpPr/>
          <p:nvPr userDrawn="1"/>
        </p:nvSpPr>
        <p:spPr>
          <a:xfrm>
            <a:off x="975360" y="4497639"/>
            <a:ext cx="243840" cy="243840"/>
          </a:xfrm>
          <a:prstGeom prst="ellipse">
            <a:avLst/>
          </a:prstGeom>
          <a:solidFill>
            <a:srgbClr val="D1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pic>
        <p:nvPicPr>
          <p:cNvPr id="11" name="Picture 10" descr="A red and white background with a design  Description automatically generated">
            <a:extLst>
              <a:ext uri="{FF2B5EF4-FFF2-40B4-BE49-F238E27FC236}">
                <a16:creationId xmlns:a16="http://schemas.microsoft.com/office/drawing/2014/main" id="{418E62F8-02A7-4379-A005-0EF5EC635BBF}"/>
              </a:ext>
            </a:extLst>
          </p:cNvPr>
          <p:cNvPicPr>
            <a:picLocks noChangeAspect="1"/>
          </p:cNvPicPr>
          <p:nvPr userDrawn="1"/>
        </p:nvPicPr>
        <p:blipFill>
          <a:blip r:embed="rId2"/>
          <a:stretch>
            <a:fillRect/>
          </a:stretch>
        </p:blipFill>
        <p:spPr>
          <a:xfrm>
            <a:off x="5526156" y="0"/>
            <a:ext cx="3612229" cy="5143500"/>
          </a:xfrm>
          <a:prstGeom prst="rect">
            <a:avLst/>
          </a:prstGeom>
        </p:spPr>
      </p:pic>
      <p:pic>
        <p:nvPicPr>
          <p:cNvPr id="12" name="Picture 11">
            <a:extLst>
              <a:ext uri="{FF2B5EF4-FFF2-40B4-BE49-F238E27FC236}">
                <a16:creationId xmlns:a16="http://schemas.microsoft.com/office/drawing/2014/main" id="{28A0ADE9-7A46-486B-82F3-A690D904DFF4}"/>
              </a:ext>
            </a:extLst>
          </p:cNvPr>
          <p:cNvPicPr>
            <a:picLocks noChangeAspect="1"/>
          </p:cNvPicPr>
          <p:nvPr userDrawn="1"/>
        </p:nvPicPr>
        <p:blipFill>
          <a:blip r:embed="rId3"/>
          <a:stretch>
            <a:fillRect/>
          </a:stretch>
        </p:blipFill>
        <p:spPr>
          <a:xfrm>
            <a:off x="135720" y="518425"/>
            <a:ext cx="4286012" cy="1090434"/>
          </a:xfrm>
          <a:prstGeom prst="rect">
            <a:avLst/>
          </a:prstGeom>
        </p:spPr>
      </p:pic>
    </p:spTree>
    <p:extLst>
      <p:ext uri="{BB962C8B-B14F-4D97-AF65-F5344CB8AC3E}">
        <p14:creationId xmlns:p14="http://schemas.microsoft.com/office/powerpoint/2010/main" val="267916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preserve="1" userDrawn="1">
  <p:cSld name="1_Title and body">
    <p:spTree>
      <p:nvGrpSpPr>
        <p:cNvPr id="1" name="Shape 13"/>
        <p:cNvGrpSpPr/>
        <p:nvPr/>
      </p:nvGrpSpPr>
      <p:grpSpPr>
        <a:xfrm>
          <a:off x="0" y="0"/>
          <a:ext cx="0" cy="0"/>
          <a:chOff x="0" y="0"/>
          <a:chExt cx="0" cy="0"/>
        </a:xfrm>
      </p:grpSpPr>
      <p:sp>
        <p:nvSpPr>
          <p:cNvPr id="21" name="Rectangle 20">
            <a:extLst>
              <a:ext uri="{FF2B5EF4-FFF2-40B4-BE49-F238E27FC236}">
                <a16:creationId xmlns:a16="http://schemas.microsoft.com/office/drawing/2014/main" id="{77BBF4DE-513C-4814-86EE-EEEA3522B6F4}"/>
              </a:ext>
            </a:extLst>
          </p:cNvPr>
          <p:cNvSpPr/>
          <p:nvPr userDrawn="1"/>
        </p:nvSpPr>
        <p:spPr>
          <a:xfrm>
            <a:off x="0" y="462013"/>
            <a:ext cx="96253" cy="778372"/>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3" name="Google Shape;15;p13">
            <a:extLst>
              <a:ext uri="{FF2B5EF4-FFF2-40B4-BE49-F238E27FC236}">
                <a16:creationId xmlns:a16="http://schemas.microsoft.com/office/drawing/2014/main" id="{E201477A-2207-47E3-9C82-AA3445AF1D0B}"/>
              </a:ext>
            </a:extLst>
          </p:cNvPr>
          <p:cNvSpPr txBox="1">
            <a:spLocks noGrp="1"/>
          </p:cNvSpPr>
          <p:nvPr>
            <p:ph type="body" idx="1"/>
          </p:nvPr>
        </p:nvSpPr>
        <p:spPr>
          <a:xfrm>
            <a:off x="311700" y="1527565"/>
            <a:ext cx="6530534" cy="304131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dirty="0"/>
          </a:p>
        </p:txBody>
      </p:sp>
      <p:sp>
        <p:nvSpPr>
          <p:cNvPr id="9" name="Google Shape;19;p14">
            <a:extLst>
              <a:ext uri="{FF2B5EF4-FFF2-40B4-BE49-F238E27FC236}">
                <a16:creationId xmlns:a16="http://schemas.microsoft.com/office/drawing/2014/main" id="{214D99CB-0A61-44BD-9A7F-7B1235CA93FA}"/>
              </a:ext>
            </a:extLst>
          </p:cNvPr>
          <p:cNvSpPr txBox="1">
            <a:spLocks/>
          </p:cNvSpPr>
          <p:nvPr userDrawn="1"/>
        </p:nvSpPr>
        <p:spPr>
          <a:xfrm>
            <a:off x="8517256" y="4742129"/>
            <a:ext cx="548700" cy="3936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GB" smtClean="0">
                <a:solidFill>
                  <a:schemeClr val="tx1"/>
                </a:solidFill>
              </a:rPr>
              <a:pPr/>
              <a:t>‹#›</a:t>
            </a:fld>
            <a:endParaRPr lang="en-GB" dirty="0">
              <a:solidFill>
                <a:schemeClr val="tx1"/>
              </a:solidFill>
            </a:endParaRPr>
          </a:p>
        </p:txBody>
      </p:sp>
      <p:sp>
        <p:nvSpPr>
          <p:cNvPr id="10" name="Google Shape;55;p1">
            <a:extLst>
              <a:ext uri="{FF2B5EF4-FFF2-40B4-BE49-F238E27FC236}">
                <a16:creationId xmlns:a16="http://schemas.microsoft.com/office/drawing/2014/main" id="{81EFFF43-0464-49FF-9D8B-0F13EBE1A872}"/>
              </a:ext>
            </a:extLst>
          </p:cNvPr>
          <p:cNvSpPr txBox="1"/>
          <p:nvPr userDrawn="1"/>
        </p:nvSpPr>
        <p:spPr>
          <a:xfrm>
            <a:off x="3779520" y="4786123"/>
            <a:ext cx="1395180" cy="33852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000" b="0" i="0" u="none" strike="noStrike" cap="none" dirty="0" err="1">
                <a:solidFill>
                  <a:schemeClr val="tx1"/>
                </a:solidFill>
                <a:latin typeface="Red Hat Display"/>
                <a:ea typeface="Red Hat Display"/>
                <a:cs typeface="Red Hat Display"/>
                <a:sym typeface="Red Hat Display"/>
              </a:rPr>
              <a:t>www.aum.edu.kw</a:t>
            </a:r>
            <a:endParaRPr sz="1000" b="0" i="0" u="none" strike="noStrike" cap="none" dirty="0">
              <a:solidFill>
                <a:schemeClr val="tx1"/>
              </a:solidFill>
              <a:latin typeface="Red Hat Display"/>
              <a:ea typeface="Red Hat Display"/>
              <a:cs typeface="Red Hat Display"/>
              <a:sym typeface="Red Hat Display"/>
            </a:endParaRPr>
          </a:p>
        </p:txBody>
      </p:sp>
      <p:sp>
        <p:nvSpPr>
          <p:cNvPr id="2" name="Title 1">
            <a:extLst>
              <a:ext uri="{FF2B5EF4-FFF2-40B4-BE49-F238E27FC236}">
                <a16:creationId xmlns:a16="http://schemas.microsoft.com/office/drawing/2014/main" id="{53E50399-EDE1-4C7B-83BC-4CEAAD93E578}"/>
              </a:ext>
            </a:extLst>
          </p:cNvPr>
          <p:cNvSpPr>
            <a:spLocks noGrp="1"/>
          </p:cNvSpPr>
          <p:nvPr>
            <p:ph type="title" hasCustomPrompt="1"/>
          </p:nvPr>
        </p:nvSpPr>
        <p:spPr/>
        <p:txBody>
          <a:bodyPr>
            <a:noAutofit/>
          </a:bodyPr>
          <a:lstStyle>
            <a:lvl1pPr>
              <a:defRPr lang="en-US" sz="4800" b="1" i="0" u="none" strike="noStrike" cap="none" dirty="0">
                <a:solidFill>
                  <a:schemeClr val="dk1"/>
                </a:solidFill>
                <a:latin typeface="Red Hat Display"/>
                <a:ea typeface="Red Hat Display"/>
                <a:cs typeface="Red Hat Display"/>
                <a:sym typeface="Arial"/>
              </a:defRPr>
            </a:lvl1pPr>
          </a:lstStyle>
          <a:p>
            <a:r>
              <a:rPr lang="en-US" dirty="0"/>
              <a:t>Click to add title</a:t>
            </a:r>
          </a:p>
        </p:txBody>
      </p:sp>
    </p:spTree>
    <p:extLst>
      <p:ext uri="{BB962C8B-B14F-4D97-AF65-F5344CB8AC3E}">
        <p14:creationId xmlns:p14="http://schemas.microsoft.com/office/powerpoint/2010/main" val="3723870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reserve="1" userDrawn="1">
  <p:cSld name="1_Title and body">
    <p:spTree>
      <p:nvGrpSpPr>
        <p:cNvPr id="1" name="Shape 13"/>
        <p:cNvGrpSpPr/>
        <p:nvPr/>
      </p:nvGrpSpPr>
      <p:grpSpPr>
        <a:xfrm>
          <a:off x="0" y="0"/>
          <a:ext cx="0" cy="0"/>
          <a:chOff x="0" y="0"/>
          <a:chExt cx="0" cy="0"/>
        </a:xfrm>
      </p:grpSpPr>
      <p:sp>
        <p:nvSpPr>
          <p:cNvPr id="25" name="Rectangle 24">
            <a:extLst>
              <a:ext uri="{FF2B5EF4-FFF2-40B4-BE49-F238E27FC236}">
                <a16:creationId xmlns:a16="http://schemas.microsoft.com/office/drawing/2014/main" id="{669E0535-6FD9-4D8F-80CA-FF7A96DB665F}"/>
              </a:ext>
            </a:extLst>
          </p:cNvPr>
          <p:cNvSpPr/>
          <p:nvPr userDrawn="1"/>
        </p:nvSpPr>
        <p:spPr>
          <a:xfrm>
            <a:off x="0" y="462013"/>
            <a:ext cx="96253" cy="778372"/>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pic>
        <p:nvPicPr>
          <p:cNvPr id="26" name="Picture 25" descr="A black and red background with a bird  Description automatically generated">
            <a:extLst>
              <a:ext uri="{FF2B5EF4-FFF2-40B4-BE49-F238E27FC236}">
                <a16:creationId xmlns:a16="http://schemas.microsoft.com/office/drawing/2014/main" id="{7356EFA9-D406-4147-B1F7-82B217840839}"/>
              </a:ext>
            </a:extLst>
          </p:cNvPr>
          <p:cNvPicPr>
            <a:picLocks noChangeAspect="1"/>
          </p:cNvPicPr>
          <p:nvPr userDrawn="1"/>
        </p:nvPicPr>
        <p:blipFill>
          <a:blip r:embed="rId2"/>
          <a:stretch>
            <a:fillRect/>
          </a:stretch>
        </p:blipFill>
        <p:spPr>
          <a:xfrm>
            <a:off x="6552618" y="0"/>
            <a:ext cx="2591382" cy="5143500"/>
          </a:xfrm>
          <a:prstGeom prst="rect">
            <a:avLst/>
          </a:prstGeom>
        </p:spPr>
      </p:pic>
      <p:sp>
        <p:nvSpPr>
          <p:cNvPr id="27" name="Google Shape;15;p13">
            <a:extLst>
              <a:ext uri="{FF2B5EF4-FFF2-40B4-BE49-F238E27FC236}">
                <a16:creationId xmlns:a16="http://schemas.microsoft.com/office/drawing/2014/main" id="{F5F3B15A-58C1-48A3-AB6A-E8A3A8F0B1F0}"/>
              </a:ext>
            </a:extLst>
          </p:cNvPr>
          <p:cNvSpPr txBox="1">
            <a:spLocks noGrp="1"/>
          </p:cNvSpPr>
          <p:nvPr>
            <p:ph type="body" idx="1"/>
          </p:nvPr>
        </p:nvSpPr>
        <p:spPr>
          <a:xfrm>
            <a:off x="311700" y="1527565"/>
            <a:ext cx="6530534" cy="304131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dirty="0"/>
          </a:p>
        </p:txBody>
      </p:sp>
      <p:sp>
        <p:nvSpPr>
          <p:cNvPr id="28" name="Google Shape;19;p14">
            <a:extLst>
              <a:ext uri="{FF2B5EF4-FFF2-40B4-BE49-F238E27FC236}">
                <a16:creationId xmlns:a16="http://schemas.microsoft.com/office/drawing/2014/main" id="{A6353D6C-199F-4C21-9FC8-2D00FAAA26A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9" name="Google Shape;55;p1">
            <a:extLst>
              <a:ext uri="{FF2B5EF4-FFF2-40B4-BE49-F238E27FC236}">
                <a16:creationId xmlns:a16="http://schemas.microsoft.com/office/drawing/2014/main" id="{4544F053-DAFF-4191-A4FE-EAC318BF6A0C}"/>
              </a:ext>
            </a:extLst>
          </p:cNvPr>
          <p:cNvSpPr txBox="1"/>
          <p:nvPr userDrawn="1"/>
        </p:nvSpPr>
        <p:spPr>
          <a:xfrm>
            <a:off x="3779520" y="4786123"/>
            <a:ext cx="1395180" cy="33852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000" b="0" i="0" u="none" strike="noStrike" cap="none" dirty="0" err="1">
                <a:solidFill>
                  <a:schemeClr val="tx1"/>
                </a:solidFill>
                <a:latin typeface="Red Hat Display"/>
                <a:ea typeface="Red Hat Display"/>
                <a:cs typeface="Red Hat Display"/>
                <a:sym typeface="Red Hat Display"/>
              </a:rPr>
              <a:t>www.aum.edu.kw</a:t>
            </a:r>
            <a:endParaRPr sz="1000" b="0" i="0" u="none" strike="noStrike" cap="none" dirty="0">
              <a:solidFill>
                <a:schemeClr val="tx1"/>
              </a:solidFill>
              <a:latin typeface="Red Hat Display"/>
              <a:ea typeface="Red Hat Display"/>
              <a:cs typeface="Red Hat Display"/>
              <a:sym typeface="Red Hat Display"/>
            </a:endParaRPr>
          </a:p>
        </p:txBody>
      </p:sp>
      <p:sp>
        <p:nvSpPr>
          <p:cNvPr id="2" name="Title 1">
            <a:extLst>
              <a:ext uri="{FF2B5EF4-FFF2-40B4-BE49-F238E27FC236}">
                <a16:creationId xmlns:a16="http://schemas.microsoft.com/office/drawing/2014/main" id="{7B6E2517-3805-41A0-9280-523D3C8CC82F}"/>
              </a:ext>
            </a:extLst>
          </p:cNvPr>
          <p:cNvSpPr>
            <a:spLocks noGrp="1"/>
          </p:cNvSpPr>
          <p:nvPr>
            <p:ph type="title" hasCustomPrompt="1"/>
          </p:nvPr>
        </p:nvSpPr>
        <p:spPr/>
        <p:txBody>
          <a:bodyPr>
            <a:noAutofit/>
          </a:bodyPr>
          <a:lstStyle>
            <a:lvl1pPr>
              <a:defRPr lang="en-US" sz="4800" b="1" i="0" u="none" strike="noStrike" cap="none" dirty="0">
                <a:solidFill>
                  <a:schemeClr val="dk1"/>
                </a:solidFill>
                <a:latin typeface="Red Hat Display"/>
                <a:ea typeface="Red Hat Display"/>
                <a:cs typeface="Red Hat Display"/>
                <a:sym typeface="Arial"/>
              </a:defRPr>
            </a:lvl1pPr>
          </a:lstStyle>
          <a:p>
            <a:r>
              <a:rPr lang="en-US" dirty="0"/>
              <a:t>Click to add title</a:t>
            </a:r>
          </a:p>
        </p:txBody>
      </p:sp>
    </p:spTree>
    <p:extLst>
      <p:ext uri="{BB962C8B-B14F-4D97-AF65-F5344CB8AC3E}">
        <p14:creationId xmlns:p14="http://schemas.microsoft.com/office/powerpoint/2010/main" val="638971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userDrawn="1">
  <p:cSld name="Section header">
    <p:spTree>
      <p:nvGrpSpPr>
        <p:cNvPr id="1" name="Shape 17"/>
        <p:cNvGrpSpPr/>
        <p:nvPr/>
      </p:nvGrpSpPr>
      <p:grpSpPr>
        <a:xfrm>
          <a:off x="0" y="0"/>
          <a:ext cx="0" cy="0"/>
          <a:chOff x="0" y="0"/>
          <a:chExt cx="0" cy="0"/>
        </a:xfrm>
      </p:grpSpPr>
      <p:sp>
        <p:nvSpPr>
          <p:cNvPr id="19" name="Google Shape;1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4" name="Google Shape;88;p5">
            <a:extLst>
              <a:ext uri="{FF2B5EF4-FFF2-40B4-BE49-F238E27FC236}">
                <a16:creationId xmlns:a16="http://schemas.microsoft.com/office/drawing/2014/main" id="{CCE35384-1C34-4B82-9C35-9348FE4AEB5E}"/>
              </a:ext>
            </a:extLst>
          </p:cNvPr>
          <p:cNvSpPr txBox="1">
            <a:spLocks noGrp="1"/>
          </p:cNvSpPr>
          <p:nvPr>
            <p:ph type="title"/>
          </p:nvPr>
        </p:nvSpPr>
        <p:spPr>
          <a:xfrm>
            <a:off x="2167690" y="1864985"/>
            <a:ext cx="4495200" cy="8580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80000"/>
              </a:lnSpc>
              <a:spcBef>
                <a:spcPts val="0"/>
              </a:spcBef>
              <a:spcAft>
                <a:spcPts val="0"/>
              </a:spcAft>
              <a:buSzPct val="64814"/>
              <a:buNone/>
            </a:pPr>
            <a:r>
              <a:rPr lang="en-GB" sz="4800" b="1" dirty="0">
                <a:latin typeface="Red Hat Display"/>
                <a:ea typeface="Red Hat Display"/>
                <a:cs typeface="Red Hat Display"/>
                <a:sym typeface="Red Hat Display"/>
              </a:rPr>
              <a:t>Click to add text</a:t>
            </a:r>
            <a:endParaRPr sz="4800" b="1" dirty="0">
              <a:latin typeface="Red Hat Display"/>
              <a:ea typeface="Red Hat Display"/>
              <a:cs typeface="Red Hat Display"/>
              <a:sym typeface="Red Hat Display"/>
            </a:endParaRPr>
          </a:p>
        </p:txBody>
      </p:sp>
      <p:sp>
        <p:nvSpPr>
          <p:cNvPr id="5" name="Google Shape;89;p5">
            <a:extLst>
              <a:ext uri="{FF2B5EF4-FFF2-40B4-BE49-F238E27FC236}">
                <a16:creationId xmlns:a16="http://schemas.microsoft.com/office/drawing/2014/main" id="{E8C27F19-C26F-41A3-9DF6-6BD499D2B37A}"/>
              </a:ext>
            </a:extLst>
          </p:cNvPr>
          <p:cNvSpPr txBox="1">
            <a:spLocks noGrp="1"/>
          </p:cNvSpPr>
          <p:nvPr>
            <p:ph type="body" idx="1" hasCustomPrompt="1"/>
          </p:nvPr>
        </p:nvSpPr>
        <p:spPr>
          <a:xfrm>
            <a:off x="311700" y="3877000"/>
            <a:ext cx="8532300" cy="881700"/>
          </a:xfrm>
          <a:prstGeom prst="rect">
            <a:avLst/>
          </a:prstGeom>
          <a:noFill/>
          <a:ln>
            <a:noFill/>
          </a:ln>
        </p:spPr>
        <p:txBody>
          <a:bodyPr spcFirstLastPara="1" wrap="square" lIns="91425" tIns="91425" rIns="91425" bIns="91425" anchor="t" anchorCtr="0">
            <a:normAutofit lnSpcReduction="10000"/>
          </a:bodyPr>
          <a:lstStyle>
            <a:lvl1pPr>
              <a:defRPr/>
            </a:lvl1pPr>
          </a:lstStyle>
          <a:p>
            <a:pPr marL="0" lvl="0" indent="0" algn="ctr" rtl="0">
              <a:lnSpc>
                <a:spcPct val="115000"/>
              </a:lnSpc>
              <a:spcBef>
                <a:spcPts val="0"/>
              </a:spcBef>
              <a:spcAft>
                <a:spcPts val="1200"/>
              </a:spcAft>
              <a:buSzPts val="1800"/>
              <a:buNone/>
            </a:pPr>
            <a:r>
              <a:rPr lang="en-GB" sz="1050" dirty="0">
                <a:solidFill>
                  <a:srgbClr val="202122"/>
                </a:solidFill>
                <a:highlight>
                  <a:srgbClr val="FFFFFF"/>
                </a:highlight>
                <a:latin typeface="Red Hat Display"/>
                <a:ea typeface="Red Hat Display"/>
                <a:cs typeface="Red Hat Display"/>
                <a:sym typeface="Red Hat Display"/>
              </a:rPr>
              <a:t>Add text here</a:t>
            </a:r>
            <a:endParaRPr sz="1050" i="1" dirty="0">
              <a:solidFill>
                <a:srgbClr val="202122"/>
              </a:solidFill>
              <a:highlight>
                <a:srgbClr val="FFFFFF"/>
              </a:highlight>
              <a:latin typeface="Red Hat Display"/>
              <a:ea typeface="Red Hat Display"/>
              <a:cs typeface="Red Hat Display"/>
              <a:sym typeface="Red Hat Display"/>
            </a:endParaRPr>
          </a:p>
        </p:txBody>
      </p:sp>
      <p:pic>
        <p:nvPicPr>
          <p:cNvPr id="6" name="Picture 5">
            <a:extLst>
              <a:ext uri="{FF2B5EF4-FFF2-40B4-BE49-F238E27FC236}">
                <a16:creationId xmlns:a16="http://schemas.microsoft.com/office/drawing/2014/main" id="{1F6507A9-F6AD-48CF-BE8A-F071629395E7}"/>
              </a:ext>
            </a:extLst>
          </p:cNvPr>
          <p:cNvPicPr>
            <a:picLocks noChangeAspect="1"/>
          </p:cNvPicPr>
          <p:nvPr userDrawn="1"/>
        </p:nvPicPr>
        <p:blipFill>
          <a:blip r:embed="rId2"/>
          <a:stretch>
            <a:fillRect/>
          </a:stretch>
        </p:blipFill>
        <p:spPr>
          <a:xfrm>
            <a:off x="2513109" y="2722985"/>
            <a:ext cx="3583891" cy="788864"/>
          </a:xfrm>
          <a:prstGeom prst="rect">
            <a:avLst/>
          </a:prstGeom>
        </p:spPr>
      </p:pic>
      <p:pic>
        <p:nvPicPr>
          <p:cNvPr id="7" name="Picture 6" descr="A red and black background  Description automatically generated">
            <a:extLst>
              <a:ext uri="{FF2B5EF4-FFF2-40B4-BE49-F238E27FC236}">
                <a16:creationId xmlns:a16="http://schemas.microsoft.com/office/drawing/2014/main" id="{F9C6FFC9-AB3A-4F68-9FF7-604F028C4CDA}"/>
              </a:ext>
            </a:extLst>
          </p:cNvPr>
          <p:cNvPicPr>
            <a:picLocks noChangeAspect="1"/>
          </p:cNvPicPr>
          <p:nvPr userDrawn="1"/>
        </p:nvPicPr>
        <p:blipFill>
          <a:blip r:embed="rId3"/>
          <a:stretch>
            <a:fillRect/>
          </a:stretch>
        </p:blipFill>
        <p:spPr>
          <a:xfrm>
            <a:off x="-1" y="-13288"/>
            <a:ext cx="9144001" cy="2736273"/>
          </a:xfrm>
          <a:prstGeom prst="rect">
            <a:avLst/>
          </a:prstGeom>
        </p:spPr>
      </p:pic>
      <p:sp>
        <p:nvSpPr>
          <p:cNvPr id="8" name="Google Shape;55;p1">
            <a:extLst>
              <a:ext uri="{FF2B5EF4-FFF2-40B4-BE49-F238E27FC236}">
                <a16:creationId xmlns:a16="http://schemas.microsoft.com/office/drawing/2014/main" id="{347DC3B6-346A-414C-8532-1951B4478A4E}"/>
              </a:ext>
            </a:extLst>
          </p:cNvPr>
          <p:cNvSpPr txBox="1"/>
          <p:nvPr userDrawn="1"/>
        </p:nvSpPr>
        <p:spPr>
          <a:xfrm>
            <a:off x="3779520" y="4786123"/>
            <a:ext cx="1395180" cy="33852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000" b="0" i="0" u="none" strike="noStrike" cap="none" dirty="0" err="1">
                <a:solidFill>
                  <a:schemeClr val="tx1"/>
                </a:solidFill>
                <a:latin typeface="Red Hat Display"/>
                <a:ea typeface="Red Hat Display"/>
                <a:cs typeface="Red Hat Display"/>
                <a:sym typeface="Red Hat Display"/>
              </a:rPr>
              <a:t>www.aum.edu.kw</a:t>
            </a:r>
            <a:endParaRPr sz="1000" b="0" i="0" u="none" strike="noStrike" cap="none" dirty="0">
              <a:solidFill>
                <a:schemeClr val="tx1"/>
              </a:solidFill>
              <a:latin typeface="Red Hat Display"/>
              <a:ea typeface="Red Hat Display"/>
              <a:cs typeface="Red Hat Display"/>
              <a:sym typeface="Red Hat Display"/>
            </a:endParaRPr>
          </a:p>
        </p:txBody>
      </p:sp>
    </p:spTree>
    <p:extLst>
      <p:ext uri="{BB962C8B-B14F-4D97-AF65-F5344CB8AC3E}">
        <p14:creationId xmlns:p14="http://schemas.microsoft.com/office/powerpoint/2010/main" val="13938623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dirty="0"/>
          </a:p>
        </p:txBody>
      </p:sp>
      <p:sp>
        <p:nvSpPr>
          <p:cNvPr id="7" name="Google Shape;7;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2" r:id="rId2"/>
    <p:sldLayoutId id="2147483661" r:id="rId3"/>
    <p:sldLayoutId id="2147483665"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B85C2-301A-4FCE-52DF-DDBC9C8828DC}"/>
              </a:ext>
            </a:extLst>
          </p:cNvPr>
          <p:cNvSpPr>
            <a:spLocks noGrp="1"/>
          </p:cNvSpPr>
          <p:nvPr>
            <p:ph type="ctrTitle"/>
          </p:nvPr>
        </p:nvSpPr>
        <p:spPr>
          <a:xfrm>
            <a:off x="730125" y="1486172"/>
            <a:ext cx="6290441" cy="1846629"/>
          </a:xfrm>
        </p:spPr>
        <p:txBody>
          <a:bodyPr/>
          <a:lstStyle/>
          <a:p>
            <a:r>
              <a:rPr lang="en-US" b="1" dirty="0">
                <a:solidFill>
                  <a:srgbClr val="1E2761"/>
                </a:solidFill>
                <a:latin typeface="Calibri"/>
              </a:rPr>
              <a:t>Digital Robotic Sensor on FPGA</a:t>
            </a:r>
            <a:endParaRPr lang="en-US" dirty="0"/>
          </a:p>
        </p:txBody>
      </p:sp>
      <p:sp>
        <p:nvSpPr>
          <p:cNvPr id="10" name="TextBox 9">
            <a:extLst>
              <a:ext uri="{FF2B5EF4-FFF2-40B4-BE49-F238E27FC236}">
                <a16:creationId xmlns:a16="http://schemas.microsoft.com/office/drawing/2014/main" id="{362B084B-FBCE-99B0-D869-8FB9A22D8C4B}"/>
              </a:ext>
            </a:extLst>
          </p:cNvPr>
          <p:cNvSpPr txBox="1"/>
          <p:nvPr/>
        </p:nvSpPr>
        <p:spPr>
          <a:xfrm>
            <a:off x="395110" y="3178912"/>
            <a:ext cx="4572000" cy="307777"/>
          </a:xfrm>
          <a:prstGeom prst="rect">
            <a:avLst/>
          </a:prstGeom>
          <a:noFill/>
        </p:spPr>
        <p:txBody>
          <a:bodyPr wrap="square">
            <a:spAutoFit/>
          </a:bodyPr>
          <a:lstStyle/>
          <a:p>
            <a:pPr algn="ctr"/>
            <a:r>
              <a:rPr lang="en-US" sz="1400" dirty="0">
                <a:solidFill>
                  <a:srgbClr val="333333"/>
                </a:solidFill>
                <a:latin typeface="Calibri"/>
              </a:rPr>
              <a:t>CE/EE 270  Introduction to Digital System Design</a:t>
            </a:r>
          </a:p>
        </p:txBody>
      </p:sp>
      <p:sp>
        <p:nvSpPr>
          <p:cNvPr id="12" name="TextBox 11">
            <a:extLst>
              <a:ext uri="{FF2B5EF4-FFF2-40B4-BE49-F238E27FC236}">
                <a16:creationId xmlns:a16="http://schemas.microsoft.com/office/drawing/2014/main" id="{D1779089-E7E5-C044-6A4E-D60FFB0AC5E9}"/>
              </a:ext>
            </a:extLst>
          </p:cNvPr>
          <p:cNvSpPr txBox="1"/>
          <p:nvPr/>
        </p:nvSpPr>
        <p:spPr>
          <a:xfrm>
            <a:off x="310444" y="3417512"/>
            <a:ext cx="4572000" cy="307777"/>
          </a:xfrm>
          <a:prstGeom prst="rect">
            <a:avLst/>
          </a:prstGeom>
          <a:noFill/>
        </p:spPr>
        <p:txBody>
          <a:bodyPr wrap="square">
            <a:spAutoFit/>
          </a:bodyPr>
          <a:lstStyle/>
          <a:p>
            <a:pPr algn="ctr">
              <a:spcBef>
                <a:spcPts val="400"/>
              </a:spcBef>
            </a:pPr>
            <a:r>
              <a:rPr lang="en-US" sz="1400" i="1" dirty="0">
                <a:solidFill>
                  <a:srgbClr val="888888"/>
                </a:solidFill>
                <a:latin typeface="Calibri"/>
              </a:rPr>
              <a:t>Project Deliverable 1</a:t>
            </a:r>
          </a:p>
        </p:txBody>
      </p:sp>
      <p:sp>
        <p:nvSpPr>
          <p:cNvPr id="14" name="TextBox 13">
            <a:extLst>
              <a:ext uri="{FF2B5EF4-FFF2-40B4-BE49-F238E27FC236}">
                <a16:creationId xmlns:a16="http://schemas.microsoft.com/office/drawing/2014/main" id="{631BF34E-83A2-F9B3-F869-38F27D6868AB}"/>
              </a:ext>
            </a:extLst>
          </p:cNvPr>
          <p:cNvSpPr txBox="1"/>
          <p:nvPr/>
        </p:nvSpPr>
        <p:spPr>
          <a:xfrm>
            <a:off x="2387600" y="4438450"/>
            <a:ext cx="4572000" cy="307777"/>
          </a:xfrm>
          <a:prstGeom prst="rect">
            <a:avLst/>
          </a:prstGeom>
          <a:noFill/>
        </p:spPr>
        <p:txBody>
          <a:bodyPr wrap="square">
            <a:spAutoFit/>
          </a:bodyPr>
          <a:lstStyle/>
          <a:p>
            <a:pPr marR="0" algn="ctr" rtl="0">
              <a:buNone/>
            </a:pPr>
            <a:r>
              <a:rPr lang="en-US" sz="1400" b="0" i="1" dirty="0">
                <a:solidFill>
                  <a:srgbClr val="888888"/>
                </a:solidFill>
                <a:effectLst/>
                <a:latin typeface="Calibri" panose="020F0502020204030204" pitchFamily="34" charset="0"/>
                <a:ea typeface="Arial" panose="020B0604020202020204" pitchFamily="34" charset="0"/>
                <a:cs typeface="Arial" panose="020B0604020202020204" pitchFamily="34" charset="0"/>
              </a:rPr>
              <a:t>Spring 2026</a:t>
            </a:r>
            <a:endParaRPr lang="en-US" dirty="0">
              <a:effectLst/>
            </a:endParaRPr>
          </a:p>
        </p:txBody>
      </p:sp>
      <p:sp>
        <p:nvSpPr>
          <p:cNvPr id="15" name="Rectangle: Rounded Corners 14">
            <a:extLst>
              <a:ext uri="{FF2B5EF4-FFF2-40B4-BE49-F238E27FC236}">
                <a16:creationId xmlns:a16="http://schemas.microsoft.com/office/drawing/2014/main" id="{27D15A1D-1BD6-342D-5D9F-DBDE392CE5DB}"/>
              </a:ext>
            </a:extLst>
          </p:cNvPr>
          <p:cNvSpPr/>
          <p:nvPr/>
        </p:nvSpPr>
        <p:spPr>
          <a:xfrm>
            <a:off x="1301478" y="3742696"/>
            <a:ext cx="2839155" cy="54186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lvl="0" algn="ctr">
              <a:spcAft>
                <a:spcPts val="400"/>
              </a:spcAft>
              <a:defRPr/>
            </a:pPr>
            <a:r>
              <a:rPr lang="en-US" b="1">
                <a:solidFill>
                  <a:srgbClr val="33CCCC"/>
                </a:solidFill>
                <a:latin typeface="Calibri"/>
                <a:cs typeface="Arial"/>
              </a:rPr>
              <a:t>AbdulRahman Ahmed   10095516</a:t>
            </a:r>
          </a:p>
          <a:p>
            <a:pPr lvl="0" algn="ctr">
              <a:spcAft>
                <a:spcPts val="800"/>
              </a:spcAft>
              <a:defRPr/>
            </a:pPr>
            <a:r>
              <a:rPr lang="en-US" b="1">
                <a:solidFill>
                  <a:srgbClr val="33CCCC"/>
                </a:solidFill>
                <a:latin typeface="Calibri"/>
                <a:cs typeface="Arial"/>
              </a:rPr>
              <a:t>Yousef AlAbdulrazzaq   75018</a:t>
            </a:r>
            <a:endParaRPr lang="en-US" b="1" dirty="0">
              <a:solidFill>
                <a:srgbClr val="33CCCC"/>
              </a:solidFill>
              <a:latin typeface="Calibri"/>
              <a:cs typeface="Arial"/>
            </a:endParaRPr>
          </a:p>
        </p:txBody>
      </p:sp>
    </p:spTree>
    <p:extLst>
      <p:ext uri="{BB962C8B-B14F-4D97-AF65-F5344CB8AC3E}">
        <p14:creationId xmlns:p14="http://schemas.microsoft.com/office/powerpoint/2010/main" val="582790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3">
            <a:extLst>
              <a:ext uri="{FF2B5EF4-FFF2-40B4-BE49-F238E27FC236}">
                <a16:creationId xmlns:a16="http://schemas.microsoft.com/office/drawing/2014/main" id="{26630D01-D4CC-480E-46CE-5700619F4D38}"/>
              </a:ext>
            </a:extLst>
          </p:cNvPr>
          <p:cNvSpPr/>
          <p:nvPr/>
        </p:nvSpPr>
        <p:spPr>
          <a:xfrm>
            <a:off x="1744364" y="3660293"/>
            <a:ext cx="1932829" cy="426054"/>
          </a:xfrm>
          <a:prstGeom prst="rect">
            <a:avLst/>
          </a:prstGeom>
          <a:solidFill>
            <a:srgbClr val="C00000"/>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76" dirty="0">
                <a:solidFill>
                  <a:schemeClr val="bg1"/>
                </a:solidFill>
                <a:latin typeface="+mj-lt"/>
                <a:ea typeface="幼圆" panose="02010509060101010101" pitchFamily="49" charset="-122"/>
              </a:rPr>
              <a:t>Contents</a:t>
            </a:r>
            <a:endParaRPr lang="zh-CN" altLang="en-US" sz="2276" dirty="0">
              <a:solidFill>
                <a:schemeClr val="bg1"/>
              </a:solidFill>
              <a:latin typeface="+mj-lt"/>
              <a:ea typeface="幼圆" panose="02010509060101010101" pitchFamily="49" charset="-122"/>
            </a:endParaRPr>
          </a:p>
        </p:txBody>
      </p:sp>
      <p:grpSp>
        <p:nvGrpSpPr>
          <p:cNvPr id="27" name="组合 29">
            <a:extLst>
              <a:ext uri="{FF2B5EF4-FFF2-40B4-BE49-F238E27FC236}">
                <a16:creationId xmlns:a16="http://schemas.microsoft.com/office/drawing/2014/main" id="{1EE97A2C-91B0-2B03-1E0F-9406C1136CBA}"/>
              </a:ext>
            </a:extLst>
          </p:cNvPr>
          <p:cNvGrpSpPr>
            <a:grpSpLocks/>
          </p:cNvGrpSpPr>
          <p:nvPr/>
        </p:nvGrpSpPr>
        <p:grpSpPr bwMode="auto">
          <a:xfrm>
            <a:off x="4911000" y="1063500"/>
            <a:ext cx="3140949" cy="369352"/>
            <a:chOff x="3333" y="2314"/>
            <a:chExt cx="5872" cy="816"/>
          </a:xfrm>
        </p:grpSpPr>
        <p:sp>
          <p:nvSpPr>
            <p:cNvPr id="28" name="文本框 31">
              <a:extLst>
                <a:ext uri="{FF2B5EF4-FFF2-40B4-BE49-F238E27FC236}">
                  <a16:creationId xmlns:a16="http://schemas.microsoft.com/office/drawing/2014/main" id="{54D9A9E8-7C72-9EDA-A29C-3B835BA8C027}"/>
                </a:ext>
              </a:extLst>
            </p:cNvPr>
            <p:cNvSpPr txBox="1"/>
            <p:nvPr/>
          </p:nvSpPr>
          <p:spPr>
            <a:xfrm>
              <a:off x="4001" y="2314"/>
              <a:ext cx="5204" cy="816"/>
            </a:xfrm>
            <a:prstGeom prst="rect">
              <a:avLst/>
            </a:prstGeom>
            <a:noFill/>
            <a:ln>
              <a:noFill/>
            </a:ln>
          </p:spPr>
          <p:txBody>
            <a:bodyPr wrap="square">
              <a:spAutoFit/>
            </a:bodyPr>
            <a:lstStyle/>
            <a:p>
              <a:pPr>
                <a:defRPr/>
              </a:pPr>
              <a:r>
                <a:rPr lang="en-US" altLang="zh-CN" sz="1800" noProof="1">
                  <a:solidFill>
                    <a:schemeClr val="tx1"/>
                  </a:solidFill>
                  <a:latin typeface="+mj-lt"/>
                  <a:ea typeface="幼圆" panose="02010509060101010101" pitchFamily="49" charset="-122"/>
                </a:rPr>
                <a:t>Introduction</a:t>
              </a:r>
            </a:p>
          </p:txBody>
        </p:sp>
        <p:sp>
          <p:nvSpPr>
            <p:cNvPr id="29" name="椭圆 32">
              <a:extLst>
                <a:ext uri="{FF2B5EF4-FFF2-40B4-BE49-F238E27FC236}">
                  <a16:creationId xmlns:a16="http://schemas.microsoft.com/office/drawing/2014/main" id="{A06C4B31-2081-9480-869A-D97BC9CF2A0D}"/>
                </a:ext>
              </a:extLst>
            </p:cNvPr>
            <p:cNvSpPr/>
            <p:nvPr/>
          </p:nvSpPr>
          <p:spPr>
            <a:xfrm>
              <a:off x="3346" y="2494"/>
              <a:ext cx="485" cy="48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50" noProof="1">
                <a:solidFill>
                  <a:schemeClr val="tx1"/>
                </a:solidFill>
                <a:latin typeface="+mj-lt"/>
                <a:ea typeface="幼圆" panose="02010509060101010101" pitchFamily="49" charset="-122"/>
              </a:endParaRPr>
            </a:p>
          </p:txBody>
        </p:sp>
        <p:sp>
          <p:nvSpPr>
            <p:cNvPr id="30" name="文本框 23">
              <a:extLst>
                <a:ext uri="{FF2B5EF4-FFF2-40B4-BE49-F238E27FC236}">
                  <a16:creationId xmlns:a16="http://schemas.microsoft.com/office/drawing/2014/main" id="{3D26EF69-2438-A21E-4083-28453D3744D2}"/>
                </a:ext>
              </a:extLst>
            </p:cNvPr>
            <p:cNvSpPr txBox="1">
              <a:spLocks noChangeArrowheads="1"/>
            </p:cNvSpPr>
            <p:nvPr/>
          </p:nvSpPr>
          <p:spPr bwMode="auto">
            <a:xfrm>
              <a:off x="3333" y="2433"/>
              <a:ext cx="410" cy="578"/>
            </a:xfrm>
            <a:prstGeom prst="rect">
              <a:avLst/>
            </a:prstGeom>
            <a:noFill/>
            <a:ln w="9525">
              <a:noFill/>
              <a:miter lim="800000"/>
              <a:headEnd/>
              <a:tailEnd/>
            </a:ln>
          </p:spPr>
          <p:txBody>
            <a:bodyPr>
              <a:spAutoFit/>
            </a:bodyPr>
            <a:lstStyle/>
            <a:p>
              <a:r>
                <a:rPr lang="en-US" altLang="zh-CN" sz="1050" dirty="0">
                  <a:solidFill>
                    <a:schemeClr val="bg1"/>
                  </a:solidFill>
                  <a:latin typeface="+mj-lt"/>
                  <a:ea typeface="幼圆" panose="02010509060101010101" pitchFamily="49" charset="-122"/>
                </a:rPr>
                <a:t>1</a:t>
              </a:r>
            </a:p>
          </p:txBody>
        </p:sp>
      </p:grpSp>
      <p:grpSp>
        <p:nvGrpSpPr>
          <p:cNvPr id="31" name="组合 34">
            <a:extLst>
              <a:ext uri="{FF2B5EF4-FFF2-40B4-BE49-F238E27FC236}">
                <a16:creationId xmlns:a16="http://schemas.microsoft.com/office/drawing/2014/main" id="{041139B4-051C-C08A-FCB7-FDC0AAF5D84C}"/>
              </a:ext>
            </a:extLst>
          </p:cNvPr>
          <p:cNvGrpSpPr>
            <a:grpSpLocks/>
          </p:cNvGrpSpPr>
          <p:nvPr/>
        </p:nvGrpSpPr>
        <p:grpSpPr bwMode="auto">
          <a:xfrm>
            <a:off x="4911000" y="1453307"/>
            <a:ext cx="4246621" cy="369333"/>
            <a:chOff x="3333" y="2396"/>
            <a:chExt cx="7938" cy="821"/>
          </a:xfrm>
        </p:grpSpPr>
        <p:sp>
          <p:nvSpPr>
            <p:cNvPr id="32" name="文本框 36">
              <a:extLst>
                <a:ext uri="{FF2B5EF4-FFF2-40B4-BE49-F238E27FC236}">
                  <a16:creationId xmlns:a16="http://schemas.microsoft.com/office/drawing/2014/main" id="{31C0F846-DCC5-9741-2847-E90344E5531B}"/>
                </a:ext>
              </a:extLst>
            </p:cNvPr>
            <p:cNvSpPr txBox="1"/>
            <p:nvPr/>
          </p:nvSpPr>
          <p:spPr>
            <a:xfrm>
              <a:off x="4000" y="2396"/>
              <a:ext cx="7271" cy="821"/>
            </a:xfrm>
            <a:prstGeom prst="rect">
              <a:avLst/>
            </a:prstGeom>
            <a:noFill/>
            <a:ln>
              <a:noFill/>
            </a:ln>
          </p:spPr>
          <p:txBody>
            <a:bodyPr wrap="square">
              <a:spAutoFit/>
            </a:bodyPr>
            <a:lstStyle/>
            <a:p>
              <a:pPr>
                <a:defRPr/>
              </a:pPr>
              <a:r>
                <a:rPr lang="en-US" altLang="zh-CN" sz="1800" noProof="1">
                  <a:solidFill>
                    <a:schemeClr val="tx1"/>
                  </a:solidFill>
                  <a:latin typeface="+mj-lt"/>
                  <a:ea typeface="幼圆" panose="02010509060101010101" pitchFamily="49" charset="-122"/>
                </a:rPr>
                <a:t>Block Diagram</a:t>
              </a:r>
            </a:p>
          </p:txBody>
        </p:sp>
        <p:sp>
          <p:nvSpPr>
            <p:cNvPr id="33" name="椭圆 37">
              <a:extLst>
                <a:ext uri="{FF2B5EF4-FFF2-40B4-BE49-F238E27FC236}">
                  <a16:creationId xmlns:a16="http://schemas.microsoft.com/office/drawing/2014/main" id="{4B7BC74A-B4A4-8FAD-8F89-E8C651845049}"/>
                </a:ext>
              </a:extLst>
            </p:cNvPr>
            <p:cNvSpPr/>
            <p:nvPr/>
          </p:nvSpPr>
          <p:spPr>
            <a:xfrm>
              <a:off x="3345" y="2497"/>
              <a:ext cx="485" cy="48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50" noProof="1">
                <a:solidFill>
                  <a:schemeClr val="tx1"/>
                </a:solidFill>
                <a:latin typeface="+mj-lt"/>
                <a:ea typeface="幼圆" panose="02010509060101010101" pitchFamily="49" charset="-122"/>
              </a:endParaRPr>
            </a:p>
          </p:txBody>
        </p:sp>
        <p:sp>
          <p:nvSpPr>
            <p:cNvPr id="34" name="文本框 29">
              <a:extLst>
                <a:ext uri="{FF2B5EF4-FFF2-40B4-BE49-F238E27FC236}">
                  <a16:creationId xmlns:a16="http://schemas.microsoft.com/office/drawing/2014/main" id="{D1524488-4934-3078-31E6-D3110ADF2050}"/>
                </a:ext>
              </a:extLst>
            </p:cNvPr>
            <p:cNvSpPr txBox="1">
              <a:spLocks noChangeArrowheads="1"/>
            </p:cNvSpPr>
            <p:nvPr/>
          </p:nvSpPr>
          <p:spPr bwMode="auto">
            <a:xfrm>
              <a:off x="3333" y="2433"/>
              <a:ext cx="410" cy="582"/>
            </a:xfrm>
            <a:prstGeom prst="rect">
              <a:avLst/>
            </a:prstGeom>
            <a:noFill/>
            <a:ln w="9525">
              <a:noFill/>
              <a:miter lim="800000"/>
              <a:headEnd/>
              <a:tailEnd/>
            </a:ln>
          </p:spPr>
          <p:txBody>
            <a:bodyPr>
              <a:spAutoFit/>
            </a:bodyPr>
            <a:lstStyle/>
            <a:p>
              <a:r>
                <a:rPr lang="en-US" altLang="zh-CN" sz="1050" dirty="0">
                  <a:solidFill>
                    <a:schemeClr val="bg1"/>
                  </a:solidFill>
                  <a:latin typeface="+mj-lt"/>
                  <a:ea typeface="幼圆" panose="02010509060101010101" pitchFamily="49" charset="-122"/>
                </a:rPr>
                <a:t>2</a:t>
              </a:r>
            </a:p>
          </p:txBody>
        </p:sp>
      </p:grpSp>
      <p:grpSp>
        <p:nvGrpSpPr>
          <p:cNvPr id="35" name="组合 39">
            <a:extLst>
              <a:ext uri="{FF2B5EF4-FFF2-40B4-BE49-F238E27FC236}">
                <a16:creationId xmlns:a16="http://schemas.microsoft.com/office/drawing/2014/main" id="{D87FFEB5-932C-03B2-6A4E-FC71B9D15515}"/>
              </a:ext>
            </a:extLst>
          </p:cNvPr>
          <p:cNvGrpSpPr>
            <a:grpSpLocks/>
          </p:cNvGrpSpPr>
          <p:nvPr/>
        </p:nvGrpSpPr>
        <p:grpSpPr bwMode="auto">
          <a:xfrm>
            <a:off x="4917420" y="1785700"/>
            <a:ext cx="3858231" cy="369199"/>
            <a:chOff x="3317" y="2368"/>
            <a:chExt cx="7212" cy="817"/>
          </a:xfrm>
        </p:grpSpPr>
        <p:sp>
          <p:nvSpPr>
            <p:cNvPr id="36" name="文本框 41">
              <a:extLst>
                <a:ext uri="{FF2B5EF4-FFF2-40B4-BE49-F238E27FC236}">
                  <a16:creationId xmlns:a16="http://schemas.microsoft.com/office/drawing/2014/main" id="{A63855D7-D71E-24CE-CA52-1BB7027FFFBA}"/>
                </a:ext>
              </a:extLst>
            </p:cNvPr>
            <p:cNvSpPr txBox="1"/>
            <p:nvPr/>
          </p:nvSpPr>
          <p:spPr>
            <a:xfrm>
              <a:off x="4000" y="2368"/>
              <a:ext cx="6529" cy="817"/>
            </a:xfrm>
            <a:prstGeom prst="rect">
              <a:avLst/>
            </a:prstGeom>
            <a:noFill/>
            <a:ln>
              <a:noFill/>
            </a:ln>
          </p:spPr>
          <p:txBody>
            <a:bodyPr wrap="square">
              <a:spAutoFit/>
            </a:bodyPr>
            <a:lstStyle/>
            <a:p>
              <a:pPr lvl="0"/>
              <a:r>
                <a:rPr lang="en-US" sz="1800" dirty="0"/>
                <a:t>Function Table</a:t>
              </a:r>
              <a:endParaRPr lang="zh-CN" altLang="en-US" sz="1800" dirty="0">
                <a:solidFill>
                  <a:schemeClr val="tx1"/>
                </a:solidFill>
                <a:ea typeface="幼圆" panose="02010509060101010101" pitchFamily="49" charset="-122"/>
                <a:sym typeface="Arial" panose="020B0604020202020204" pitchFamily="34" charset="0"/>
              </a:endParaRPr>
            </a:p>
          </p:txBody>
        </p:sp>
        <p:sp>
          <p:nvSpPr>
            <p:cNvPr id="37" name="椭圆 42">
              <a:extLst>
                <a:ext uri="{FF2B5EF4-FFF2-40B4-BE49-F238E27FC236}">
                  <a16:creationId xmlns:a16="http://schemas.microsoft.com/office/drawing/2014/main" id="{5148D195-D175-F898-65EF-86121AA41901}"/>
                </a:ext>
              </a:extLst>
            </p:cNvPr>
            <p:cNvSpPr/>
            <p:nvPr/>
          </p:nvSpPr>
          <p:spPr>
            <a:xfrm>
              <a:off x="3345" y="2494"/>
              <a:ext cx="485" cy="48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50" noProof="1">
                <a:solidFill>
                  <a:schemeClr val="tx1"/>
                </a:solidFill>
                <a:latin typeface="+mj-lt"/>
                <a:ea typeface="幼圆" panose="02010509060101010101" pitchFamily="49" charset="-122"/>
              </a:endParaRPr>
            </a:p>
          </p:txBody>
        </p:sp>
        <p:sp>
          <p:nvSpPr>
            <p:cNvPr id="38" name="文本框 34">
              <a:extLst>
                <a:ext uri="{FF2B5EF4-FFF2-40B4-BE49-F238E27FC236}">
                  <a16:creationId xmlns:a16="http://schemas.microsoft.com/office/drawing/2014/main" id="{19468EF1-B80A-FFBB-7DF7-896577C7131A}"/>
                </a:ext>
              </a:extLst>
            </p:cNvPr>
            <p:cNvSpPr txBox="1">
              <a:spLocks noChangeArrowheads="1"/>
            </p:cNvSpPr>
            <p:nvPr/>
          </p:nvSpPr>
          <p:spPr bwMode="auto">
            <a:xfrm>
              <a:off x="3317" y="2433"/>
              <a:ext cx="410" cy="579"/>
            </a:xfrm>
            <a:prstGeom prst="rect">
              <a:avLst/>
            </a:prstGeom>
            <a:noFill/>
            <a:ln w="9525">
              <a:noFill/>
              <a:miter lim="800000"/>
              <a:headEnd/>
              <a:tailEnd/>
            </a:ln>
          </p:spPr>
          <p:txBody>
            <a:bodyPr>
              <a:spAutoFit/>
            </a:bodyPr>
            <a:lstStyle/>
            <a:p>
              <a:r>
                <a:rPr lang="en-US" altLang="zh-CN" sz="1050" dirty="0">
                  <a:solidFill>
                    <a:schemeClr val="bg1"/>
                  </a:solidFill>
                  <a:latin typeface="+mj-lt"/>
                  <a:ea typeface="幼圆" panose="02010509060101010101" pitchFamily="49" charset="-122"/>
                </a:rPr>
                <a:t>3</a:t>
              </a:r>
            </a:p>
          </p:txBody>
        </p:sp>
      </p:grpSp>
      <p:grpSp>
        <p:nvGrpSpPr>
          <p:cNvPr id="39" name="组合 44">
            <a:extLst>
              <a:ext uri="{FF2B5EF4-FFF2-40B4-BE49-F238E27FC236}">
                <a16:creationId xmlns:a16="http://schemas.microsoft.com/office/drawing/2014/main" id="{6D9F8F3A-AFA7-72B8-2575-F0D969711C33}"/>
              </a:ext>
            </a:extLst>
          </p:cNvPr>
          <p:cNvGrpSpPr>
            <a:grpSpLocks/>
          </p:cNvGrpSpPr>
          <p:nvPr/>
        </p:nvGrpSpPr>
        <p:grpSpPr bwMode="auto">
          <a:xfrm>
            <a:off x="4917420" y="2142935"/>
            <a:ext cx="4133718" cy="369266"/>
            <a:chOff x="3317" y="2176"/>
            <a:chExt cx="7729" cy="819"/>
          </a:xfrm>
        </p:grpSpPr>
        <p:sp>
          <p:nvSpPr>
            <p:cNvPr id="40" name="文本框 46">
              <a:extLst>
                <a:ext uri="{FF2B5EF4-FFF2-40B4-BE49-F238E27FC236}">
                  <a16:creationId xmlns:a16="http://schemas.microsoft.com/office/drawing/2014/main" id="{095FF000-0B3F-95E9-1D57-C2873FC9ED60}"/>
                </a:ext>
              </a:extLst>
            </p:cNvPr>
            <p:cNvSpPr txBox="1"/>
            <p:nvPr/>
          </p:nvSpPr>
          <p:spPr>
            <a:xfrm>
              <a:off x="4001" y="2176"/>
              <a:ext cx="7045" cy="819"/>
            </a:xfrm>
            <a:prstGeom prst="rect">
              <a:avLst/>
            </a:prstGeom>
            <a:noFill/>
            <a:ln>
              <a:noFill/>
            </a:ln>
          </p:spPr>
          <p:txBody>
            <a:bodyPr wrap="square">
              <a:spAutoFit/>
            </a:bodyPr>
            <a:lstStyle/>
            <a:p>
              <a:pPr>
                <a:defRPr/>
              </a:pPr>
              <a:r>
                <a:rPr lang="en-US" sz="1800" dirty="0"/>
                <a:t>Motor Speed</a:t>
              </a:r>
              <a:endParaRPr lang="en-US" altLang="zh-CN" sz="1800" noProof="1">
                <a:solidFill>
                  <a:schemeClr val="tx1"/>
                </a:solidFill>
                <a:ea typeface="幼圆" panose="02010509060101010101" pitchFamily="49" charset="-122"/>
              </a:endParaRPr>
            </a:p>
          </p:txBody>
        </p:sp>
        <p:sp>
          <p:nvSpPr>
            <p:cNvPr id="41" name="椭圆 47">
              <a:extLst>
                <a:ext uri="{FF2B5EF4-FFF2-40B4-BE49-F238E27FC236}">
                  <a16:creationId xmlns:a16="http://schemas.microsoft.com/office/drawing/2014/main" id="{A3C14EE7-1669-67BF-3C0F-55CA1F1D41BB}"/>
                </a:ext>
              </a:extLst>
            </p:cNvPr>
            <p:cNvSpPr/>
            <p:nvPr/>
          </p:nvSpPr>
          <p:spPr>
            <a:xfrm>
              <a:off x="3344" y="2319"/>
              <a:ext cx="485" cy="48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50" noProof="1">
                <a:solidFill>
                  <a:schemeClr val="tx1"/>
                </a:solidFill>
                <a:latin typeface="+mj-lt"/>
                <a:ea typeface="幼圆" panose="02010509060101010101" pitchFamily="49" charset="-122"/>
              </a:endParaRPr>
            </a:p>
          </p:txBody>
        </p:sp>
        <p:sp>
          <p:nvSpPr>
            <p:cNvPr id="42" name="文本框 39">
              <a:extLst>
                <a:ext uri="{FF2B5EF4-FFF2-40B4-BE49-F238E27FC236}">
                  <a16:creationId xmlns:a16="http://schemas.microsoft.com/office/drawing/2014/main" id="{0F3FC91F-6710-25D4-2FE6-E4D25D3D52B0}"/>
                </a:ext>
              </a:extLst>
            </p:cNvPr>
            <p:cNvSpPr txBox="1">
              <a:spLocks noChangeArrowheads="1"/>
            </p:cNvSpPr>
            <p:nvPr/>
          </p:nvSpPr>
          <p:spPr bwMode="auto">
            <a:xfrm>
              <a:off x="3317" y="2257"/>
              <a:ext cx="410" cy="580"/>
            </a:xfrm>
            <a:prstGeom prst="rect">
              <a:avLst/>
            </a:prstGeom>
            <a:noFill/>
            <a:ln w="9525">
              <a:noFill/>
              <a:miter lim="800000"/>
              <a:headEnd/>
              <a:tailEnd/>
            </a:ln>
          </p:spPr>
          <p:txBody>
            <a:bodyPr>
              <a:spAutoFit/>
            </a:bodyPr>
            <a:lstStyle/>
            <a:p>
              <a:r>
                <a:rPr lang="en-US" altLang="zh-CN" sz="1050" dirty="0">
                  <a:solidFill>
                    <a:schemeClr val="bg1"/>
                  </a:solidFill>
                  <a:latin typeface="+mj-lt"/>
                  <a:ea typeface="幼圆" panose="02010509060101010101" pitchFamily="49" charset="-122"/>
                </a:rPr>
                <a:t>4</a:t>
              </a:r>
            </a:p>
          </p:txBody>
        </p:sp>
      </p:grpSp>
      <p:sp>
        <p:nvSpPr>
          <p:cNvPr id="43" name="任意多边形: 形状 19">
            <a:extLst>
              <a:ext uri="{FF2B5EF4-FFF2-40B4-BE49-F238E27FC236}">
                <a16:creationId xmlns:a16="http://schemas.microsoft.com/office/drawing/2014/main" id="{6C281699-DD9E-4078-3189-CE4E0C432D6E}"/>
              </a:ext>
            </a:extLst>
          </p:cNvPr>
          <p:cNvSpPr/>
          <p:nvPr/>
        </p:nvSpPr>
        <p:spPr>
          <a:xfrm>
            <a:off x="0" y="4095545"/>
            <a:ext cx="9157547" cy="559929"/>
          </a:xfrm>
          <a:custGeom>
            <a:avLst/>
            <a:gdLst>
              <a:gd name="connsiteX0" fmla="*/ 0 w 12877800"/>
              <a:gd name="connsiteY0" fmla="*/ 0 h 787400"/>
              <a:gd name="connsiteX1" fmla="*/ 5130800 w 12877800"/>
              <a:gd name="connsiteY1" fmla="*/ 0 h 787400"/>
              <a:gd name="connsiteX2" fmla="*/ 5918200 w 12877800"/>
              <a:gd name="connsiteY2" fmla="*/ 787400 h 787400"/>
              <a:gd name="connsiteX3" fmla="*/ 12877800 w 12877800"/>
              <a:gd name="connsiteY3" fmla="*/ 787400 h 787400"/>
            </a:gdLst>
            <a:ahLst/>
            <a:cxnLst>
              <a:cxn ang="0">
                <a:pos x="connsiteX0" y="connsiteY0"/>
              </a:cxn>
              <a:cxn ang="0">
                <a:pos x="connsiteX1" y="connsiteY1"/>
              </a:cxn>
              <a:cxn ang="0">
                <a:pos x="connsiteX2" y="connsiteY2"/>
              </a:cxn>
              <a:cxn ang="0">
                <a:pos x="connsiteX3" y="connsiteY3"/>
              </a:cxn>
            </a:cxnLst>
            <a:rect l="l" t="t" r="r" b="b"/>
            <a:pathLst>
              <a:path w="12877800" h="787400">
                <a:moveTo>
                  <a:pt x="0" y="0"/>
                </a:moveTo>
                <a:lnTo>
                  <a:pt x="5130800" y="0"/>
                </a:lnTo>
                <a:lnTo>
                  <a:pt x="5918200" y="787400"/>
                </a:lnTo>
                <a:lnTo>
                  <a:pt x="12877800" y="787400"/>
                </a:ln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96">
              <a:solidFill>
                <a:schemeClr val="tx1"/>
              </a:solidFill>
              <a:latin typeface="+mj-lt"/>
            </a:endParaRPr>
          </a:p>
        </p:txBody>
      </p:sp>
      <p:grpSp>
        <p:nvGrpSpPr>
          <p:cNvPr id="44" name="组合 39">
            <a:extLst>
              <a:ext uri="{FF2B5EF4-FFF2-40B4-BE49-F238E27FC236}">
                <a16:creationId xmlns:a16="http://schemas.microsoft.com/office/drawing/2014/main" id="{42661CCA-C637-B63A-9702-B158F6A51587}"/>
              </a:ext>
            </a:extLst>
          </p:cNvPr>
          <p:cNvGrpSpPr>
            <a:grpSpLocks/>
          </p:cNvGrpSpPr>
          <p:nvPr/>
        </p:nvGrpSpPr>
        <p:grpSpPr bwMode="auto">
          <a:xfrm>
            <a:off x="4917420" y="4221422"/>
            <a:ext cx="3175072" cy="369200"/>
            <a:chOff x="3271" y="2329"/>
            <a:chExt cx="5935" cy="817"/>
          </a:xfrm>
        </p:grpSpPr>
        <p:sp>
          <p:nvSpPr>
            <p:cNvPr id="45" name="文本框 41">
              <a:extLst>
                <a:ext uri="{FF2B5EF4-FFF2-40B4-BE49-F238E27FC236}">
                  <a16:creationId xmlns:a16="http://schemas.microsoft.com/office/drawing/2014/main" id="{27A1C087-3AAE-EF78-DDE9-51AC0747B831}"/>
                </a:ext>
              </a:extLst>
            </p:cNvPr>
            <p:cNvSpPr txBox="1"/>
            <p:nvPr/>
          </p:nvSpPr>
          <p:spPr>
            <a:xfrm>
              <a:off x="4003" y="2329"/>
              <a:ext cx="5203" cy="817"/>
            </a:xfrm>
            <a:prstGeom prst="rect">
              <a:avLst/>
            </a:prstGeom>
            <a:noFill/>
            <a:ln>
              <a:noFill/>
            </a:ln>
          </p:spPr>
          <p:txBody>
            <a:bodyPr>
              <a:spAutoFit/>
            </a:bodyPr>
            <a:lstStyle/>
            <a:p>
              <a:r>
                <a:rPr lang="en-US" altLang="zh-CN" sz="1800" dirty="0">
                  <a:solidFill>
                    <a:schemeClr val="tx1"/>
                  </a:solidFill>
                  <a:latin typeface="+mj-lt"/>
                  <a:ea typeface="幼圆" panose="02010509060101010101" pitchFamily="49" charset="-122"/>
                  <a:sym typeface="Arial" panose="020B0604020202020204" pitchFamily="34" charset="0"/>
                </a:rPr>
                <a:t>Conclusion</a:t>
              </a:r>
              <a:endParaRPr lang="zh-CN" altLang="en-US" sz="1800" dirty="0">
                <a:solidFill>
                  <a:schemeClr val="tx1"/>
                </a:solidFill>
                <a:latin typeface="+mj-lt"/>
                <a:ea typeface="幼圆" panose="02010509060101010101" pitchFamily="49" charset="-122"/>
                <a:sym typeface="Arial" panose="020B0604020202020204" pitchFamily="34" charset="0"/>
              </a:endParaRPr>
            </a:p>
          </p:txBody>
        </p:sp>
        <p:sp>
          <p:nvSpPr>
            <p:cNvPr id="46" name="椭圆 42">
              <a:extLst>
                <a:ext uri="{FF2B5EF4-FFF2-40B4-BE49-F238E27FC236}">
                  <a16:creationId xmlns:a16="http://schemas.microsoft.com/office/drawing/2014/main" id="{094A4214-6672-44B3-57C9-6FFCF6469816}"/>
                </a:ext>
              </a:extLst>
            </p:cNvPr>
            <p:cNvSpPr/>
            <p:nvPr/>
          </p:nvSpPr>
          <p:spPr>
            <a:xfrm>
              <a:off x="3345" y="2494"/>
              <a:ext cx="485" cy="48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50" noProof="1">
                <a:solidFill>
                  <a:schemeClr val="tx1"/>
                </a:solidFill>
                <a:latin typeface="+mj-lt"/>
                <a:ea typeface="幼圆" panose="02010509060101010101" pitchFamily="49" charset="-122"/>
              </a:endParaRPr>
            </a:p>
          </p:txBody>
        </p:sp>
        <p:sp>
          <p:nvSpPr>
            <p:cNvPr id="47" name="文本框 34">
              <a:extLst>
                <a:ext uri="{FF2B5EF4-FFF2-40B4-BE49-F238E27FC236}">
                  <a16:creationId xmlns:a16="http://schemas.microsoft.com/office/drawing/2014/main" id="{D1C9B4BD-4115-9825-7F2C-3370251E5B1C}"/>
                </a:ext>
              </a:extLst>
            </p:cNvPr>
            <p:cNvSpPr txBox="1">
              <a:spLocks noChangeArrowheads="1"/>
            </p:cNvSpPr>
            <p:nvPr/>
          </p:nvSpPr>
          <p:spPr bwMode="auto">
            <a:xfrm>
              <a:off x="3271" y="2465"/>
              <a:ext cx="669" cy="545"/>
            </a:xfrm>
            <a:prstGeom prst="rect">
              <a:avLst/>
            </a:prstGeom>
            <a:noFill/>
            <a:ln w="9525">
              <a:noFill/>
              <a:miter lim="800000"/>
              <a:headEnd/>
              <a:tailEnd/>
            </a:ln>
          </p:spPr>
          <p:txBody>
            <a:bodyPr wrap="square">
              <a:spAutoFit/>
            </a:bodyPr>
            <a:lstStyle/>
            <a:p>
              <a:r>
                <a:rPr lang="en-US" altLang="zh-CN" sz="1000" dirty="0">
                  <a:solidFill>
                    <a:schemeClr val="bg1"/>
                  </a:solidFill>
                  <a:latin typeface="+mj-lt"/>
                  <a:ea typeface="幼圆" panose="02010509060101010101" pitchFamily="49" charset="-122"/>
                </a:rPr>
                <a:t>10</a:t>
              </a:r>
            </a:p>
          </p:txBody>
        </p:sp>
      </p:grpSp>
      <p:grpSp>
        <p:nvGrpSpPr>
          <p:cNvPr id="48" name="组合 29">
            <a:extLst>
              <a:ext uri="{FF2B5EF4-FFF2-40B4-BE49-F238E27FC236}">
                <a16:creationId xmlns:a16="http://schemas.microsoft.com/office/drawing/2014/main" id="{B6211961-27B0-FFC5-7B5F-2247A19689AF}"/>
              </a:ext>
            </a:extLst>
          </p:cNvPr>
          <p:cNvGrpSpPr>
            <a:grpSpLocks/>
          </p:cNvGrpSpPr>
          <p:nvPr/>
        </p:nvGrpSpPr>
        <p:grpSpPr bwMode="auto">
          <a:xfrm>
            <a:off x="4917420" y="2469411"/>
            <a:ext cx="3140414" cy="369351"/>
            <a:chOff x="3333" y="2400"/>
            <a:chExt cx="5871" cy="816"/>
          </a:xfrm>
        </p:grpSpPr>
        <p:sp>
          <p:nvSpPr>
            <p:cNvPr id="49" name="文本框 31">
              <a:extLst>
                <a:ext uri="{FF2B5EF4-FFF2-40B4-BE49-F238E27FC236}">
                  <a16:creationId xmlns:a16="http://schemas.microsoft.com/office/drawing/2014/main" id="{CA15EBFB-5C6D-E6AB-7A47-30649D7DC9C0}"/>
                </a:ext>
              </a:extLst>
            </p:cNvPr>
            <p:cNvSpPr txBox="1"/>
            <p:nvPr/>
          </p:nvSpPr>
          <p:spPr>
            <a:xfrm>
              <a:off x="4000" y="2400"/>
              <a:ext cx="5204" cy="816"/>
            </a:xfrm>
            <a:prstGeom prst="rect">
              <a:avLst/>
            </a:prstGeom>
            <a:noFill/>
            <a:ln>
              <a:noFill/>
            </a:ln>
          </p:spPr>
          <p:txBody>
            <a:bodyPr>
              <a:spAutoFit/>
            </a:bodyPr>
            <a:lstStyle/>
            <a:p>
              <a:pPr>
                <a:defRPr/>
              </a:pPr>
              <a:r>
                <a:rPr lang="en-US" sz="1800" dirty="0"/>
                <a:t>Turning Angle</a:t>
              </a:r>
              <a:endParaRPr lang="en-US" altLang="zh-CN" sz="1800" noProof="1">
                <a:solidFill>
                  <a:schemeClr val="tx1"/>
                </a:solidFill>
                <a:ea typeface="幼圆" panose="02010509060101010101" pitchFamily="49" charset="-122"/>
              </a:endParaRPr>
            </a:p>
          </p:txBody>
        </p:sp>
        <p:sp>
          <p:nvSpPr>
            <p:cNvPr id="50" name="椭圆 32">
              <a:extLst>
                <a:ext uri="{FF2B5EF4-FFF2-40B4-BE49-F238E27FC236}">
                  <a16:creationId xmlns:a16="http://schemas.microsoft.com/office/drawing/2014/main" id="{F806AE1A-4ED0-F3CA-A184-565C588C1B66}"/>
                </a:ext>
              </a:extLst>
            </p:cNvPr>
            <p:cNvSpPr/>
            <p:nvPr/>
          </p:nvSpPr>
          <p:spPr>
            <a:xfrm>
              <a:off x="3346" y="2494"/>
              <a:ext cx="485" cy="48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50" noProof="1">
                <a:solidFill>
                  <a:schemeClr val="tx1"/>
                </a:solidFill>
                <a:latin typeface="+mj-lt"/>
                <a:ea typeface="幼圆" panose="02010509060101010101" pitchFamily="49" charset="-122"/>
              </a:endParaRPr>
            </a:p>
          </p:txBody>
        </p:sp>
        <p:sp>
          <p:nvSpPr>
            <p:cNvPr id="51" name="文本框 23">
              <a:extLst>
                <a:ext uri="{FF2B5EF4-FFF2-40B4-BE49-F238E27FC236}">
                  <a16:creationId xmlns:a16="http://schemas.microsoft.com/office/drawing/2014/main" id="{6CAE0286-7F6A-64BB-18E7-946F343E025E}"/>
                </a:ext>
              </a:extLst>
            </p:cNvPr>
            <p:cNvSpPr txBox="1">
              <a:spLocks noChangeArrowheads="1"/>
            </p:cNvSpPr>
            <p:nvPr/>
          </p:nvSpPr>
          <p:spPr bwMode="auto">
            <a:xfrm>
              <a:off x="3333" y="2433"/>
              <a:ext cx="410" cy="578"/>
            </a:xfrm>
            <a:prstGeom prst="rect">
              <a:avLst/>
            </a:prstGeom>
            <a:noFill/>
            <a:ln w="9525">
              <a:noFill/>
              <a:miter lim="800000"/>
              <a:headEnd/>
              <a:tailEnd/>
            </a:ln>
          </p:spPr>
          <p:txBody>
            <a:bodyPr>
              <a:spAutoFit/>
            </a:bodyPr>
            <a:lstStyle/>
            <a:p>
              <a:r>
                <a:rPr lang="en-US" altLang="zh-CN" sz="1050" dirty="0">
                  <a:solidFill>
                    <a:schemeClr val="bg1"/>
                  </a:solidFill>
                  <a:latin typeface="+mj-lt"/>
                  <a:ea typeface="幼圆" panose="02010509060101010101" pitchFamily="49" charset="-122"/>
                </a:rPr>
                <a:t>5</a:t>
              </a:r>
            </a:p>
          </p:txBody>
        </p:sp>
      </p:grpSp>
      <p:grpSp>
        <p:nvGrpSpPr>
          <p:cNvPr id="52" name="组合 34">
            <a:extLst>
              <a:ext uri="{FF2B5EF4-FFF2-40B4-BE49-F238E27FC236}">
                <a16:creationId xmlns:a16="http://schemas.microsoft.com/office/drawing/2014/main" id="{899AEA7A-D11D-D34F-CD9E-C0E2FF85DA82}"/>
              </a:ext>
            </a:extLst>
          </p:cNvPr>
          <p:cNvGrpSpPr>
            <a:grpSpLocks/>
          </p:cNvGrpSpPr>
          <p:nvPr/>
        </p:nvGrpSpPr>
        <p:grpSpPr bwMode="auto">
          <a:xfrm>
            <a:off x="4917420" y="2820291"/>
            <a:ext cx="3661360" cy="369332"/>
            <a:chOff x="3333" y="2396"/>
            <a:chExt cx="6844" cy="821"/>
          </a:xfrm>
        </p:grpSpPr>
        <p:sp>
          <p:nvSpPr>
            <p:cNvPr id="53" name="文本框 36">
              <a:extLst>
                <a:ext uri="{FF2B5EF4-FFF2-40B4-BE49-F238E27FC236}">
                  <a16:creationId xmlns:a16="http://schemas.microsoft.com/office/drawing/2014/main" id="{3881BA84-8E36-77C3-7834-09DB9095DE8C}"/>
                </a:ext>
              </a:extLst>
            </p:cNvPr>
            <p:cNvSpPr txBox="1"/>
            <p:nvPr/>
          </p:nvSpPr>
          <p:spPr>
            <a:xfrm>
              <a:off x="4000" y="2396"/>
              <a:ext cx="6177" cy="821"/>
            </a:xfrm>
            <a:prstGeom prst="rect">
              <a:avLst/>
            </a:prstGeom>
            <a:noFill/>
            <a:ln>
              <a:noFill/>
            </a:ln>
          </p:spPr>
          <p:txBody>
            <a:bodyPr wrap="square">
              <a:spAutoFit/>
            </a:bodyPr>
            <a:lstStyle/>
            <a:p>
              <a:pPr lvl="0">
                <a:defRPr/>
              </a:pPr>
              <a:r>
                <a:rPr lang="en-US" sz="1800" dirty="0"/>
                <a:t>Sensor Compare</a:t>
              </a:r>
              <a:endParaRPr lang="en-US" altLang="zh-CN" sz="1800" noProof="1">
                <a:solidFill>
                  <a:schemeClr val="tx1"/>
                </a:solidFill>
                <a:ea typeface="幼圆" panose="02010509060101010101" pitchFamily="49" charset="-122"/>
              </a:endParaRPr>
            </a:p>
          </p:txBody>
        </p:sp>
        <p:sp>
          <p:nvSpPr>
            <p:cNvPr id="54" name="椭圆 37">
              <a:extLst>
                <a:ext uri="{FF2B5EF4-FFF2-40B4-BE49-F238E27FC236}">
                  <a16:creationId xmlns:a16="http://schemas.microsoft.com/office/drawing/2014/main" id="{EA25C4A7-5A2B-467C-61AE-461EEE197395}"/>
                </a:ext>
              </a:extLst>
            </p:cNvPr>
            <p:cNvSpPr/>
            <p:nvPr/>
          </p:nvSpPr>
          <p:spPr>
            <a:xfrm>
              <a:off x="3345" y="2497"/>
              <a:ext cx="485" cy="48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50" noProof="1">
                <a:solidFill>
                  <a:schemeClr val="tx1"/>
                </a:solidFill>
                <a:latin typeface="+mj-lt"/>
                <a:ea typeface="幼圆" panose="02010509060101010101" pitchFamily="49" charset="-122"/>
              </a:endParaRPr>
            </a:p>
          </p:txBody>
        </p:sp>
        <p:sp>
          <p:nvSpPr>
            <p:cNvPr id="55" name="文本框 29">
              <a:extLst>
                <a:ext uri="{FF2B5EF4-FFF2-40B4-BE49-F238E27FC236}">
                  <a16:creationId xmlns:a16="http://schemas.microsoft.com/office/drawing/2014/main" id="{03438CF7-78FE-32FB-25F2-F255C7B6556C}"/>
                </a:ext>
              </a:extLst>
            </p:cNvPr>
            <p:cNvSpPr txBox="1">
              <a:spLocks noChangeArrowheads="1"/>
            </p:cNvSpPr>
            <p:nvPr/>
          </p:nvSpPr>
          <p:spPr bwMode="auto">
            <a:xfrm>
              <a:off x="3333" y="2433"/>
              <a:ext cx="410" cy="582"/>
            </a:xfrm>
            <a:prstGeom prst="rect">
              <a:avLst/>
            </a:prstGeom>
            <a:noFill/>
            <a:ln w="9525">
              <a:noFill/>
              <a:miter lim="800000"/>
              <a:headEnd/>
              <a:tailEnd/>
            </a:ln>
          </p:spPr>
          <p:txBody>
            <a:bodyPr>
              <a:spAutoFit/>
            </a:bodyPr>
            <a:lstStyle/>
            <a:p>
              <a:r>
                <a:rPr lang="en-US" altLang="zh-CN" sz="1050" dirty="0">
                  <a:solidFill>
                    <a:schemeClr val="bg1"/>
                  </a:solidFill>
                  <a:latin typeface="+mj-lt"/>
                  <a:ea typeface="幼圆" panose="02010509060101010101" pitchFamily="49" charset="-122"/>
                </a:rPr>
                <a:t>6</a:t>
              </a:r>
            </a:p>
          </p:txBody>
        </p:sp>
      </p:grpSp>
      <p:grpSp>
        <p:nvGrpSpPr>
          <p:cNvPr id="56" name="组合 39">
            <a:extLst>
              <a:ext uri="{FF2B5EF4-FFF2-40B4-BE49-F238E27FC236}">
                <a16:creationId xmlns:a16="http://schemas.microsoft.com/office/drawing/2014/main" id="{15CDE72E-B732-EB5B-EC3B-A07A975D6481}"/>
              </a:ext>
            </a:extLst>
          </p:cNvPr>
          <p:cNvGrpSpPr>
            <a:grpSpLocks/>
          </p:cNvGrpSpPr>
          <p:nvPr/>
        </p:nvGrpSpPr>
        <p:grpSpPr bwMode="auto">
          <a:xfrm>
            <a:off x="4923840" y="3152687"/>
            <a:ext cx="3858231" cy="369199"/>
            <a:chOff x="3317" y="2368"/>
            <a:chExt cx="7212" cy="817"/>
          </a:xfrm>
        </p:grpSpPr>
        <p:sp>
          <p:nvSpPr>
            <p:cNvPr id="57" name="文本框 41">
              <a:extLst>
                <a:ext uri="{FF2B5EF4-FFF2-40B4-BE49-F238E27FC236}">
                  <a16:creationId xmlns:a16="http://schemas.microsoft.com/office/drawing/2014/main" id="{DB4BB082-7984-5324-D51B-058284EC3C52}"/>
                </a:ext>
              </a:extLst>
            </p:cNvPr>
            <p:cNvSpPr txBox="1"/>
            <p:nvPr/>
          </p:nvSpPr>
          <p:spPr>
            <a:xfrm>
              <a:off x="4000" y="2368"/>
              <a:ext cx="6529" cy="817"/>
            </a:xfrm>
            <a:prstGeom prst="rect">
              <a:avLst/>
            </a:prstGeom>
            <a:noFill/>
            <a:ln>
              <a:noFill/>
            </a:ln>
          </p:spPr>
          <p:txBody>
            <a:bodyPr wrap="square">
              <a:spAutoFit/>
            </a:bodyPr>
            <a:lstStyle/>
            <a:p>
              <a:pPr lvl="0">
                <a:defRPr/>
              </a:pPr>
              <a:r>
                <a:rPr lang="en-US" sz="1800" dirty="0"/>
                <a:t>Directions</a:t>
              </a:r>
              <a:endParaRPr lang="en-US" altLang="zh-CN" sz="1800" noProof="1">
                <a:solidFill>
                  <a:schemeClr val="tx1"/>
                </a:solidFill>
                <a:latin typeface="+mj-lt"/>
                <a:ea typeface="幼圆" panose="02010509060101010101" pitchFamily="49" charset="-122"/>
              </a:endParaRPr>
            </a:p>
          </p:txBody>
        </p:sp>
        <p:sp>
          <p:nvSpPr>
            <p:cNvPr id="58" name="椭圆 42">
              <a:extLst>
                <a:ext uri="{FF2B5EF4-FFF2-40B4-BE49-F238E27FC236}">
                  <a16:creationId xmlns:a16="http://schemas.microsoft.com/office/drawing/2014/main" id="{ABB2A7A6-F3B8-0DE4-C49C-9DFEA9B36503}"/>
                </a:ext>
              </a:extLst>
            </p:cNvPr>
            <p:cNvSpPr/>
            <p:nvPr/>
          </p:nvSpPr>
          <p:spPr>
            <a:xfrm>
              <a:off x="3345" y="2494"/>
              <a:ext cx="485" cy="48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50" noProof="1">
                <a:solidFill>
                  <a:schemeClr val="tx1"/>
                </a:solidFill>
                <a:latin typeface="+mj-lt"/>
                <a:ea typeface="幼圆" panose="02010509060101010101" pitchFamily="49" charset="-122"/>
              </a:endParaRPr>
            </a:p>
          </p:txBody>
        </p:sp>
        <p:sp>
          <p:nvSpPr>
            <p:cNvPr id="59" name="文本框 34">
              <a:extLst>
                <a:ext uri="{FF2B5EF4-FFF2-40B4-BE49-F238E27FC236}">
                  <a16:creationId xmlns:a16="http://schemas.microsoft.com/office/drawing/2014/main" id="{BB1FEF86-5CA6-E100-DFD3-D44DD5499D60}"/>
                </a:ext>
              </a:extLst>
            </p:cNvPr>
            <p:cNvSpPr txBox="1">
              <a:spLocks noChangeArrowheads="1"/>
            </p:cNvSpPr>
            <p:nvPr/>
          </p:nvSpPr>
          <p:spPr bwMode="auto">
            <a:xfrm>
              <a:off x="3317" y="2433"/>
              <a:ext cx="410" cy="579"/>
            </a:xfrm>
            <a:prstGeom prst="rect">
              <a:avLst/>
            </a:prstGeom>
            <a:noFill/>
            <a:ln w="9525">
              <a:noFill/>
              <a:miter lim="800000"/>
              <a:headEnd/>
              <a:tailEnd/>
            </a:ln>
          </p:spPr>
          <p:txBody>
            <a:bodyPr>
              <a:spAutoFit/>
            </a:bodyPr>
            <a:lstStyle/>
            <a:p>
              <a:r>
                <a:rPr lang="en-US" altLang="zh-CN" sz="1050" dirty="0">
                  <a:solidFill>
                    <a:schemeClr val="bg1"/>
                  </a:solidFill>
                  <a:latin typeface="+mj-lt"/>
                  <a:ea typeface="幼圆" panose="02010509060101010101" pitchFamily="49" charset="-122"/>
                </a:rPr>
                <a:t>7</a:t>
              </a:r>
            </a:p>
          </p:txBody>
        </p:sp>
      </p:grpSp>
      <p:grpSp>
        <p:nvGrpSpPr>
          <p:cNvPr id="60" name="组合 44">
            <a:extLst>
              <a:ext uri="{FF2B5EF4-FFF2-40B4-BE49-F238E27FC236}">
                <a16:creationId xmlns:a16="http://schemas.microsoft.com/office/drawing/2014/main" id="{31C281F4-516B-BFFA-68BE-1E892B8AF60D}"/>
              </a:ext>
            </a:extLst>
          </p:cNvPr>
          <p:cNvGrpSpPr>
            <a:grpSpLocks/>
          </p:cNvGrpSpPr>
          <p:nvPr/>
        </p:nvGrpSpPr>
        <p:grpSpPr bwMode="auto">
          <a:xfrm>
            <a:off x="4923840" y="3509922"/>
            <a:ext cx="4133718" cy="369266"/>
            <a:chOff x="3317" y="2176"/>
            <a:chExt cx="7729" cy="819"/>
          </a:xfrm>
        </p:grpSpPr>
        <p:sp>
          <p:nvSpPr>
            <p:cNvPr id="61" name="文本框 46">
              <a:extLst>
                <a:ext uri="{FF2B5EF4-FFF2-40B4-BE49-F238E27FC236}">
                  <a16:creationId xmlns:a16="http://schemas.microsoft.com/office/drawing/2014/main" id="{06E33114-348C-67BC-FABC-4AD4F678F47D}"/>
                </a:ext>
              </a:extLst>
            </p:cNvPr>
            <p:cNvSpPr txBox="1"/>
            <p:nvPr/>
          </p:nvSpPr>
          <p:spPr>
            <a:xfrm>
              <a:off x="4001" y="2176"/>
              <a:ext cx="7045" cy="819"/>
            </a:xfrm>
            <a:prstGeom prst="rect">
              <a:avLst/>
            </a:prstGeom>
            <a:noFill/>
            <a:ln>
              <a:noFill/>
            </a:ln>
          </p:spPr>
          <p:txBody>
            <a:bodyPr wrap="square">
              <a:spAutoFit/>
            </a:bodyPr>
            <a:lstStyle/>
            <a:p>
              <a:pPr lvl="0"/>
              <a:r>
                <a:rPr lang="en-US" sz="1800" dirty="0"/>
                <a:t>Difference</a:t>
              </a:r>
              <a:endParaRPr lang="zh-CN" altLang="en-US" sz="1800" dirty="0">
                <a:solidFill>
                  <a:schemeClr val="tx1"/>
                </a:solidFill>
                <a:latin typeface="+mj-lt"/>
                <a:ea typeface="幼圆" panose="02010509060101010101" pitchFamily="49" charset="-122"/>
                <a:sym typeface="Arial" panose="020B0604020202020204" pitchFamily="34" charset="0"/>
              </a:endParaRPr>
            </a:p>
          </p:txBody>
        </p:sp>
        <p:sp>
          <p:nvSpPr>
            <p:cNvPr id="62" name="椭圆 47">
              <a:extLst>
                <a:ext uri="{FF2B5EF4-FFF2-40B4-BE49-F238E27FC236}">
                  <a16:creationId xmlns:a16="http://schemas.microsoft.com/office/drawing/2014/main" id="{9B9066BF-B455-6F23-76B8-30B50D6F6724}"/>
                </a:ext>
              </a:extLst>
            </p:cNvPr>
            <p:cNvSpPr/>
            <p:nvPr/>
          </p:nvSpPr>
          <p:spPr>
            <a:xfrm>
              <a:off x="3344" y="2319"/>
              <a:ext cx="485" cy="48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50" noProof="1">
                <a:solidFill>
                  <a:schemeClr val="tx1"/>
                </a:solidFill>
                <a:latin typeface="+mj-lt"/>
                <a:ea typeface="幼圆" panose="02010509060101010101" pitchFamily="49" charset="-122"/>
              </a:endParaRPr>
            </a:p>
          </p:txBody>
        </p:sp>
        <p:sp>
          <p:nvSpPr>
            <p:cNvPr id="63" name="文本框 39">
              <a:extLst>
                <a:ext uri="{FF2B5EF4-FFF2-40B4-BE49-F238E27FC236}">
                  <a16:creationId xmlns:a16="http://schemas.microsoft.com/office/drawing/2014/main" id="{B53BB5DC-41B5-FAA1-2053-9578C61FFBBA}"/>
                </a:ext>
              </a:extLst>
            </p:cNvPr>
            <p:cNvSpPr txBox="1">
              <a:spLocks noChangeArrowheads="1"/>
            </p:cNvSpPr>
            <p:nvPr/>
          </p:nvSpPr>
          <p:spPr bwMode="auto">
            <a:xfrm>
              <a:off x="3317" y="2257"/>
              <a:ext cx="410" cy="580"/>
            </a:xfrm>
            <a:prstGeom prst="rect">
              <a:avLst/>
            </a:prstGeom>
            <a:noFill/>
            <a:ln w="9525">
              <a:noFill/>
              <a:miter lim="800000"/>
              <a:headEnd/>
              <a:tailEnd/>
            </a:ln>
          </p:spPr>
          <p:txBody>
            <a:bodyPr>
              <a:spAutoFit/>
            </a:bodyPr>
            <a:lstStyle/>
            <a:p>
              <a:r>
                <a:rPr lang="en-US" altLang="zh-CN" sz="1050" dirty="0">
                  <a:solidFill>
                    <a:schemeClr val="bg1"/>
                  </a:solidFill>
                  <a:latin typeface="+mj-lt"/>
                  <a:ea typeface="幼圆" panose="02010509060101010101" pitchFamily="49" charset="-122"/>
                </a:rPr>
                <a:t>8</a:t>
              </a:r>
            </a:p>
          </p:txBody>
        </p:sp>
      </p:grpSp>
      <p:grpSp>
        <p:nvGrpSpPr>
          <p:cNvPr id="64" name="组合 44">
            <a:extLst>
              <a:ext uri="{FF2B5EF4-FFF2-40B4-BE49-F238E27FC236}">
                <a16:creationId xmlns:a16="http://schemas.microsoft.com/office/drawing/2014/main" id="{8B10D776-B2A8-9BB0-27C4-B615FF4B1482}"/>
              </a:ext>
            </a:extLst>
          </p:cNvPr>
          <p:cNvGrpSpPr>
            <a:grpSpLocks/>
          </p:cNvGrpSpPr>
          <p:nvPr/>
        </p:nvGrpSpPr>
        <p:grpSpPr bwMode="auto">
          <a:xfrm>
            <a:off x="4917420" y="3876400"/>
            <a:ext cx="4133718" cy="369266"/>
            <a:chOff x="3317" y="2176"/>
            <a:chExt cx="7729" cy="819"/>
          </a:xfrm>
        </p:grpSpPr>
        <p:sp>
          <p:nvSpPr>
            <p:cNvPr id="65" name="文本框 46">
              <a:extLst>
                <a:ext uri="{FF2B5EF4-FFF2-40B4-BE49-F238E27FC236}">
                  <a16:creationId xmlns:a16="http://schemas.microsoft.com/office/drawing/2014/main" id="{0B50B4D3-84EA-4C67-FD7A-700BD6C9D9E6}"/>
                </a:ext>
              </a:extLst>
            </p:cNvPr>
            <p:cNvSpPr txBox="1"/>
            <p:nvPr/>
          </p:nvSpPr>
          <p:spPr>
            <a:xfrm>
              <a:off x="4001" y="2176"/>
              <a:ext cx="7045" cy="819"/>
            </a:xfrm>
            <a:prstGeom prst="rect">
              <a:avLst/>
            </a:prstGeom>
            <a:noFill/>
            <a:ln>
              <a:noFill/>
            </a:ln>
          </p:spPr>
          <p:txBody>
            <a:bodyPr wrap="square">
              <a:spAutoFit/>
            </a:bodyPr>
            <a:lstStyle/>
            <a:p>
              <a:pPr lvl="0"/>
              <a:r>
                <a:rPr lang="en-US" sz="1800" dirty="0"/>
                <a:t>System Off</a:t>
              </a:r>
              <a:endParaRPr lang="zh-CN" altLang="en-US" sz="1800" dirty="0">
                <a:solidFill>
                  <a:schemeClr val="tx1"/>
                </a:solidFill>
                <a:latin typeface="+mj-lt"/>
                <a:ea typeface="幼圆" panose="02010509060101010101" pitchFamily="49" charset="-122"/>
                <a:sym typeface="Arial" panose="020B0604020202020204" pitchFamily="34" charset="0"/>
              </a:endParaRPr>
            </a:p>
          </p:txBody>
        </p:sp>
        <p:sp>
          <p:nvSpPr>
            <p:cNvPr id="66" name="椭圆 47">
              <a:extLst>
                <a:ext uri="{FF2B5EF4-FFF2-40B4-BE49-F238E27FC236}">
                  <a16:creationId xmlns:a16="http://schemas.microsoft.com/office/drawing/2014/main" id="{F1D9C8F4-A2E2-F544-7617-0C26B3DCC348}"/>
                </a:ext>
              </a:extLst>
            </p:cNvPr>
            <p:cNvSpPr/>
            <p:nvPr/>
          </p:nvSpPr>
          <p:spPr>
            <a:xfrm>
              <a:off x="3344" y="2319"/>
              <a:ext cx="485" cy="48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50" noProof="1">
                <a:solidFill>
                  <a:schemeClr val="tx1"/>
                </a:solidFill>
                <a:latin typeface="+mj-lt"/>
                <a:ea typeface="幼圆" panose="02010509060101010101" pitchFamily="49" charset="-122"/>
              </a:endParaRPr>
            </a:p>
          </p:txBody>
        </p:sp>
        <p:sp>
          <p:nvSpPr>
            <p:cNvPr id="67" name="文本框 39">
              <a:extLst>
                <a:ext uri="{FF2B5EF4-FFF2-40B4-BE49-F238E27FC236}">
                  <a16:creationId xmlns:a16="http://schemas.microsoft.com/office/drawing/2014/main" id="{6E5D44C6-CEF4-BB14-0D56-ED306BA9DED2}"/>
                </a:ext>
              </a:extLst>
            </p:cNvPr>
            <p:cNvSpPr txBox="1">
              <a:spLocks noChangeArrowheads="1"/>
            </p:cNvSpPr>
            <p:nvPr/>
          </p:nvSpPr>
          <p:spPr bwMode="auto">
            <a:xfrm>
              <a:off x="3317" y="2257"/>
              <a:ext cx="410" cy="580"/>
            </a:xfrm>
            <a:prstGeom prst="rect">
              <a:avLst/>
            </a:prstGeom>
            <a:noFill/>
            <a:ln w="9525">
              <a:noFill/>
              <a:miter lim="800000"/>
              <a:headEnd/>
              <a:tailEnd/>
            </a:ln>
          </p:spPr>
          <p:txBody>
            <a:bodyPr>
              <a:spAutoFit/>
            </a:bodyPr>
            <a:lstStyle/>
            <a:p>
              <a:r>
                <a:rPr lang="en-US" altLang="zh-CN" sz="1050" dirty="0">
                  <a:solidFill>
                    <a:schemeClr val="bg1"/>
                  </a:solidFill>
                  <a:latin typeface="+mj-lt"/>
                  <a:ea typeface="幼圆" panose="02010509060101010101" pitchFamily="49" charset="-122"/>
                </a:rPr>
                <a:t>9</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sz="2200" b="1" dirty="0">
                <a:solidFill>
                  <a:srgbClr val="1E2761"/>
                </a:solidFill>
                <a:latin typeface="Calibri"/>
              </a:rPr>
              <a:t>Problem Statement and Design Assumptions</a:t>
            </a:r>
          </a:p>
        </p:txBody>
      </p:sp>
      <p:sp>
        <p:nvSpPr>
          <p:cNvPr id="4" name="TextBox 3"/>
          <p:cNvSpPr txBox="1"/>
          <p:nvPr/>
        </p:nvSpPr>
        <p:spPr>
          <a:xfrm>
            <a:off x="320040" y="1097280"/>
            <a:ext cx="4069080" cy="274320"/>
          </a:xfrm>
          <a:prstGeom prst="rect">
            <a:avLst/>
          </a:prstGeom>
          <a:noFill/>
          <a:ln>
            <a:noFill/>
          </a:ln>
        </p:spPr>
        <p:txBody>
          <a:bodyPr wrap="square" lIns="45720" tIns="27432" rIns="45720" bIns="27432" anchor="t">
            <a:spAutoFit/>
          </a:bodyPr>
          <a:lstStyle/>
          <a:p>
            <a:pPr algn="l"/>
            <a:r>
              <a:rPr sz="1400" b="1" i="0">
                <a:solidFill>
                  <a:srgbClr val="1E2761"/>
                </a:solidFill>
                <a:latin typeface="Calibri"/>
              </a:rPr>
              <a:t>Problem</a:t>
            </a:r>
          </a:p>
        </p:txBody>
      </p:sp>
      <p:sp>
        <p:nvSpPr>
          <p:cNvPr id="5" name="TextBox 4"/>
          <p:cNvSpPr txBox="1"/>
          <p:nvPr/>
        </p:nvSpPr>
        <p:spPr>
          <a:xfrm>
            <a:off x="320040" y="1417320"/>
            <a:ext cx="4069080" cy="1325880"/>
          </a:xfrm>
          <a:prstGeom prst="rect">
            <a:avLst/>
          </a:prstGeom>
          <a:noFill/>
          <a:ln>
            <a:noFill/>
          </a:ln>
        </p:spPr>
        <p:txBody>
          <a:bodyPr wrap="square" lIns="45720" tIns="27432" rIns="45720" bIns="27432" anchor="t">
            <a:spAutoFit/>
          </a:bodyPr>
          <a:lstStyle/>
          <a:p>
            <a:pPr algn="l"/>
            <a:r>
              <a:rPr sz="1100" b="0" i="0">
                <a:solidFill>
                  <a:srgbClr val="333333"/>
                </a:solidFill>
                <a:latin typeface="Calibri"/>
              </a:rPr>
              <a:t>Design an FPGA module with two 3-bit sensor inputs (G and Y) and a 3-bit function selector (S) that supports 8 distinct operations. The output drives one 7-segment display and an overflow LED.</a:t>
            </a:r>
          </a:p>
        </p:txBody>
      </p:sp>
      <p:sp>
        <p:nvSpPr>
          <p:cNvPr id="6" name="TextBox 5"/>
          <p:cNvSpPr txBox="1"/>
          <p:nvPr/>
        </p:nvSpPr>
        <p:spPr>
          <a:xfrm>
            <a:off x="320040" y="2743200"/>
            <a:ext cx="4069080" cy="274320"/>
          </a:xfrm>
          <a:prstGeom prst="rect">
            <a:avLst/>
          </a:prstGeom>
          <a:noFill/>
          <a:ln>
            <a:noFill/>
          </a:ln>
        </p:spPr>
        <p:txBody>
          <a:bodyPr wrap="square" lIns="45720" tIns="27432" rIns="45720" bIns="27432" anchor="t">
            <a:spAutoFit/>
          </a:bodyPr>
          <a:lstStyle/>
          <a:p>
            <a:pPr algn="l"/>
            <a:r>
              <a:rPr sz="1300" b="1" i="0">
                <a:solidFill>
                  <a:srgbClr val="1E2761"/>
                </a:solidFill>
                <a:latin typeface="Calibri"/>
              </a:rPr>
              <a:t>Display Encoding D[3:0]</a:t>
            </a:r>
          </a:p>
        </p:txBody>
      </p:sp>
      <p:graphicFrame>
        <p:nvGraphicFramePr>
          <p:cNvPr id="7" name="Table 6"/>
          <p:cNvGraphicFramePr>
            <a:graphicFrameLocks noGrp="1"/>
          </p:cNvGraphicFramePr>
          <p:nvPr/>
        </p:nvGraphicFramePr>
        <p:xfrm>
          <a:off x="320040" y="3063240"/>
          <a:ext cx="4069079" cy="169164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tblGrid>
              <a:tr h="281940">
                <a:tc>
                  <a:txBody>
                    <a:bodyPr/>
                    <a:lstStyle/>
                    <a:p>
                      <a:pPr algn="ctr"/>
                      <a:r>
                        <a:rPr sz="1000" b="1">
                          <a:solidFill>
                            <a:srgbClr val="FFFFFF"/>
                          </a:solidFill>
                          <a:latin typeface="Calibri"/>
                        </a:rPr>
                        <a:t>Code</a:t>
                      </a:r>
                    </a:p>
                  </a:txBody>
                  <a:tcPr marL="36576" marR="36576" marT="18288" marB="18288" anchor="ctr">
                    <a:solidFill>
                      <a:srgbClr val="1E2761"/>
                    </a:solidFill>
                  </a:tcPr>
                </a:tc>
                <a:tc>
                  <a:txBody>
                    <a:bodyPr/>
                    <a:lstStyle/>
                    <a:p>
                      <a:pPr algn="ctr"/>
                      <a:r>
                        <a:rPr sz="1000" b="1">
                          <a:solidFill>
                            <a:srgbClr val="FFFFFF"/>
                          </a:solidFill>
                          <a:latin typeface="Calibri"/>
                        </a:rPr>
                        <a:t>Symbol</a:t>
                      </a:r>
                    </a:p>
                  </a:txBody>
                  <a:tcPr marL="36576" marR="36576" marT="18288" marB="18288" anchor="ctr">
                    <a:solidFill>
                      <a:srgbClr val="1E2761"/>
                    </a:solidFill>
                  </a:tcPr>
                </a:tc>
                <a:tc>
                  <a:txBody>
                    <a:bodyPr/>
                    <a:lstStyle/>
                    <a:p>
                      <a:pPr algn="ctr"/>
                      <a:r>
                        <a:rPr sz="1000" b="1">
                          <a:solidFill>
                            <a:srgbClr val="FFFFFF"/>
                          </a:solidFill>
                          <a:latin typeface="Calibri"/>
                        </a:rPr>
                        <a:t>Meaning</a:t>
                      </a:r>
                    </a:p>
                  </a:txBody>
                  <a:tcPr marL="36576" marR="36576" marT="18288" marB="18288" anchor="ctr">
                    <a:solidFill>
                      <a:srgbClr val="1E2761"/>
                    </a:solidFill>
                  </a:tcPr>
                </a:tc>
                <a:extLst>
                  <a:ext uri="{0D108BD9-81ED-4DB2-BD59-A6C34878D82A}">
                    <a16:rowId xmlns:a16="http://schemas.microsoft.com/office/drawing/2014/main" val="10000"/>
                  </a:ext>
                </a:extLst>
              </a:tr>
              <a:tr h="281940">
                <a:tc>
                  <a:txBody>
                    <a:bodyPr/>
                    <a:lstStyle/>
                    <a:p>
                      <a:pPr algn="ctr"/>
                      <a:r>
                        <a:rPr sz="900" b="0">
                          <a:solidFill>
                            <a:srgbClr val="333333"/>
                          </a:solidFill>
                          <a:latin typeface="Consolas"/>
                        </a:rPr>
                        <a:t>0000 to 0111</a:t>
                      </a:r>
                    </a:p>
                  </a:txBody>
                  <a:tcPr marL="36576" marR="36576" marT="18288" marB="18288" anchor="ctr">
                    <a:solidFill>
                      <a:srgbClr val="FFFFFF"/>
                    </a:solidFill>
                  </a:tcPr>
                </a:tc>
                <a:tc>
                  <a:txBody>
                    <a:bodyPr/>
                    <a:lstStyle/>
                    <a:p>
                      <a:pPr algn="ctr"/>
                      <a:r>
                        <a:rPr sz="900" b="0">
                          <a:solidFill>
                            <a:srgbClr val="333333"/>
                          </a:solidFill>
                          <a:latin typeface="Consolas"/>
                        </a:rPr>
                        <a:t>0 to 7</a:t>
                      </a:r>
                    </a:p>
                  </a:txBody>
                  <a:tcPr marL="36576" marR="36576" marT="18288" marB="18288" anchor="ctr">
                    <a:solidFill>
                      <a:srgbClr val="FFFFFF"/>
                    </a:solidFill>
                  </a:tcPr>
                </a:tc>
                <a:tc>
                  <a:txBody>
                    <a:bodyPr/>
                    <a:lstStyle/>
                    <a:p>
                      <a:pPr algn="ctr"/>
                      <a:r>
                        <a:rPr sz="900" b="0">
                          <a:solidFill>
                            <a:srgbClr val="333333"/>
                          </a:solidFill>
                          <a:latin typeface="Calibri"/>
                        </a:rPr>
                        <a:t>Numeric digit</a:t>
                      </a:r>
                    </a:p>
                  </a:txBody>
                  <a:tcPr marL="36576" marR="36576" marT="18288" marB="18288" anchor="ctr">
                    <a:solidFill>
                      <a:srgbClr val="FFFFFF"/>
                    </a:solidFill>
                  </a:tcPr>
                </a:tc>
                <a:extLst>
                  <a:ext uri="{0D108BD9-81ED-4DB2-BD59-A6C34878D82A}">
                    <a16:rowId xmlns:a16="http://schemas.microsoft.com/office/drawing/2014/main" val="10001"/>
                  </a:ext>
                </a:extLst>
              </a:tr>
              <a:tr h="281940">
                <a:tc>
                  <a:txBody>
                    <a:bodyPr/>
                    <a:lstStyle/>
                    <a:p>
                      <a:pPr algn="ctr"/>
                      <a:r>
                        <a:rPr sz="900" b="0">
                          <a:solidFill>
                            <a:srgbClr val="333333"/>
                          </a:solidFill>
                          <a:latin typeface="Consolas"/>
                        </a:rPr>
                        <a:t>1000</a:t>
                      </a:r>
                    </a:p>
                  </a:txBody>
                  <a:tcPr marL="36576" marR="36576" marT="18288" marB="18288" anchor="ctr">
                    <a:solidFill>
                      <a:srgbClr val="F2F4F8"/>
                    </a:solidFill>
                  </a:tcPr>
                </a:tc>
                <a:tc>
                  <a:txBody>
                    <a:bodyPr/>
                    <a:lstStyle/>
                    <a:p>
                      <a:pPr algn="ctr"/>
                      <a:r>
                        <a:rPr sz="900" b="0">
                          <a:solidFill>
                            <a:srgbClr val="333333"/>
                          </a:solidFill>
                          <a:latin typeface="Consolas"/>
                        </a:rPr>
                        <a:t>E</a:t>
                      </a:r>
                    </a:p>
                  </a:txBody>
                  <a:tcPr marL="36576" marR="36576" marT="18288" marB="18288" anchor="ctr">
                    <a:solidFill>
                      <a:srgbClr val="F2F4F8"/>
                    </a:solidFill>
                  </a:tcPr>
                </a:tc>
                <a:tc>
                  <a:txBody>
                    <a:bodyPr/>
                    <a:lstStyle/>
                    <a:p>
                      <a:pPr algn="ctr"/>
                      <a:r>
                        <a:rPr sz="900" b="0">
                          <a:solidFill>
                            <a:srgbClr val="333333"/>
                          </a:solidFill>
                          <a:latin typeface="Calibri"/>
                        </a:rPr>
                        <a:t>Compare equal</a:t>
                      </a:r>
                    </a:p>
                  </a:txBody>
                  <a:tcPr marL="36576" marR="36576" marT="18288" marB="18288" anchor="ctr">
                    <a:solidFill>
                      <a:srgbClr val="F2F4F8"/>
                    </a:solidFill>
                  </a:tcPr>
                </a:tc>
                <a:extLst>
                  <a:ext uri="{0D108BD9-81ED-4DB2-BD59-A6C34878D82A}">
                    <a16:rowId xmlns:a16="http://schemas.microsoft.com/office/drawing/2014/main" val="10002"/>
                  </a:ext>
                </a:extLst>
              </a:tr>
              <a:tr h="281940">
                <a:tc>
                  <a:txBody>
                    <a:bodyPr/>
                    <a:lstStyle/>
                    <a:p>
                      <a:pPr algn="ctr"/>
                      <a:r>
                        <a:rPr sz="900" b="0">
                          <a:solidFill>
                            <a:srgbClr val="333333"/>
                          </a:solidFill>
                          <a:latin typeface="Consolas"/>
                        </a:rPr>
                        <a:t>1001</a:t>
                      </a:r>
                    </a:p>
                  </a:txBody>
                  <a:tcPr marL="36576" marR="36576" marT="18288" marB="18288" anchor="ctr">
                    <a:solidFill>
                      <a:srgbClr val="FFFFFF"/>
                    </a:solidFill>
                  </a:tcPr>
                </a:tc>
                <a:tc>
                  <a:txBody>
                    <a:bodyPr/>
                    <a:lstStyle/>
                    <a:p>
                      <a:pPr algn="ctr"/>
                      <a:r>
                        <a:rPr sz="900" b="0">
                          <a:solidFill>
                            <a:srgbClr val="333333"/>
                          </a:solidFill>
                          <a:latin typeface="Consolas"/>
                        </a:rPr>
                        <a:t>U</a:t>
                      </a:r>
                    </a:p>
                  </a:txBody>
                  <a:tcPr marL="36576" marR="36576" marT="18288" marB="18288" anchor="ctr">
                    <a:solidFill>
                      <a:srgbClr val="FFFFFF"/>
                    </a:solidFill>
                  </a:tcPr>
                </a:tc>
                <a:tc>
                  <a:txBody>
                    <a:bodyPr/>
                    <a:lstStyle/>
                    <a:p>
                      <a:pPr algn="ctr"/>
                      <a:r>
                        <a:rPr sz="900" b="0">
                          <a:solidFill>
                            <a:srgbClr val="333333"/>
                          </a:solidFill>
                          <a:latin typeface="Calibri"/>
                        </a:rPr>
                        <a:t>Compare not-equal</a:t>
                      </a:r>
                    </a:p>
                  </a:txBody>
                  <a:tcPr marL="36576" marR="36576" marT="18288" marB="18288" anchor="ctr">
                    <a:solidFill>
                      <a:srgbClr val="FFFFFF"/>
                    </a:solidFill>
                  </a:tcPr>
                </a:tc>
                <a:extLst>
                  <a:ext uri="{0D108BD9-81ED-4DB2-BD59-A6C34878D82A}">
                    <a16:rowId xmlns:a16="http://schemas.microsoft.com/office/drawing/2014/main" val="10003"/>
                  </a:ext>
                </a:extLst>
              </a:tr>
              <a:tr h="281940">
                <a:tc>
                  <a:txBody>
                    <a:bodyPr/>
                    <a:lstStyle/>
                    <a:p>
                      <a:pPr algn="ctr"/>
                      <a:r>
                        <a:rPr sz="1000">
                          <a:solidFill>
                            <a:srgbClr val="21295C"/>
                          </a:solidFill>
                          <a:latin typeface="Consolas"/>
                        </a:rPr>
                        <a:t>1100</a:t>
                      </a:r>
                    </a:p>
                  </a:txBody>
                  <a:tcPr marL="36576" marR="36576" marT="18288" marB="18288" anchor="ctr">
                    <a:solidFill>
                      <a:srgbClr val="F2F4F8"/>
                    </a:solidFill>
                  </a:tcPr>
                </a:tc>
                <a:tc>
                  <a:txBody>
                    <a:bodyPr/>
                    <a:lstStyle/>
                    <a:p>
                      <a:pPr algn="ctr"/>
                      <a:r>
                        <a:rPr sz="900" b="0">
                          <a:solidFill>
                            <a:srgbClr val="333333"/>
                          </a:solidFill>
                          <a:latin typeface="Consolas"/>
                        </a:rPr>
                        <a:t>=</a:t>
                      </a:r>
                    </a:p>
                  </a:txBody>
                  <a:tcPr marL="36576" marR="36576" marT="18288" marB="18288" anchor="ctr">
                    <a:solidFill>
                      <a:srgbClr val="F2F4F8"/>
                    </a:solidFill>
                  </a:tcPr>
                </a:tc>
                <a:tc>
                  <a:txBody>
                    <a:bodyPr/>
                    <a:lstStyle/>
                    <a:p>
                      <a:pPr algn="ctr"/>
                      <a:r>
                        <a:rPr sz="900" b="0">
                          <a:solidFill>
                            <a:srgbClr val="333333"/>
                          </a:solidFill>
                          <a:latin typeface="Calibri"/>
                        </a:rPr>
                        <a:t>Overflow</a:t>
                      </a:r>
                    </a:p>
                  </a:txBody>
                  <a:tcPr marL="36576" marR="36576" marT="18288" marB="18288" anchor="ctr">
                    <a:solidFill>
                      <a:srgbClr val="F2F4F8"/>
                    </a:solidFill>
                  </a:tcPr>
                </a:tc>
                <a:extLst>
                  <a:ext uri="{0D108BD9-81ED-4DB2-BD59-A6C34878D82A}">
                    <a16:rowId xmlns:a16="http://schemas.microsoft.com/office/drawing/2014/main" val="10004"/>
                  </a:ext>
                </a:extLst>
              </a:tr>
              <a:tr h="281940">
                <a:tc>
                  <a:txBody>
                    <a:bodyPr/>
                    <a:lstStyle/>
                    <a:p>
                      <a:pPr algn="ctr"/>
                      <a:r>
                        <a:rPr sz="900" b="0">
                          <a:solidFill>
                            <a:srgbClr val="333333"/>
                          </a:solidFill>
                          <a:latin typeface="Consolas"/>
                        </a:rPr>
                        <a:t>1011</a:t>
                      </a:r>
                    </a:p>
                  </a:txBody>
                  <a:tcPr marL="36576" marR="36576" marT="18288" marB="18288" anchor="ctr">
                    <a:solidFill>
                      <a:srgbClr val="FFFFFF"/>
                    </a:solidFill>
                  </a:tcPr>
                </a:tc>
                <a:tc>
                  <a:txBody>
                    <a:bodyPr/>
                    <a:lstStyle/>
                    <a:p>
                      <a:pPr algn="ctr"/>
                      <a:r>
                        <a:rPr sz="900" b="0">
                          <a:solidFill>
                            <a:srgbClr val="333333"/>
                          </a:solidFill>
                          <a:latin typeface="Consolas"/>
                        </a:rPr>
                        <a:t>blank</a:t>
                      </a:r>
                    </a:p>
                  </a:txBody>
                  <a:tcPr marL="36576" marR="36576" marT="18288" marB="18288" anchor="ctr">
                    <a:solidFill>
                      <a:srgbClr val="FFFFFF"/>
                    </a:solidFill>
                  </a:tcPr>
                </a:tc>
                <a:tc>
                  <a:txBody>
                    <a:bodyPr/>
                    <a:lstStyle/>
                    <a:p>
                      <a:pPr algn="ctr"/>
                      <a:r>
                        <a:rPr sz="900" b="0">
                          <a:solidFill>
                            <a:srgbClr val="333333"/>
                          </a:solidFill>
                          <a:latin typeface="Calibri"/>
                        </a:rPr>
                        <a:t>System off</a:t>
                      </a:r>
                    </a:p>
                  </a:txBody>
                  <a:tcPr marL="36576" marR="36576"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4617720" y="1097280"/>
            <a:ext cx="4251960" cy="274320"/>
          </a:xfrm>
          <a:prstGeom prst="rect">
            <a:avLst/>
          </a:prstGeom>
          <a:noFill/>
          <a:ln>
            <a:noFill/>
          </a:ln>
        </p:spPr>
        <p:txBody>
          <a:bodyPr wrap="square" lIns="45720" tIns="27432" rIns="45720" bIns="27432" anchor="t">
            <a:spAutoFit/>
          </a:bodyPr>
          <a:lstStyle/>
          <a:p>
            <a:pPr algn="l"/>
            <a:r>
              <a:rPr sz="1400" b="1" i="0">
                <a:solidFill>
                  <a:srgbClr val="1E2761"/>
                </a:solidFill>
                <a:latin typeface="Calibri"/>
              </a:rPr>
              <a:t>Design Assumptions</a:t>
            </a:r>
          </a:p>
        </p:txBody>
      </p:sp>
      <p:sp>
        <p:nvSpPr>
          <p:cNvPr id="9" name="TextBox 8"/>
          <p:cNvSpPr txBox="1"/>
          <p:nvPr/>
        </p:nvSpPr>
        <p:spPr>
          <a:xfrm>
            <a:off x="4617720" y="1417320"/>
            <a:ext cx="4251960" cy="3337560"/>
          </a:xfrm>
          <a:prstGeom prst="rect">
            <a:avLst/>
          </a:prstGeom>
          <a:noFill/>
          <a:ln>
            <a:noFill/>
          </a:ln>
        </p:spPr>
        <p:txBody>
          <a:bodyPr wrap="square" lIns="45720" tIns="27432" rIns="45720" bIns="27432" anchor="t">
            <a:spAutoFit/>
          </a:bodyPr>
          <a:lstStyle/>
          <a:p>
            <a:pPr algn="l">
              <a:spcAft>
                <a:spcPts val="200"/>
              </a:spcAft>
            </a:pPr>
            <a:r>
              <a:rPr sz="1200" b="1" i="0">
                <a:solidFill>
                  <a:srgbClr val="1E2761"/>
                </a:solidFill>
                <a:latin typeface="Calibri"/>
              </a:rPr>
              <a:t>Overflow interpretation</a:t>
            </a:r>
          </a:p>
          <a:p>
            <a:pPr algn="l">
              <a:spcAft>
                <a:spcPts val="1000"/>
              </a:spcAft>
            </a:pPr>
            <a:r>
              <a:rPr sz="1050" b="0" i="0">
                <a:solidFill>
                  <a:srgbClr val="333333"/>
                </a:solidFill>
                <a:latin typeface="Calibri"/>
              </a:rPr>
              <a:t>A 3-bit input maxes out at 7, so the input itself can't exceed range. We treat overflow as the COMPUTED RESULT exceeding 7.</a:t>
            </a:r>
          </a:p>
          <a:p>
            <a:pPr algn="l">
              <a:spcAft>
                <a:spcPts val="200"/>
              </a:spcAft>
            </a:pPr>
            <a:r>
              <a:rPr sz="1200" b="1" i="0">
                <a:solidFill>
                  <a:srgbClr val="1E2761"/>
                </a:solidFill>
                <a:latin typeface="Calibri"/>
              </a:rPr>
              <a:t>Subtraction underflow</a:t>
            </a:r>
          </a:p>
          <a:p>
            <a:pPr algn="l">
              <a:spcAft>
                <a:spcPts val="1000"/>
              </a:spcAft>
            </a:pPr>
            <a:r>
              <a:rPr sz="1050" b="0" i="0">
                <a:solidFill>
                  <a:srgbClr val="333333"/>
                </a:solidFill>
                <a:latin typeface="Calibri"/>
              </a:rPr>
              <a:t>For G − Y, when Y &gt; G the result would be negative. The overflow LED activates and the display shows "=".</a:t>
            </a:r>
          </a:p>
          <a:p>
            <a:pPr algn="l">
              <a:spcAft>
                <a:spcPts val="200"/>
              </a:spcAft>
            </a:pPr>
            <a:r>
              <a:rPr sz="1200" b="1" i="0">
                <a:solidFill>
                  <a:srgbClr val="1E2761"/>
                </a:solidFill>
                <a:latin typeface="Calibri"/>
              </a:rPr>
              <a:t>Display drive</a:t>
            </a:r>
          </a:p>
          <a:p>
            <a:pPr algn="l"/>
            <a:r>
              <a:rPr sz="1050" b="0" i="0">
                <a:solidFill>
                  <a:srgbClr val="333333"/>
                </a:solidFill>
                <a:latin typeface="Calibri"/>
              </a:rPr>
              <a:t>Active-LOW segments per the DE-series Altera FPGA convention. A bit value of 0 means the segment is 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sz="2400" b="1" dirty="0">
                <a:solidFill>
                  <a:srgbClr val="1E2761"/>
                </a:solidFill>
                <a:latin typeface="Calibri"/>
              </a:rPr>
              <a:t>System Block Diagram</a:t>
            </a:r>
          </a:p>
        </p:txBody>
      </p:sp>
      <p:grpSp>
        <p:nvGrpSpPr>
          <p:cNvPr id="6" name="Group 5">
            <a:extLst>
              <a:ext uri="{FF2B5EF4-FFF2-40B4-BE49-F238E27FC236}">
                <a16:creationId xmlns:a16="http://schemas.microsoft.com/office/drawing/2014/main" id="{B079CDD7-46EC-28AC-1967-F03883A04939}"/>
              </a:ext>
            </a:extLst>
          </p:cNvPr>
          <p:cNvGrpSpPr/>
          <p:nvPr/>
        </p:nvGrpSpPr>
        <p:grpSpPr>
          <a:xfrm>
            <a:off x="1010126" y="1188720"/>
            <a:ext cx="7123747" cy="3657600"/>
            <a:chOff x="1010126" y="1188720"/>
            <a:chExt cx="7123747" cy="3657600"/>
          </a:xfrm>
        </p:grpSpPr>
        <p:pic>
          <p:nvPicPr>
            <p:cNvPr id="4" name="Picture 3" descr="block_diagram_clean.png"/>
            <p:cNvPicPr>
              <a:picLocks noChangeAspect="1"/>
            </p:cNvPicPr>
            <p:nvPr/>
          </p:nvPicPr>
          <p:blipFill>
            <a:blip r:embed="rId3"/>
            <a:stretch>
              <a:fillRect/>
            </a:stretch>
          </p:blipFill>
          <p:spPr>
            <a:xfrm>
              <a:off x="1010126" y="1188720"/>
              <a:ext cx="7123747" cy="3657600"/>
            </a:xfrm>
            <a:prstGeom prst="rect">
              <a:avLst/>
            </a:prstGeom>
          </p:spPr>
        </p:pic>
        <p:sp>
          <p:nvSpPr>
            <p:cNvPr id="2" name="Rectangle: Rounded Corners 1">
              <a:extLst>
                <a:ext uri="{FF2B5EF4-FFF2-40B4-BE49-F238E27FC236}">
                  <a16:creationId xmlns:a16="http://schemas.microsoft.com/office/drawing/2014/main" id="{92F65E28-7308-7267-9E9E-59775527BA38}"/>
                </a:ext>
              </a:extLst>
            </p:cNvPr>
            <p:cNvSpPr/>
            <p:nvPr/>
          </p:nvSpPr>
          <p:spPr>
            <a:xfrm>
              <a:off x="1010126" y="4010175"/>
              <a:ext cx="2155011" cy="716965"/>
            </a:xfrm>
            <a:prstGeom prst="roundRect">
              <a:avLst/>
            </a:prstGeom>
            <a:solidFill>
              <a:srgbClr val="FFF6D5"/>
            </a:solidFill>
            <a:ln>
              <a:solidFill>
                <a:srgbClr val="D3A6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rgbClr val="1A235F"/>
                  </a:solidFill>
                </a:rPr>
                <a:t>Bus widths shown by slash + number</a:t>
              </a:r>
            </a:p>
            <a:p>
              <a:pPr algn="ctr"/>
              <a:endParaRPr lang="en-US" sz="800" b="1" dirty="0">
                <a:solidFill>
                  <a:srgbClr val="1A235F"/>
                </a:solidFill>
              </a:endParaRPr>
            </a:p>
            <a:p>
              <a:pPr algn="ctr"/>
              <a:r>
                <a:rPr lang="en-US" sz="800" dirty="0">
                  <a:solidFill>
                    <a:srgbClr val="1A235F"/>
                  </a:solidFill>
                </a:rPr>
                <a:t>D[3:0] = display code </a:t>
              </a:r>
            </a:p>
            <a:p>
              <a:pPr algn="ctr"/>
              <a:r>
                <a:rPr lang="en-US" sz="800" dirty="0">
                  <a:solidFill>
                    <a:srgbClr val="1A235F"/>
                  </a:solidFill>
                </a:rPr>
                <a:t> HEX[6:0] = active-LOW segments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sz="2200" b="1" dirty="0">
                <a:solidFill>
                  <a:srgbClr val="1E2761"/>
                </a:solidFill>
                <a:latin typeface="Calibri"/>
              </a:rPr>
              <a:t>Function Table for the 8 Operations</a:t>
            </a:r>
          </a:p>
        </p:txBody>
      </p:sp>
      <p:sp>
        <p:nvSpPr>
          <p:cNvPr id="4" name="TextBox 3"/>
          <p:cNvSpPr txBox="1"/>
          <p:nvPr/>
        </p:nvSpPr>
        <p:spPr>
          <a:xfrm>
            <a:off x="320040" y="1097280"/>
            <a:ext cx="8503920" cy="320040"/>
          </a:xfrm>
          <a:prstGeom prst="rect">
            <a:avLst/>
          </a:prstGeom>
          <a:noFill/>
          <a:ln>
            <a:noFill/>
          </a:ln>
        </p:spPr>
        <p:txBody>
          <a:bodyPr wrap="square" lIns="45720" tIns="27432" rIns="45720" bIns="27432" anchor="t">
            <a:spAutoFit/>
          </a:bodyPr>
          <a:lstStyle/>
          <a:p>
            <a:pPr algn="l"/>
            <a:r>
              <a:rPr sz="1050" b="0" i="1" dirty="0">
                <a:solidFill>
                  <a:srgbClr val="333333"/>
                </a:solidFill>
                <a:latin typeface="Calibri"/>
              </a:rPr>
              <a:t>S[2:0] selects the operation. G and Y are the 3-bit sensor inputs. D[3:0] is the display code, OF is the overflow flag.</a:t>
            </a:r>
          </a:p>
        </p:txBody>
      </p:sp>
      <p:graphicFrame>
        <p:nvGraphicFramePr>
          <p:cNvPr id="5" name="Table 4"/>
          <p:cNvGraphicFramePr>
            <a:graphicFrameLocks noGrp="1"/>
          </p:cNvGraphicFramePr>
          <p:nvPr/>
        </p:nvGraphicFramePr>
        <p:xfrm>
          <a:off x="320040" y="1508760"/>
          <a:ext cx="8503920" cy="324612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360680">
                <a:tc>
                  <a:txBody>
                    <a:bodyPr/>
                    <a:lstStyle/>
                    <a:p>
                      <a:pPr algn="ctr"/>
                      <a:r>
                        <a:rPr sz="1150" b="1" dirty="0">
                          <a:solidFill>
                            <a:srgbClr val="FFFFFF"/>
                          </a:solidFill>
                          <a:latin typeface="Calibri"/>
                        </a:rPr>
                        <a:t>S[2:0]</a:t>
                      </a:r>
                    </a:p>
                  </a:txBody>
                  <a:tcPr marL="36576" marR="36576" marT="18288" marB="18288" anchor="ctr">
                    <a:solidFill>
                      <a:srgbClr val="1E2761"/>
                    </a:solidFill>
                  </a:tcPr>
                </a:tc>
                <a:tc>
                  <a:txBody>
                    <a:bodyPr/>
                    <a:lstStyle/>
                    <a:p>
                      <a:pPr algn="ctr"/>
                      <a:r>
                        <a:rPr sz="1150" b="1">
                          <a:solidFill>
                            <a:srgbClr val="FFFFFF"/>
                          </a:solidFill>
                          <a:latin typeface="Calibri"/>
                        </a:rPr>
                        <a:t>Operation</a:t>
                      </a:r>
                    </a:p>
                  </a:txBody>
                  <a:tcPr marL="36576" marR="36576" marT="18288" marB="18288" anchor="ctr">
                    <a:solidFill>
                      <a:srgbClr val="1E2761"/>
                    </a:solidFill>
                  </a:tcPr>
                </a:tc>
                <a:tc>
                  <a:txBody>
                    <a:bodyPr/>
                    <a:lstStyle/>
                    <a:p>
                      <a:pPr algn="ctr"/>
                      <a:r>
                        <a:rPr sz="1150" b="1">
                          <a:solidFill>
                            <a:srgbClr val="FFFFFF"/>
                          </a:solidFill>
                          <a:latin typeface="Calibri"/>
                        </a:rPr>
                        <a:t>Computed Output</a:t>
                      </a:r>
                    </a:p>
                  </a:txBody>
                  <a:tcPr marL="36576" marR="36576" marT="18288" marB="18288" anchor="ctr">
                    <a:solidFill>
                      <a:srgbClr val="1E2761"/>
                    </a:solidFill>
                  </a:tcPr>
                </a:tc>
                <a:tc>
                  <a:txBody>
                    <a:bodyPr/>
                    <a:lstStyle/>
                    <a:p>
                      <a:pPr algn="ctr"/>
                      <a:r>
                        <a:rPr sz="1150" b="1">
                          <a:solidFill>
                            <a:srgbClr val="FFFFFF"/>
                          </a:solidFill>
                          <a:latin typeface="Calibri"/>
                        </a:rPr>
                        <a:t>Display when valid</a:t>
                      </a:r>
                    </a:p>
                  </a:txBody>
                  <a:tcPr marL="36576" marR="36576" marT="18288" marB="18288" anchor="ctr">
                    <a:solidFill>
                      <a:srgbClr val="1E2761"/>
                    </a:solidFill>
                  </a:tcPr>
                </a:tc>
                <a:tc>
                  <a:txBody>
                    <a:bodyPr/>
                    <a:lstStyle/>
                    <a:p>
                      <a:pPr algn="ctr"/>
                      <a:r>
                        <a:rPr sz="1150" b="1">
                          <a:solidFill>
                            <a:srgbClr val="FFFFFF"/>
                          </a:solidFill>
                          <a:latin typeface="Calibri"/>
                        </a:rPr>
                        <a:t>Overflow Condition</a:t>
                      </a:r>
                    </a:p>
                  </a:txBody>
                  <a:tcPr marL="36576" marR="36576" marT="18288" marB="18288" anchor="ctr">
                    <a:solidFill>
                      <a:srgbClr val="1E2761"/>
                    </a:solidFill>
                  </a:tcPr>
                </a:tc>
                <a:extLst>
                  <a:ext uri="{0D108BD9-81ED-4DB2-BD59-A6C34878D82A}">
                    <a16:rowId xmlns:a16="http://schemas.microsoft.com/office/drawing/2014/main" val="10000"/>
                  </a:ext>
                </a:extLst>
              </a:tr>
              <a:tr h="360680">
                <a:tc>
                  <a:txBody>
                    <a:bodyPr/>
                    <a:lstStyle/>
                    <a:p>
                      <a:pPr algn="ctr"/>
                      <a:r>
                        <a:rPr sz="1050" b="0">
                          <a:solidFill>
                            <a:srgbClr val="333333"/>
                          </a:solidFill>
                          <a:latin typeface="Consolas"/>
                        </a:rPr>
                        <a:t>000</a:t>
                      </a:r>
                    </a:p>
                  </a:txBody>
                  <a:tcPr marL="36576" marR="36576" marT="18288" marB="18288" anchor="ctr">
                    <a:solidFill>
                      <a:srgbClr val="FFFFFF"/>
                    </a:solidFill>
                  </a:tcPr>
                </a:tc>
                <a:tc>
                  <a:txBody>
                    <a:bodyPr/>
                    <a:lstStyle/>
                    <a:p>
                      <a:pPr algn="l"/>
                      <a:r>
                        <a:rPr sz="1050" b="0">
                          <a:solidFill>
                            <a:srgbClr val="333333"/>
                          </a:solidFill>
                          <a:latin typeface="Calibri"/>
                        </a:rPr>
                        <a:t>Motor Speed</a:t>
                      </a:r>
                    </a:p>
                  </a:txBody>
                  <a:tcPr marL="36576" marR="36576" marT="18288" marB="18288" anchor="ctr">
                    <a:solidFill>
                      <a:srgbClr val="FFFFFF"/>
                    </a:solidFill>
                  </a:tcPr>
                </a:tc>
                <a:tc>
                  <a:txBody>
                    <a:bodyPr/>
                    <a:lstStyle/>
                    <a:p>
                      <a:pPr algn="l"/>
                      <a:r>
                        <a:rPr sz="1050" b="0">
                          <a:solidFill>
                            <a:srgbClr val="333333"/>
                          </a:solidFill>
                          <a:latin typeface="Calibri"/>
                        </a:rPr>
                        <a:t>2 · G</a:t>
                      </a:r>
                    </a:p>
                  </a:txBody>
                  <a:tcPr marL="36576" marR="36576" marT="18288" marB="18288" anchor="ctr">
                    <a:solidFill>
                      <a:srgbClr val="FFFFFF"/>
                    </a:solidFill>
                  </a:tcPr>
                </a:tc>
                <a:tc>
                  <a:txBody>
                    <a:bodyPr/>
                    <a:lstStyle/>
                    <a:p>
                      <a:pPr algn="l"/>
                      <a:r>
                        <a:rPr sz="1050" b="0">
                          <a:solidFill>
                            <a:srgbClr val="333333"/>
                          </a:solidFill>
                          <a:latin typeface="Calibri"/>
                        </a:rPr>
                        <a:t>2G as digit (0–6)</a:t>
                      </a:r>
                    </a:p>
                  </a:txBody>
                  <a:tcPr marL="36576" marR="36576" marT="18288" marB="18288" anchor="ctr">
                    <a:solidFill>
                      <a:srgbClr val="FFFFFF"/>
                    </a:solidFill>
                  </a:tcPr>
                </a:tc>
                <a:tc>
                  <a:txBody>
                    <a:bodyPr/>
                    <a:lstStyle/>
                    <a:p>
                      <a:pPr algn="l"/>
                      <a:r>
                        <a:rPr sz="1050" b="0">
                          <a:solidFill>
                            <a:srgbClr val="333333"/>
                          </a:solidFill>
                          <a:latin typeface="Calibri"/>
                        </a:rPr>
                        <a:t>G ≥ 4</a:t>
                      </a:r>
                    </a:p>
                  </a:txBody>
                  <a:tcPr marL="36576" marR="36576" marT="18288" marB="18288" anchor="ctr">
                    <a:solidFill>
                      <a:srgbClr val="FFFFFF"/>
                    </a:solidFill>
                  </a:tcPr>
                </a:tc>
                <a:extLst>
                  <a:ext uri="{0D108BD9-81ED-4DB2-BD59-A6C34878D82A}">
                    <a16:rowId xmlns:a16="http://schemas.microsoft.com/office/drawing/2014/main" val="10001"/>
                  </a:ext>
                </a:extLst>
              </a:tr>
              <a:tr h="360680">
                <a:tc>
                  <a:txBody>
                    <a:bodyPr/>
                    <a:lstStyle/>
                    <a:p>
                      <a:pPr algn="ctr"/>
                      <a:r>
                        <a:rPr sz="1050" b="0">
                          <a:solidFill>
                            <a:srgbClr val="333333"/>
                          </a:solidFill>
                          <a:latin typeface="Consolas"/>
                        </a:rPr>
                        <a:t>001</a:t>
                      </a:r>
                    </a:p>
                  </a:txBody>
                  <a:tcPr marL="36576" marR="36576" marT="18288" marB="18288" anchor="ctr">
                    <a:solidFill>
                      <a:srgbClr val="F2F4F8"/>
                    </a:solidFill>
                  </a:tcPr>
                </a:tc>
                <a:tc>
                  <a:txBody>
                    <a:bodyPr/>
                    <a:lstStyle/>
                    <a:p>
                      <a:pPr algn="l"/>
                      <a:r>
                        <a:rPr sz="1050" b="0">
                          <a:solidFill>
                            <a:srgbClr val="333333"/>
                          </a:solidFill>
                          <a:latin typeface="Calibri"/>
                        </a:rPr>
                        <a:t>Turning Angle</a:t>
                      </a:r>
                    </a:p>
                  </a:txBody>
                  <a:tcPr marL="36576" marR="36576" marT="18288" marB="18288" anchor="ctr">
                    <a:solidFill>
                      <a:srgbClr val="F2F4F8"/>
                    </a:solidFill>
                  </a:tcPr>
                </a:tc>
                <a:tc>
                  <a:txBody>
                    <a:bodyPr/>
                    <a:lstStyle/>
                    <a:p>
                      <a:pPr algn="l"/>
                      <a:r>
                        <a:rPr sz="1050" b="0">
                          <a:solidFill>
                            <a:srgbClr val="333333"/>
                          </a:solidFill>
                          <a:latin typeface="Calibri"/>
                        </a:rPr>
                        <a:t>3 · Y</a:t>
                      </a:r>
                    </a:p>
                  </a:txBody>
                  <a:tcPr marL="36576" marR="36576" marT="18288" marB="18288" anchor="ctr">
                    <a:solidFill>
                      <a:srgbClr val="F2F4F8"/>
                    </a:solidFill>
                  </a:tcPr>
                </a:tc>
                <a:tc>
                  <a:txBody>
                    <a:bodyPr/>
                    <a:lstStyle/>
                    <a:p>
                      <a:pPr algn="l"/>
                      <a:r>
                        <a:rPr sz="1050" b="0">
                          <a:solidFill>
                            <a:srgbClr val="333333"/>
                          </a:solidFill>
                          <a:latin typeface="Calibri"/>
                        </a:rPr>
                        <a:t>3Y as digit (0, 3, 6)</a:t>
                      </a:r>
                    </a:p>
                  </a:txBody>
                  <a:tcPr marL="36576" marR="36576" marT="18288" marB="18288" anchor="ctr">
                    <a:solidFill>
                      <a:srgbClr val="F2F4F8"/>
                    </a:solidFill>
                  </a:tcPr>
                </a:tc>
                <a:tc>
                  <a:txBody>
                    <a:bodyPr/>
                    <a:lstStyle/>
                    <a:p>
                      <a:pPr algn="l"/>
                      <a:r>
                        <a:rPr sz="1050" b="0">
                          <a:solidFill>
                            <a:srgbClr val="333333"/>
                          </a:solidFill>
                          <a:latin typeface="Calibri"/>
                        </a:rPr>
                        <a:t>Y ≥ 3</a:t>
                      </a:r>
                    </a:p>
                  </a:txBody>
                  <a:tcPr marL="36576" marR="36576" marT="18288" marB="18288" anchor="ctr">
                    <a:solidFill>
                      <a:srgbClr val="F2F4F8"/>
                    </a:solidFill>
                  </a:tcPr>
                </a:tc>
                <a:extLst>
                  <a:ext uri="{0D108BD9-81ED-4DB2-BD59-A6C34878D82A}">
                    <a16:rowId xmlns:a16="http://schemas.microsoft.com/office/drawing/2014/main" val="10002"/>
                  </a:ext>
                </a:extLst>
              </a:tr>
              <a:tr h="360680">
                <a:tc>
                  <a:txBody>
                    <a:bodyPr/>
                    <a:lstStyle/>
                    <a:p>
                      <a:pPr algn="ctr"/>
                      <a:r>
                        <a:rPr sz="1050" b="0">
                          <a:solidFill>
                            <a:srgbClr val="333333"/>
                          </a:solidFill>
                          <a:latin typeface="Consolas"/>
                        </a:rPr>
                        <a:t>010</a:t>
                      </a:r>
                    </a:p>
                  </a:txBody>
                  <a:tcPr marL="36576" marR="36576" marT="18288" marB="18288" anchor="ctr">
                    <a:solidFill>
                      <a:srgbClr val="FFFFFF"/>
                    </a:solidFill>
                  </a:tcPr>
                </a:tc>
                <a:tc>
                  <a:txBody>
                    <a:bodyPr/>
                    <a:lstStyle/>
                    <a:p>
                      <a:pPr algn="l"/>
                      <a:r>
                        <a:rPr sz="1050" b="0">
                          <a:solidFill>
                            <a:srgbClr val="333333"/>
                          </a:solidFill>
                          <a:latin typeface="Calibri"/>
                        </a:rPr>
                        <a:t>Sensor Compare</a:t>
                      </a:r>
                    </a:p>
                  </a:txBody>
                  <a:tcPr marL="36576" marR="36576" marT="18288" marB="18288" anchor="ctr">
                    <a:solidFill>
                      <a:srgbClr val="FFFFFF"/>
                    </a:solidFill>
                  </a:tcPr>
                </a:tc>
                <a:tc>
                  <a:txBody>
                    <a:bodyPr/>
                    <a:lstStyle/>
                    <a:p>
                      <a:pPr algn="l"/>
                      <a:r>
                        <a:rPr sz="1050" b="0">
                          <a:solidFill>
                            <a:srgbClr val="333333"/>
                          </a:solidFill>
                          <a:latin typeface="Calibri"/>
                        </a:rPr>
                        <a:t>E if G = Y else U</a:t>
                      </a:r>
                    </a:p>
                  </a:txBody>
                  <a:tcPr marL="36576" marR="36576" marT="18288" marB="18288" anchor="ctr">
                    <a:solidFill>
                      <a:srgbClr val="FFFFFF"/>
                    </a:solidFill>
                  </a:tcPr>
                </a:tc>
                <a:tc>
                  <a:txBody>
                    <a:bodyPr/>
                    <a:lstStyle/>
                    <a:p>
                      <a:pPr algn="l"/>
                      <a:r>
                        <a:rPr sz="1050" b="0">
                          <a:solidFill>
                            <a:srgbClr val="333333"/>
                          </a:solidFill>
                          <a:latin typeface="Calibri"/>
                        </a:rPr>
                        <a:t>E or U</a:t>
                      </a:r>
                    </a:p>
                  </a:txBody>
                  <a:tcPr marL="36576" marR="36576" marT="18288" marB="18288" anchor="ctr">
                    <a:solidFill>
                      <a:srgbClr val="FFFFFF"/>
                    </a:solidFill>
                  </a:tcPr>
                </a:tc>
                <a:tc>
                  <a:txBody>
                    <a:bodyPr/>
                    <a:lstStyle/>
                    <a:p>
                      <a:pPr algn="l"/>
                      <a:r>
                        <a:rPr sz="1050" b="0" dirty="0">
                          <a:solidFill>
                            <a:srgbClr val="333333"/>
                          </a:solidFill>
                          <a:latin typeface="Calibri"/>
                        </a:rPr>
                        <a:t>never</a:t>
                      </a:r>
                    </a:p>
                  </a:txBody>
                  <a:tcPr marL="36576" marR="36576" marT="18288" marB="18288" anchor="ctr">
                    <a:solidFill>
                      <a:srgbClr val="FFFFFF"/>
                    </a:solidFill>
                  </a:tcPr>
                </a:tc>
                <a:extLst>
                  <a:ext uri="{0D108BD9-81ED-4DB2-BD59-A6C34878D82A}">
                    <a16:rowId xmlns:a16="http://schemas.microsoft.com/office/drawing/2014/main" val="10003"/>
                  </a:ext>
                </a:extLst>
              </a:tr>
              <a:tr h="360680">
                <a:tc>
                  <a:txBody>
                    <a:bodyPr/>
                    <a:lstStyle/>
                    <a:p>
                      <a:pPr algn="ctr"/>
                      <a:r>
                        <a:rPr sz="1050" b="0">
                          <a:solidFill>
                            <a:srgbClr val="333333"/>
                          </a:solidFill>
                          <a:latin typeface="Consolas"/>
                        </a:rPr>
                        <a:t>011</a:t>
                      </a:r>
                    </a:p>
                  </a:txBody>
                  <a:tcPr marL="36576" marR="36576" marT="18288" marB="18288" anchor="ctr">
                    <a:solidFill>
                      <a:srgbClr val="F2F4F8"/>
                    </a:solidFill>
                  </a:tcPr>
                </a:tc>
                <a:tc>
                  <a:txBody>
                    <a:bodyPr/>
                    <a:lstStyle/>
                    <a:p>
                      <a:pPr algn="l"/>
                      <a:r>
                        <a:rPr sz="1050" b="0">
                          <a:solidFill>
                            <a:srgbClr val="333333"/>
                          </a:solidFill>
                          <a:latin typeface="Calibri"/>
                        </a:rPr>
                        <a:t>Forward Adjust</a:t>
                      </a:r>
                    </a:p>
                  </a:txBody>
                  <a:tcPr marL="36576" marR="36576" marT="18288" marB="18288" anchor="ctr">
                    <a:solidFill>
                      <a:srgbClr val="F2F4F8"/>
                    </a:solidFill>
                  </a:tcPr>
                </a:tc>
                <a:tc>
                  <a:txBody>
                    <a:bodyPr/>
                    <a:lstStyle/>
                    <a:p>
                      <a:pPr algn="l"/>
                      <a:r>
                        <a:rPr sz="1050" b="0">
                          <a:solidFill>
                            <a:srgbClr val="333333"/>
                          </a:solidFill>
                          <a:latin typeface="Calibri"/>
                        </a:rPr>
                        <a:t>G + 3</a:t>
                      </a:r>
                    </a:p>
                  </a:txBody>
                  <a:tcPr marL="36576" marR="36576" marT="18288" marB="18288" anchor="ctr">
                    <a:solidFill>
                      <a:srgbClr val="F2F4F8"/>
                    </a:solidFill>
                  </a:tcPr>
                </a:tc>
                <a:tc>
                  <a:txBody>
                    <a:bodyPr/>
                    <a:lstStyle/>
                    <a:p>
                      <a:pPr algn="l"/>
                      <a:r>
                        <a:rPr sz="1050" b="0">
                          <a:solidFill>
                            <a:srgbClr val="333333"/>
                          </a:solidFill>
                          <a:latin typeface="Calibri"/>
                        </a:rPr>
                        <a:t>G+3 as digit (3–7)</a:t>
                      </a:r>
                    </a:p>
                  </a:txBody>
                  <a:tcPr marL="36576" marR="36576" marT="18288" marB="18288" anchor="ctr">
                    <a:solidFill>
                      <a:srgbClr val="F2F4F8"/>
                    </a:solidFill>
                  </a:tcPr>
                </a:tc>
                <a:tc>
                  <a:txBody>
                    <a:bodyPr/>
                    <a:lstStyle/>
                    <a:p>
                      <a:pPr algn="l"/>
                      <a:r>
                        <a:rPr sz="1050" b="0">
                          <a:solidFill>
                            <a:srgbClr val="333333"/>
                          </a:solidFill>
                          <a:latin typeface="Calibri"/>
                        </a:rPr>
                        <a:t>G ≥ 5</a:t>
                      </a:r>
                    </a:p>
                  </a:txBody>
                  <a:tcPr marL="36576" marR="36576" marT="18288" marB="18288" anchor="ctr">
                    <a:solidFill>
                      <a:srgbClr val="F2F4F8"/>
                    </a:solidFill>
                  </a:tcPr>
                </a:tc>
                <a:extLst>
                  <a:ext uri="{0D108BD9-81ED-4DB2-BD59-A6C34878D82A}">
                    <a16:rowId xmlns:a16="http://schemas.microsoft.com/office/drawing/2014/main" val="10004"/>
                  </a:ext>
                </a:extLst>
              </a:tr>
              <a:tr h="360680">
                <a:tc>
                  <a:txBody>
                    <a:bodyPr/>
                    <a:lstStyle/>
                    <a:p>
                      <a:pPr algn="ctr"/>
                      <a:r>
                        <a:rPr sz="1050" b="0">
                          <a:solidFill>
                            <a:srgbClr val="333333"/>
                          </a:solidFill>
                          <a:latin typeface="Consolas"/>
                        </a:rPr>
                        <a:t>100</a:t>
                      </a:r>
                    </a:p>
                  </a:txBody>
                  <a:tcPr marL="36576" marR="36576" marT="18288" marB="18288" anchor="ctr">
                    <a:solidFill>
                      <a:srgbClr val="FFFFFF"/>
                    </a:solidFill>
                  </a:tcPr>
                </a:tc>
                <a:tc>
                  <a:txBody>
                    <a:bodyPr/>
                    <a:lstStyle/>
                    <a:p>
                      <a:pPr algn="l"/>
                      <a:r>
                        <a:rPr sz="1050" b="0">
                          <a:solidFill>
                            <a:srgbClr val="333333"/>
                          </a:solidFill>
                          <a:latin typeface="Calibri"/>
                        </a:rPr>
                        <a:t>Clearance</a:t>
                      </a:r>
                    </a:p>
                  </a:txBody>
                  <a:tcPr marL="36576" marR="36576" marT="18288" marB="18288" anchor="ctr">
                    <a:solidFill>
                      <a:srgbClr val="FFFFFF"/>
                    </a:solidFill>
                  </a:tcPr>
                </a:tc>
                <a:tc>
                  <a:txBody>
                    <a:bodyPr/>
                    <a:lstStyle/>
                    <a:p>
                      <a:pPr algn="l"/>
                      <a:r>
                        <a:rPr sz="1050" b="0">
                          <a:solidFill>
                            <a:srgbClr val="333333"/>
                          </a:solidFill>
                          <a:latin typeface="Calibri"/>
                        </a:rPr>
                        <a:t>7 − Y</a:t>
                      </a:r>
                    </a:p>
                  </a:txBody>
                  <a:tcPr marL="36576" marR="36576" marT="18288" marB="18288" anchor="ctr">
                    <a:solidFill>
                      <a:srgbClr val="FFFFFF"/>
                    </a:solidFill>
                  </a:tcPr>
                </a:tc>
                <a:tc>
                  <a:txBody>
                    <a:bodyPr/>
                    <a:lstStyle/>
                    <a:p>
                      <a:pPr algn="l"/>
                      <a:r>
                        <a:rPr sz="1050" b="0">
                          <a:solidFill>
                            <a:srgbClr val="333333"/>
                          </a:solidFill>
                          <a:latin typeface="Calibri"/>
                        </a:rPr>
                        <a:t>(7−Y) as digit</a:t>
                      </a:r>
                    </a:p>
                  </a:txBody>
                  <a:tcPr marL="36576" marR="36576" marT="18288" marB="18288" anchor="ctr">
                    <a:solidFill>
                      <a:srgbClr val="FFFFFF"/>
                    </a:solidFill>
                  </a:tcPr>
                </a:tc>
                <a:tc>
                  <a:txBody>
                    <a:bodyPr/>
                    <a:lstStyle/>
                    <a:p>
                      <a:pPr algn="l"/>
                      <a:r>
                        <a:rPr sz="1050" b="0">
                          <a:solidFill>
                            <a:srgbClr val="333333"/>
                          </a:solidFill>
                          <a:latin typeface="Calibri"/>
                        </a:rPr>
                        <a:t>never</a:t>
                      </a:r>
                    </a:p>
                  </a:txBody>
                  <a:tcPr marL="36576" marR="36576" marT="18288" marB="18288" anchor="ctr">
                    <a:solidFill>
                      <a:srgbClr val="FFFFFF"/>
                    </a:solidFill>
                  </a:tcPr>
                </a:tc>
                <a:extLst>
                  <a:ext uri="{0D108BD9-81ED-4DB2-BD59-A6C34878D82A}">
                    <a16:rowId xmlns:a16="http://schemas.microsoft.com/office/drawing/2014/main" val="10005"/>
                  </a:ext>
                </a:extLst>
              </a:tr>
              <a:tr h="360680">
                <a:tc>
                  <a:txBody>
                    <a:bodyPr/>
                    <a:lstStyle/>
                    <a:p>
                      <a:pPr algn="ctr"/>
                      <a:r>
                        <a:rPr sz="1050" b="0">
                          <a:solidFill>
                            <a:srgbClr val="333333"/>
                          </a:solidFill>
                          <a:latin typeface="Consolas"/>
                        </a:rPr>
                        <a:t>101</a:t>
                      </a:r>
                    </a:p>
                  </a:txBody>
                  <a:tcPr marL="36576" marR="36576" marT="18288" marB="18288" anchor="ctr">
                    <a:solidFill>
                      <a:srgbClr val="F2F4F8"/>
                    </a:solidFill>
                  </a:tcPr>
                </a:tc>
                <a:tc>
                  <a:txBody>
                    <a:bodyPr/>
                    <a:lstStyle/>
                    <a:p>
                      <a:pPr algn="l"/>
                      <a:r>
                        <a:rPr sz="1050" b="0">
                          <a:solidFill>
                            <a:srgbClr val="333333"/>
                          </a:solidFill>
                          <a:latin typeface="Calibri"/>
                        </a:rPr>
                        <a:t>Path Average</a:t>
                      </a:r>
                    </a:p>
                  </a:txBody>
                  <a:tcPr marL="36576" marR="36576" marT="18288" marB="18288" anchor="ctr">
                    <a:solidFill>
                      <a:srgbClr val="F2F4F8"/>
                    </a:solidFill>
                  </a:tcPr>
                </a:tc>
                <a:tc>
                  <a:txBody>
                    <a:bodyPr/>
                    <a:lstStyle/>
                    <a:p>
                      <a:pPr algn="l"/>
                      <a:r>
                        <a:rPr sz="1050" b="0">
                          <a:solidFill>
                            <a:srgbClr val="333333"/>
                          </a:solidFill>
                          <a:latin typeface="Calibri"/>
                        </a:rPr>
                        <a:t>⌊(G + Y) / 2⌋</a:t>
                      </a:r>
                    </a:p>
                  </a:txBody>
                  <a:tcPr marL="36576" marR="36576" marT="18288" marB="18288" anchor="ctr">
                    <a:solidFill>
                      <a:srgbClr val="F2F4F8"/>
                    </a:solidFill>
                  </a:tcPr>
                </a:tc>
                <a:tc>
                  <a:txBody>
                    <a:bodyPr/>
                    <a:lstStyle/>
                    <a:p>
                      <a:pPr algn="l"/>
                      <a:r>
                        <a:rPr sz="1050" b="0">
                          <a:solidFill>
                            <a:srgbClr val="333333"/>
                          </a:solidFill>
                          <a:latin typeface="Calibri"/>
                        </a:rPr>
                        <a:t>avg as digit (0–7)</a:t>
                      </a:r>
                    </a:p>
                  </a:txBody>
                  <a:tcPr marL="36576" marR="36576" marT="18288" marB="18288" anchor="ctr">
                    <a:solidFill>
                      <a:srgbClr val="F2F4F8"/>
                    </a:solidFill>
                  </a:tcPr>
                </a:tc>
                <a:tc>
                  <a:txBody>
                    <a:bodyPr/>
                    <a:lstStyle/>
                    <a:p>
                      <a:pPr algn="l"/>
                      <a:r>
                        <a:rPr sz="1050" b="0">
                          <a:solidFill>
                            <a:srgbClr val="333333"/>
                          </a:solidFill>
                          <a:latin typeface="Calibri"/>
                        </a:rPr>
                        <a:t>never</a:t>
                      </a:r>
                    </a:p>
                  </a:txBody>
                  <a:tcPr marL="36576" marR="36576" marT="18288" marB="18288" anchor="ctr">
                    <a:solidFill>
                      <a:srgbClr val="F2F4F8"/>
                    </a:solidFill>
                  </a:tcPr>
                </a:tc>
                <a:extLst>
                  <a:ext uri="{0D108BD9-81ED-4DB2-BD59-A6C34878D82A}">
                    <a16:rowId xmlns:a16="http://schemas.microsoft.com/office/drawing/2014/main" val="10006"/>
                  </a:ext>
                </a:extLst>
              </a:tr>
              <a:tr h="360680">
                <a:tc>
                  <a:txBody>
                    <a:bodyPr/>
                    <a:lstStyle/>
                    <a:p>
                      <a:pPr algn="ctr"/>
                      <a:r>
                        <a:rPr sz="1050" b="0">
                          <a:solidFill>
                            <a:srgbClr val="333333"/>
                          </a:solidFill>
                          <a:latin typeface="Consolas"/>
                        </a:rPr>
                        <a:t>110</a:t>
                      </a:r>
                    </a:p>
                  </a:txBody>
                  <a:tcPr marL="36576" marR="36576" marT="18288" marB="18288" anchor="ctr">
                    <a:solidFill>
                      <a:srgbClr val="FFFFFF"/>
                    </a:solidFill>
                  </a:tcPr>
                </a:tc>
                <a:tc>
                  <a:txBody>
                    <a:bodyPr/>
                    <a:lstStyle/>
                    <a:p>
                      <a:pPr algn="l"/>
                      <a:r>
                        <a:rPr sz="1050" b="0">
                          <a:solidFill>
                            <a:srgbClr val="333333"/>
                          </a:solidFill>
                          <a:latin typeface="Calibri"/>
                        </a:rPr>
                        <a:t>Difference</a:t>
                      </a:r>
                    </a:p>
                  </a:txBody>
                  <a:tcPr marL="36576" marR="36576" marT="18288" marB="18288" anchor="ctr">
                    <a:solidFill>
                      <a:srgbClr val="FFFFFF"/>
                    </a:solidFill>
                  </a:tcPr>
                </a:tc>
                <a:tc>
                  <a:txBody>
                    <a:bodyPr/>
                    <a:lstStyle/>
                    <a:p>
                      <a:pPr algn="l"/>
                      <a:r>
                        <a:rPr sz="1050" b="0">
                          <a:solidFill>
                            <a:srgbClr val="333333"/>
                          </a:solidFill>
                          <a:latin typeface="Calibri"/>
                        </a:rPr>
                        <a:t>G − Y</a:t>
                      </a:r>
                    </a:p>
                  </a:txBody>
                  <a:tcPr marL="36576" marR="36576" marT="18288" marB="18288" anchor="ctr">
                    <a:solidFill>
                      <a:srgbClr val="FFFFFF"/>
                    </a:solidFill>
                  </a:tcPr>
                </a:tc>
                <a:tc>
                  <a:txBody>
                    <a:bodyPr/>
                    <a:lstStyle/>
                    <a:p>
                      <a:pPr algn="l"/>
                      <a:r>
                        <a:rPr sz="1050" b="0">
                          <a:solidFill>
                            <a:srgbClr val="333333"/>
                          </a:solidFill>
                          <a:latin typeface="Calibri"/>
                        </a:rPr>
                        <a:t>(G−Y) as digit</a:t>
                      </a:r>
                    </a:p>
                  </a:txBody>
                  <a:tcPr marL="36576" marR="36576" marT="18288" marB="18288" anchor="ctr">
                    <a:solidFill>
                      <a:srgbClr val="FFFFFF"/>
                    </a:solidFill>
                  </a:tcPr>
                </a:tc>
                <a:tc>
                  <a:txBody>
                    <a:bodyPr/>
                    <a:lstStyle/>
                    <a:p>
                      <a:pPr algn="l"/>
                      <a:r>
                        <a:rPr sz="1050" b="0">
                          <a:solidFill>
                            <a:srgbClr val="333333"/>
                          </a:solidFill>
                          <a:latin typeface="Calibri"/>
                        </a:rPr>
                        <a:t>Y &gt; G</a:t>
                      </a:r>
                    </a:p>
                  </a:txBody>
                  <a:tcPr marL="36576" marR="36576" marT="18288" marB="18288" anchor="ctr">
                    <a:solidFill>
                      <a:srgbClr val="FFFFFF"/>
                    </a:solidFill>
                  </a:tcPr>
                </a:tc>
                <a:extLst>
                  <a:ext uri="{0D108BD9-81ED-4DB2-BD59-A6C34878D82A}">
                    <a16:rowId xmlns:a16="http://schemas.microsoft.com/office/drawing/2014/main" val="10007"/>
                  </a:ext>
                </a:extLst>
              </a:tr>
              <a:tr h="360680">
                <a:tc>
                  <a:txBody>
                    <a:bodyPr/>
                    <a:lstStyle/>
                    <a:p>
                      <a:pPr algn="ctr"/>
                      <a:r>
                        <a:rPr sz="1050" b="0">
                          <a:solidFill>
                            <a:srgbClr val="333333"/>
                          </a:solidFill>
                          <a:latin typeface="Consolas"/>
                        </a:rPr>
                        <a:t>111</a:t>
                      </a:r>
                    </a:p>
                  </a:txBody>
                  <a:tcPr marL="36576" marR="36576" marT="18288" marB="18288" anchor="ctr">
                    <a:solidFill>
                      <a:srgbClr val="F2F4F8"/>
                    </a:solidFill>
                  </a:tcPr>
                </a:tc>
                <a:tc>
                  <a:txBody>
                    <a:bodyPr/>
                    <a:lstStyle/>
                    <a:p>
                      <a:pPr algn="l"/>
                      <a:r>
                        <a:rPr sz="1050" b="0" dirty="0">
                          <a:solidFill>
                            <a:srgbClr val="333333"/>
                          </a:solidFill>
                          <a:latin typeface="Calibri"/>
                        </a:rPr>
                        <a:t>System Off</a:t>
                      </a:r>
                    </a:p>
                  </a:txBody>
                  <a:tcPr marL="36576" marR="36576" marT="18288" marB="18288" anchor="ctr">
                    <a:solidFill>
                      <a:srgbClr val="F2F4F8"/>
                    </a:solidFill>
                  </a:tcPr>
                </a:tc>
                <a:tc>
                  <a:txBody>
                    <a:bodyPr/>
                    <a:lstStyle/>
                    <a:p>
                      <a:pPr algn="l"/>
                      <a:r>
                        <a:rPr sz="1050" b="0">
                          <a:solidFill>
                            <a:srgbClr val="333333"/>
                          </a:solidFill>
                          <a:latin typeface="Calibri"/>
                        </a:rPr>
                        <a:t>none</a:t>
                      </a:r>
                    </a:p>
                  </a:txBody>
                  <a:tcPr marL="36576" marR="36576" marT="18288" marB="18288" anchor="ctr">
                    <a:solidFill>
                      <a:srgbClr val="F2F4F8"/>
                    </a:solidFill>
                  </a:tcPr>
                </a:tc>
                <a:tc>
                  <a:txBody>
                    <a:bodyPr/>
                    <a:lstStyle/>
                    <a:p>
                      <a:pPr algn="l"/>
                      <a:r>
                        <a:rPr sz="1050" b="0">
                          <a:solidFill>
                            <a:srgbClr val="333333"/>
                          </a:solidFill>
                          <a:latin typeface="Calibri"/>
                        </a:rPr>
                        <a:t>blank</a:t>
                      </a:r>
                    </a:p>
                  </a:txBody>
                  <a:tcPr marL="36576" marR="36576" marT="18288" marB="18288" anchor="ctr">
                    <a:solidFill>
                      <a:srgbClr val="F2F4F8"/>
                    </a:solidFill>
                  </a:tcPr>
                </a:tc>
                <a:tc>
                  <a:txBody>
                    <a:bodyPr/>
                    <a:lstStyle/>
                    <a:p>
                      <a:pPr algn="l"/>
                      <a:r>
                        <a:rPr sz="1050" b="0" dirty="0">
                          <a:solidFill>
                            <a:srgbClr val="333333"/>
                          </a:solidFill>
                          <a:latin typeface="Calibri"/>
                        </a:rPr>
                        <a:t>never</a:t>
                      </a:r>
                    </a:p>
                  </a:txBody>
                  <a:tcPr marL="36576" marR="36576" marT="18288" marB="18288" anchor="ctr">
                    <a:solidFill>
                      <a:srgbClr val="F2F4F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10896" y="365760"/>
            <a:ext cx="8522208" cy="576072"/>
          </a:xfrm>
        </p:spPr>
        <p:txBody>
          <a:bodyPr wrap="square" lIns="18288" tIns="18288" rIns="18288" bIns="18288" anchor="ctr"/>
          <a:lstStyle/>
          <a:p>
            <a:pPr algn="l"/>
            <a:r>
              <a:rPr sz="2200" b="1" dirty="0">
                <a:solidFill>
                  <a:srgbClr val="1E2761"/>
                </a:solidFill>
                <a:latin typeface="Calibri"/>
              </a:rPr>
              <a:t>Motor Speed (S = 000)</a:t>
            </a:r>
          </a:p>
        </p:txBody>
      </p:sp>
      <p:sp>
        <p:nvSpPr>
          <p:cNvPr id="4" name="TextBox 3"/>
          <p:cNvSpPr txBox="1"/>
          <p:nvPr/>
        </p:nvSpPr>
        <p:spPr>
          <a:xfrm>
            <a:off x="310896" y="1005840"/>
            <a:ext cx="8522208" cy="256032"/>
          </a:xfrm>
          <a:prstGeom prst="rect">
            <a:avLst/>
          </a:prstGeom>
          <a:noFill/>
        </p:spPr>
        <p:txBody>
          <a:bodyPr wrap="square" lIns="36576" tIns="18288" rIns="36576" bIns="18288">
            <a:spAutoFit/>
          </a:bodyPr>
          <a:lstStyle/>
          <a:p>
            <a:r>
              <a:rPr sz="1050" b="0" i="1">
                <a:solidFill>
                  <a:srgbClr val="5C5C5C"/>
                </a:solidFill>
                <a:latin typeface="Calibri"/>
              </a:rPr>
              <a:t>Front sensor scaled by 2 for drive output. Overflows when 2G ≥ 8 (i.e. G ≥ 4).</a:t>
            </a:r>
          </a:p>
        </p:txBody>
      </p:sp>
      <p:graphicFrame>
        <p:nvGraphicFramePr>
          <p:cNvPr id="5" name="Table 4"/>
          <p:cNvGraphicFramePr>
            <a:graphicFrameLocks noGrp="1"/>
          </p:cNvGraphicFramePr>
          <p:nvPr/>
        </p:nvGraphicFramePr>
        <p:xfrm>
          <a:off x="274320" y="1371600"/>
          <a:ext cx="2350008" cy="2926080"/>
        </p:xfrm>
        <a:graphic>
          <a:graphicData uri="http://schemas.openxmlformats.org/drawingml/2006/table">
            <a:tbl>
              <a:tblPr firstRow="1" bandRow="1">
                <a:tableStyleId>{5C22544A-7EE6-4342-B048-85BDC9FD1C3A}</a:tableStyleId>
              </a:tblPr>
              <a:tblGrid>
                <a:gridCol w="658368">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411480">
                  <a:extLst>
                    <a:ext uri="{9D8B030D-6E8A-4147-A177-3AD203B41FA5}">
                      <a16:colId xmlns:a16="http://schemas.microsoft.com/office/drawing/2014/main" val="20003"/>
                    </a:ext>
                  </a:extLst>
                </a:gridCol>
              </a:tblGrid>
              <a:tr h="325120">
                <a:tc>
                  <a:txBody>
                    <a:bodyPr/>
                    <a:lstStyle/>
                    <a:p>
                      <a:pPr algn="ctr"/>
                      <a:r>
                        <a:rPr sz="1000" b="1" i="0" dirty="0">
                          <a:solidFill>
                            <a:srgbClr val="FFFFFF"/>
                          </a:solidFill>
                          <a:latin typeface="Calibri"/>
                        </a:rPr>
                        <a:t>G[2:0]</a:t>
                      </a:r>
                    </a:p>
                  </a:txBody>
                  <a:tcPr>
                    <a:solidFill>
                      <a:srgbClr val="1E2761"/>
                    </a:solidFill>
                  </a:tcPr>
                </a:tc>
                <a:tc>
                  <a:txBody>
                    <a:bodyPr/>
                    <a:lstStyle/>
                    <a:p>
                      <a:pPr algn="ctr"/>
                      <a:r>
                        <a:rPr sz="1000" b="1" i="0">
                          <a:solidFill>
                            <a:srgbClr val="FFFFFF"/>
                          </a:solidFill>
                          <a:latin typeface="Calibri"/>
                        </a:rPr>
                        <a:t>2·G</a:t>
                      </a:r>
                    </a:p>
                  </a:txBody>
                  <a:tcPr>
                    <a:solidFill>
                      <a:srgbClr val="1E2761"/>
                    </a:solidFill>
                  </a:tcPr>
                </a:tc>
                <a:tc>
                  <a:txBody>
                    <a:bodyPr/>
                    <a:lstStyle/>
                    <a:p>
                      <a:pPr algn="ctr"/>
                      <a:r>
                        <a:rPr sz="1000" b="1" i="0">
                          <a:solidFill>
                            <a:srgbClr val="FFFFFF"/>
                          </a:solidFill>
                          <a:latin typeface="Calibri"/>
                        </a:rPr>
                        <a:t>D[3:0]</a:t>
                      </a:r>
                    </a:p>
                  </a:txBody>
                  <a:tcPr>
                    <a:solidFill>
                      <a:srgbClr val="1E2761"/>
                    </a:solidFill>
                  </a:tcPr>
                </a:tc>
                <a:tc>
                  <a:txBody>
                    <a:bodyPr/>
                    <a:lstStyle/>
                    <a:p>
                      <a:pPr algn="ctr"/>
                      <a:r>
                        <a:rPr sz="1000" b="1" i="0" dirty="0">
                          <a:solidFill>
                            <a:srgbClr val="FFFFFF"/>
                          </a:solidFill>
                          <a:latin typeface="Calibri"/>
                        </a:rPr>
                        <a:t>OF</a:t>
                      </a:r>
                    </a:p>
                  </a:txBody>
                  <a:tcPr>
                    <a:solidFill>
                      <a:srgbClr val="1E2761"/>
                    </a:solidFill>
                  </a:tcPr>
                </a:tc>
                <a:extLst>
                  <a:ext uri="{0D108BD9-81ED-4DB2-BD59-A6C34878D82A}">
                    <a16:rowId xmlns:a16="http://schemas.microsoft.com/office/drawing/2014/main" val="10000"/>
                  </a:ext>
                </a:extLst>
              </a:tr>
              <a:tr h="325120">
                <a:tc>
                  <a:txBody>
                    <a:bodyPr/>
                    <a:lstStyle/>
                    <a:p>
                      <a:pPr algn="ctr"/>
                      <a:r>
                        <a:rPr sz="1000" b="0" i="0">
                          <a:solidFill>
                            <a:srgbClr val="21295C"/>
                          </a:solidFill>
                          <a:latin typeface="Consolas"/>
                        </a:rPr>
                        <a:t>000</a:t>
                      </a:r>
                    </a:p>
                  </a:txBody>
                  <a:tcPr>
                    <a:solidFill>
                      <a:srgbClr val="FFFFFF"/>
                    </a:solidFill>
                  </a:tcPr>
                </a:tc>
                <a:tc>
                  <a:txBody>
                    <a:bodyPr/>
                    <a:lstStyle/>
                    <a:p>
                      <a:pPr algn="ctr"/>
                      <a:r>
                        <a:rPr sz="1000" b="0" i="0">
                          <a:solidFill>
                            <a:srgbClr val="21295C"/>
                          </a:solidFill>
                          <a:latin typeface="Calibri"/>
                        </a:rPr>
                        <a:t>0</a:t>
                      </a:r>
                    </a:p>
                  </a:txBody>
                  <a:tcPr>
                    <a:solidFill>
                      <a:srgbClr val="FFFFFF"/>
                    </a:solidFill>
                  </a:tcPr>
                </a:tc>
                <a:tc>
                  <a:txBody>
                    <a:bodyPr/>
                    <a:lstStyle/>
                    <a:p>
                      <a:pPr algn="ctr"/>
                      <a:r>
                        <a:rPr sz="1000" b="0" i="0">
                          <a:solidFill>
                            <a:srgbClr val="21295C"/>
                          </a:solidFill>
                          <a:latin typeface="Consolas"/>
                        </a:rPr>
                        <a:t>0000</a:t>
                      </a:r>
                    </a:p>
                  </a:txBody>
                  <a:tcPr>
                    <a:solidFill>
                      <a:srgbClr val="FFFFFF"/>
                    </a:solidFill>
                  </a:tcPr>
                </a:tc>
                <a:tc>
                  <a:txBody>
                    <a:bodyPr/>
                    <a:lstStyle/>
                    <a:p>
                      <a:pPr algn="ctr"/>
                      <a:r>
                        <a:rPr sz="1000" b="0" i="0">
                          <a:solidFill>
                            <a:srgbClr val="21295C"/>
                          </a:solidFill>
                          <a:latin typeface="Consolas"/>
                        </a:rPr>
                        <a:t>0</a:t>
                      </a:r>
                    </a:p>
                  </a:txBody>
                  <a:tcPr>
                    <a:solidFill>
                      <a:srgbClr val="FFFFFF"/>
                    </a:solidFill>
                  </a:tcPr>
                </a:tc>
                <a:extLst>
                  <a:ext uri="{0D108BD9-81ED-4DB2-BD59-A6C34878D82A}">
                    <a16:rowId xmlns:a16="http://schemas.microsoft.com/office/drawing/2014/main" val="10001"/>
                  </a:ext>
                </a:extLst>
              </a:tr>
              <a:tr h="325120">
                <a:tc>
                  <a:txBody>
                    <a:bodyPr/>
                    <a:lstStyle/>
                    <a:p>
                      <a:pPr algn="ctr"/>
                      <a:r>
                        <a:rPr sz="1000" b="0" i="0">
                          <a:solidFill>
                            <a:srgbClr val="21295C"/>
                          </a:solidFill>
                          <a:latin typeface="Consolas"/>
                        </a:rPr>
                        <a:t>001</a:t>
                      </a:r>
                    </a:p>
                  </a:txBody>
                  <a:tcPr>
                    <a:solidFill>
                      <a:srgbClr val="F2F4FA"/>
                    </a:solidFill>
                  </a:tcPr>
                </a:tc>
                <a:tc>
                  <a:txBody>
                    <a:bodyPr/>
                    <a:lstStyle/>
                    <a:p>
                      <a:pPr algn="ctr"/>
                      <a:r>
                        <a:rPr sz="1000" b="0" i="0">
                          <a:solidFill>
                            <a:srgbClr val="21295C"/>
                          </a:solidFill>
                          <a:latin typeface="Calibri"/>
                        </a:rPr>
                        <a:t>2</a:t>
                      </a:r>
                    </a:p>
                  </a:txBody>
                  <a:tcPr>
                    <a:solidFill>
                      <a:srgbClr val="F2F4FA"/>
                    </a:solidFill>
                  </a:tcPr>
                </a:tc>
                <a:tc>
                  <a:txBody>
                    <a:bodyPr/>
                    <a:lstStyle/>
                    <a:p>
                      <a:pPr algn="ctr"/>
                      <a:r>
                        <a:rPr sz="1000" b="0" i="0">
                          <a:solidFill>
                            <a:srgbClr val="21295C"/>
                          </a:solidFill>
                          <a:latin typeface="Consolas"/>
                        </a:rPr>
                        <a:t>0010</a:t>
                      </a:r>
                    </a:p>
                  </a:txBody>
                  <a:tcPr>
                    <a:solidFill>
                      <a:srgbClr val="F2F4FA"/>
                    </a:solidFill>
                  </a:tcPr>
                </a:tc>
                <a:tc>
                  <a:txBody>
                    <a:bodyPr/>
                    <a:lstStyle/>
                    <a:p>
                      <a:pPr algn="ctr"/>
                      <a:r>
                        <a:rPr sz="1000" b="0" i="0">
                          <a:solidFill>
                            <a:srgbClr val="21295C"/>
                          </a:solidFill>
                          <a:latin typeface="Consolas"/>
                        </a:rPr>
                        <a:t>0</a:t>
                      </a:r>
                    </a:p>
                  </a:txBody>
                  <a:tcPr>
                    <a:solidFill>
                      <a:srgbClr val="F2F4FA"/>
                    </a:solidFill>
                  </a:tcPr>
                </a:tc>
                <a:extLst>
                  <a:ext uri="{0D108BD9-81ED-4DB2-BD59-A6C34878D82A}">
                    <a16:rowId xmlns:a16="http://schemas.microsoft.com/office/drawing/2014/main" val="10002"/>
                  </a:ext>
                </a:extLst>
              </a:tr>
              <a:tr h="325120">
                <a:tc>
                  <a:txBody>
                    <a:bodyPr/>
                    <a:lstStyle/>
                    <a:p>
                      <a:pPr algn="ctr"/>
                      <a:r>
                        <a:rPr sz="1000" b="0" i="0">
                          <a:solidFill>
                            <a:srgbClr val="21295C"/>
                          </a:solidFill>
                          <a:latin typeface="Consolas"/>
                        </a:rPr>
                        <a:t>010</a:t>
                      </a:r>
                    </a:p>
                  </a:txBody>
                  <a:tcPr>
                    <a:solidFill>
                      <a:srgbClr val="FFFFFF"/>
                    </a:solidFill>
                  </a:tcPr>
                </a:tc>
                <a:tc>
                  <a:txBody>
                    <a:bodyPr/>
                    <a:lstStyle/>
                    <a:p>
                      <a:pPr algn="ctr"/>
                      <a:r>
                        <a:rPr sz="1000" b="0" i="0">
                          <a:solidFill>
                            <a:srgbClr val="21295C"/>
                          </a:solidFill>
                          <a:latin typeface="Calibri"/>
                        </a:rPr>
                        <a:t>4</a:t>
                      </a:r>
                    </a:p>
                  </a:txBody>
                  <a:tcPr>
                    <a:solidFill>
                      <a:srgbClr val="FFFFFF"/>
                    </a:solidFill>
                  </a:tcPr>
                </a:tc>
                <a:tc>
                  <a:txBody>
                    <a:bodyPr/>
                    <a:lstStyle/>
                    <a:p>
                      <a:pPr algn="ctr"/>
                      <a:r>
                        <a:rPr sz="1000" b="0" i="0">
                          <a:solidFill>
                            <a:srgbClr val="21295C"/>
                          </a:solidFill>
                          <a:latin typeface="Consolas"/>
                        </a:rPr>
                        <a:t>0100</a:t>
                      </a:r>
                    </a:p>
                  </a:txBody>
                  <a:tcPr>
                    <a:solidFill>
                      <a:srgbClr val="FFFFFF"/>
                    </a:solidFill>
                  </a:tcPr>
                </a:tc>
                <a:tc>
                  <a:txBody>
                    <a:bodyPr/>
                    <a:lstStyle/>
                    <a:p>
                      <a:pPr algn="ctr"/>
                      <a:r>
                        <a:rPr sz="1000" b="0" i="0">
                          <a:solidFill>
                            <a:srgbClr val="21295C"/>
                          </a:solidFill>
                          <a:latin typeface="Consolas"/>
                        </a:rPr>
                        <a:t>0</a:t>
                      </a:r>
                    </a:p>
                  </a:txBody>
                  <a:tcPr>
                    <a:solidFill>
                      <a:srgbClr val="FFFFFF"/>
                    </a:solidFill>
                  </a:tcPr>
                </a:tc>
                <a:extLst>
                  <a:ext uri="{0D108BD9-81ED-4DB2-BD59-A6C34878D82A}">
                    <a16:rowId xmlns:a16="http://schemas.microsoft.com/office/drawing/2014/main" val="10003"/>
                  </a:ext>
                </a:extLst>
              </a:tr>
              <a:tr h="325120">
                <a:tc>
                  <a:txBody>
                    <a:bodyPr/>
                    <a:lstStyle/>
                    <a:p>
                      <a:pPr algn="ctr"/>
                      <a:r>
                        <a:rPr sz="1000" b="0" i="0">
                          <a:solidFill>
                            <a:srgbClr val="21295C"/>
                          </a:solidFill>
                          <a:latin typeface="Consolas"/>
                        </a:rPr>
                        <a:t>011</a:t>
                      </a:r>
                    </a:p>
                  </a:txBody>
                  <a:tcPr>
                    <a:solidFill>
                      <a:srgbClr val="F2F4FA"/>
                    </a:solidFill>
                  </a:tcPr>
                </a:tc>
                <a:tc>
                  <a:txBody>
                    <a:bodyPr/>
                    <a:lstStyle/>
                    <a:p>
                      <a:pPr algn="ctr"/>
                      <a:r>
                        <a:rPr sz="1000" b="0" i="0">
                          <a:solidFill>
                            <a:srgbClr val="21295C"/>
                          </a:solidFill>
                          <a:latin typeface="Calibri"/>
                        </a:rPr>
                        <a:t>6</a:t>
                      </a:r>
                    </a:p>
                  </a:txBody>
                  <a:tcPr>
                    <a:solidFill>
                      <a:srgbClr val="F2F4FA"/>
                    </a:solidFill>
                  </a:tcPr>
                </a:tc>
                <a:tc>
                  <a:txBody>
                    <a:bodyPr/>
                    <a:lstStyle/>
                    <a:p>
                      <a:pPr algn="ctr"/>
                      <a:r>
                        <a:rPr sz="1000" b="0" i="0">
                          <a:solidFill>
                            <a:srgbClr val="21295C"/>
                          </a:solidFill>
                          <a:latin typeface="Consolas"/>
                        </a:rPr>
                        <a:t>0110</a:t>
                      </a:r>
                    </a:p>
                  </a:txBody>
                  <a:tcPr>
                    <a:solidFill>
                      <a:srgbClr val="F2F4FA"/>
                    </a:solidFill>
                  </a:tcPr>
                </a:tc>
                <a:tc>
                  <a:txBody>
                    <a:bodyPr/>
                    <a:lstStyle/>
                    <a:p>
                      <a:pPr algn="ctr"/>
                      <a:r>
                        <a:rPr sz="1000" b="0" i="0">
                          <a:solidFill>
                            <a:srgbClr val="21295C"/>
                          </a:solidFill>
                          <a:latin typeface="Consolas"/>
                        </a:rPr>
                        <a:t>0</a:t>
                      </a:r>
                    </a:p>
                  </a:txBody>
                  <a:tcPr>
                    <a:solidFill>
                      <a:srgbClr val="F2F4FA"/>
                    </a:solidFill>
                  </a:tcPr>
                </a:tc>
                <a:extLst>
                  <a:ext uri="{0D108BD9-81ED-4DB2-BD59-A6C34878D82A}">
                    <a16:rowId xmlns:a16="http://schemas.microsoft.com/office/drawing/2014/main" val="10004"/>
                  </a:ext>
                </a:extLst>
              </a:tr>
              <a:tr h="325120">
                <a:tc>
                  <a:txBody>
                    <a:bodyPr/>
                    <a:lstStyle/>
                    <a:p>
                      <a:pPr algn="ctr"/>
                      <a:r>
                        <a:rPr sz="1000" b="0" i="0">
                          <a:solidFill>
                            <a:srgbClr val="21295C"/>
                          </a:solidFill>
                          <a:latin typeface="Consolas"/>
                        </a:rPr>
                        <a:t>100</a:t>
                      </a:r>
                    </a:p>
                  </a:txBody>
                  <a:tcPr>
                    <a:solidFill>
                      <a:srgbClr val="FFFFFF"/>
                    </a:solidFill>
                  </a:tcPr>
                </a:tc>
                <a:tc>
                  <a:txBody>
                    <a:bodyPr/>
                    <a:lstStyle/>
                    <a:p>
                      <a:pPr algn="ctr"/>
                      <a:r>
                        <a:rPr sz="1000" b="0" i="0" dirty="0">
                          <a:solidFill>
                            <a:srgbClr val="21295C"/>
                          </a:solidFill>
                          <a:latin typeface="Calibri"/>
                        </a:rPr>
                        <a:t>OF</a:t>
                      </a:r>
                    </a:p>
                  </a:txBody>
                  <a:tcPr>
                    <a:solidFill>
                      <a:srgbClr val="FFFFFF"/>
                    </a:solidFill>
                  </a:tcPr>
                </a:tc>
                <a:tc>
                  <a:txBody>
                    <a:bodyPr/>
                    <a:lstStyle/>
                    <a:p>
                      <a:pPr algn="ctr"/>
                      <a:r>
                        <a:rPr sz="1000" b="0" i="0">
                          <a:solidFill>
                            <a:srgbClr val="21295C"/>
                          </a:solidFill>
                          <a:latin typeface="Consolas"/>
                        </a:rPr>
                        <a:t>1100</a:t>
                      </a:r>
                    </a:p>
                  </a:txBody>
                  <a:tcPr>
                    <a:solidFill>
                      <a:srgbClr val="FFFFFF"/>
                    </a:solidFill>
                  </a:tcPr>
                </a:tc>
                <a:tc>
                  <a:txBody>
                    <a:bodyPr/>
                    <a:lstStyle/>
                    <a:p>
                      <a:pPr algn="ctr"/>
                      <a:r>
                        <a:rPr sz="1000" b="0" i="0">
                          <a:solidFill>
                            <a:srgbClr val="21295C"/>
                          </a:solidFill>
                          <a:latin typeface="Consolas"/>
                        </a:rPr>
                        <a:t>1</a:t>
                      </a:r>
                    </a:p>
                  </a:txBody>
                  <a:tcPr>
                    <a:solidFill>
                      <a:srgbClr val="FFFFFF"/>
                    </a:solidFill>
                  </a:tcPr>
                </a:tc>
                <a:extLst>
                  <a:ext uri="{0D108BD9-81ED-4DB2-BD59-A6C34878D82A}">
                    <a16:rowId xmlns:a16="http://schemas.microsoft.com/office/drawing/2014/main" val="10005"/>
                  </a:ext>
                </a:extLst>
              </a:tr>
              <a:tr h="325120">
                <a:tc>
                  <a:txBody>
                    <a:bodyPr/>
                    <a:lstStyle/>
                    <a:p>
                      <a:pPr algn="ctr"/>
                      <a:r>
                        <a:rPr sz="1000" b="0" i="0">
                          <a:solidFill>
                            <a:srgbClr val="21295C"/>
                          </a:solidFill>
                          <a:latin typeface="Consolas"/>
                        </a:rPr>
                        <a:t>101</a:t>
                      </a:r>
                    </a:p>
                  </a:txBody>
                  <a:tcPr>
                    <a:solidFill>
                      <a:srgbClr val="F2F4FA"/>
                    </a:solidFill>
                  </a:tcPr>
                </a:tc>
                <a:tc>
                  <a:txBody>
                    <a:bodyPr/>
                    <a:lstStyle/>
                    <a:p>
                      <a:pPr algn="ctr"/>
                      <a:r>
                        <a:rPr sz="1000" b="0" i="0" dirty="0">
                          <a:solidFill>
                            <a:srgbClr val="21295C"/>
                          </a:solidFill>
                          <a:latin typeface="Calibri"/>
                        </a:rPr>
                        <a:t>OF</a:t>
                      </a:r>
                    </a:p>
                  </a:txBody>
                  <a:tcPr>
                    <a:solidFill>
                      <a:srgbClr val="F2F4FA"/>
                    </a:solidFill>
                  </a:tcPr>
                </a:tc>
                <a:tc>
                  <a:txBody>
                    <a:bodyPr/>
                    <a:lstStyle/>
                    <a:p>
                      <a:pPr algn="ctr"/>
                      <a:r>
                        <a:rPr sz="1000" b="0" i="0">
                          <a:solidFill>
                            <a:srgbClr val="21295C"/>
                          </a:solidFill>
                          <a:latin typeface="Consolas"/>
                        </a:rPr>
                        <a:t>1100</a:t>
                      </a:r>
                    </a:p>
                  </a:txBody>
                  <a:tcPr>
                    <a:solidFill>
                      <a:srgbClr val="F2F4FA"/>
                    </a:solidFill>
                  </a:tcPr>
                </a:tc>
                <a:tc>
                  <a:txBody>
                    <a:bodyPr/>
                    <a:lstStyle/>
                    <a:p>
                      <a:pPr algn="ctr"/>
                      <a:r>
                        <a:rPr sz="1000" b="0" i="0">
                          <a:solidFill>
                            <a:srgbClr val="21295C"/>
                          </a:solidFill>
                          <a:latin typeface="Consolas"/>
                        </a:rPr>
                        <a:t>1</a:t>
                      </a:r>
                    </a:p>
                  </a:txBody>
                  <a:tcPr>
                    <a:solidFill>
                      <a:srgbClr val="F2F4FA"/>
                    </a:solidFill>
                  </a:tcPr>
                </a:tc>
                <a:extLst>
                  <a:ext uri="{0D108BD9-81ED-4DB2-BD59-A6C34878D82A}">
                    <a16:rowId xmlns:a16="http://schemas.microsoft.com/office/drawing/2014/main" val="10006"/>
                  </a:ext>
                </a:extLst>
              </a:tr>
              <a:tr h="325120">
                <a:tc>
                  <a:txBody>
                    <a:bodyPr/>
                    <a:lstStyle/>
                    <a:p>
                      <a:pPr algn="ctr"/>
                      <a:r>
                        <a:rPr sz="1000" b="0" i="0">
                          <a:solidFill>
                            <a:srgbClr val="21295C"/>
                          </a:solidFill>
                          <a:latin typeface="Consolas"/>
                        </a:rPr>
                        <a:t>110</a:t>
                      </a:r>
                    </a:p>
                  </a:txBody>
                  <a:tcPr>
                    <a:solidFill>
                      <a:srgbClr val="FFFFFF"/>
                    </a:solidFill>
                  </a:tcPr>
                </a:tc>
                <a:tc>
                  <a:txBody>
                    <a:bodyPr/>
                    <a:lstStyle/>
                    <a:p>
                      <a:pPr algn="ctr"/>
                      <a:r>
                        <a:rPr sz="1000" b="0" i="0" dirty="0">
                          <a:solidFill>
                            <a:srgbClr val="21295C"/>
                          </a:solidFill>
                          <a:latin typeface="Calibri"/>
                        </a:rPr>
                        <a:t>OF</a:t>
                      </a:r>
                    </a:p>
                  </a:txBody>
                  <a:tcPr>
                    <a:solidFill>
                      <a:srgbClr val="FFFFFF"/>
                    </a:solidFill>
                  </a:tcPr>
                </a:tc>
                <a:tc>
                  <a:txBody>
                    <a:bodyPr/>
                    <a:lstStyle/>
                    <a:p>
                      <a:pPr algn="ctr"/>
                      <a:r>
                        <a:rPr sz="1000" b="0" i="0">
                          <a:solidFill>
                            <a:srgbClr val="21295C"/>
                          </a:solidFill>
                          <a:latin typeface="Consolas"/>
                        </a:rPr>
                        <a:t>1100</a:t>
                      </a:r>
                    </a:p>
                  </a:txBody>
                  <a:tcPr>
                    <a:solidFill>
                      <a:srgbClr val="FFFFFF"/>
                    </a:solidFill>
                  </a:tcPr>
                </a:tc>
                <a:tc>
                  <a:txBody>
                    <a:bodyPr/>
                    <a:lstStyle/>
                    <a:p>
                      <a:pPr algn="ctr"/>
                      <a:r>
                        <a:rPr sz="1000" b="0" i="0">
                          <a:solidFill>
                            <a:srgbClr val="21295C"/>
                          </a:solidFill>
                          <a:latin typeface="Consolas"/>
                        </a:rPr>
                        <a:t>1</a:t>
                      </a:r>
                    </a:p>
                  </a:txBody>
                  <a:tcPr>
                    <a:solidFill>
                      <a:srgbClr val="FFFFFF"/>
                    </a:solidFill>
                  </a:tcPr>
                </a:tc>
                <a:extLst>
                  <a:ext uri="{0D108BD9-81ED-4DB2-BD59-A6C34878D82A}">
                    <a16:rowId xmlns:a16="http://schemas.microsoft.com/office/drawing/2014/main" val="10007"/>
                  </a:ext>
                </a:extLst>
              </a:tr>
              <a:tr h="325120">
                <a:tc>
                  <a:txBody>
                    <a:bodyPr/>
                    <a:lstStyle/>
                    <a:p>
                      <a:pPr algn="ctr"/>
                      <a:r>
                        <a:rPr sz="1000" b="0" i="0">
                          <a:solidFill>
                            <a:srgbClr val="21295C"/>
                          </a:solidFill>
                          <a:latin typeface="Consolas"/>
                        </a:rPr>
                        <a:t>111</a:t>
                      </a:r>
                    </a:p>
                  </a:txBody>
                  <a:tcPr>
                    <a:solidFill>
                      <a:srgbClr val="F2F4FA"/>
                    </a:solidFill>
                  </a:tcPr>
                </a:tc>
                <a:tc>
                  <a:txBody>
                    <a:bodyPr/>
                    <a:lstStyle/>
                    <a:p>
                      <a:pPr algn="ctr"/>
                      <a:r>
                        <a:rPr sz="1000" b="0" i="0" dirty="0">
                          <a:solidFill>
                            <a:srgbClr val="21295C"/>
                          </a:solidFill>
                          <a:latin typeface="Calibri"/>
                        </a:rPr>
                        <a:t>OF</a:t>
                      </a:r>
                    </a:p>
                  </a:txBody>
                  <a:tcPr>
                    <a:solidFill>
                      <a:srgbClr val="F2F4FA"/>
                    </a:solidFill>
                  </a:tcPr>
                </a:tc>
                <a:tc>
                  <a:txBody>
                    <a:bodyPr/>
                    <a:lstStyle/>
                    <a:p>
                      <a:pPr algn="ctr"/>
                      <a:r>
                        <a:rPr sz="1000" b="0" i="0">
                          <a:solidFill>
                            <a:srgbClr val="21295C"/>
                          </a:solidFill>
                          <a:latin typeface="Consolas"/>
                        </a:rPr>
                        <a:t>1100</a:t>
                      </a:r>
                    </a:p>
                  </a:txBody>
                  <a:tcPr>
                    <a:solidFill>
                      <a:srgbClr val="F2F4FA"/>
                    </a:solidFill>
                  </a:tcPr>
                </a:tc>
                <a:tc>
                  <a:txBody>
                    <a:bodyPr/>
                    <a:lstStyle/>
                    <a:p>
                      <a:pPr algn="ctr"/>
                      <a:r>
                        <a:rPr sz="1000" b="0" i="0">
                          <a:solidFill>
                            <a:srgbClr val="21295C"/>
                          </a:solidFill>
                          <a:latin typeface="Consolas"/>
                        </a:rPr>
                        <a:t>1</a:t>
                      </a:r>
                    </a:p>
                  </a:txBody>
                  <a:tcPr>
                    <a:solidFill>
                      <a:srgbClr val="F2F4FA"/>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301752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D[3]</a:t>
            </a:r>
          </a:p>
        </p:txBody>
      </p:sp>
      <p:graphicFrame>
        <p:nvGraphicFramePr>
          <p:cNvPr id="7" name="Table 6"/>
          <p:cNvGraphicFramePr>
            <a:graphicFrameLocks noGrp="1"/>
          </p:cNvGraphicFramePr>
          <p:nvPr/>
        </p:nvGraphicFramePr>
        <p:xfrm>
          <a:off x="301752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2"/>
                  </a:ext>
                </a:extLst>
              </a:tr>
            </a:tbl>
          </a:graphicData>
        </a:graphic>
      </p:graphicFrame>
      <p:sp>
        <p:nvSpPr>
          <p:cNvPr id="8" name="Rounded Rectangle 7"/>
          <p:cNvSpPr/>
          <p:nvPr/>
        </p:nvSpPr>
        <p:spPr>
          <a:xfrm>
            <a:off x="3511296" y="2157983"/>
            <a:ext cx="1170432" cy="274319"/>
          </a:xfrm>
          <a:prstGeom prst="roundRect">
            <a:avLst>
              <a:gd name="adj" fmla="val 45000"/>
            </a:avLst>
          </a:prstGeom>
          <a:noFill/>
          <a:ln w="28575">
            <a:solidFill>
              <a:srgbClr val="C82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1752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D[3] = G[2]</a:t>
            </a:r>
          </a:p>
        </p:txBody>
      </p:sp>
      <p:sp>
        <p:nvSpPr>
          <p:cNvPr id="10" name="TextBox 9"/>
          <p:cNvSpPr txBox="1"/>
          <p:nvPr/>
        </p:nvSpPr>
        <p:spPr>
          <a:xfrm>
            <a:off x="502920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D[2]</a:t>
            </a:r>
          </a:p>
        </p:txBody>
      </p:sp>
      <p:graphicFrame>
        <p:nvGraphicFramePr>
          <p:cNvPr id="11" name="Table 10"/>
          <p:cNvGraphicFramePr>
            <a:graphicFrameLocks noGrp="1"/>
          </p:cNvGraphicFramePr>
          <p:nvPr/>
        </p:nvGraphicFramePr>
        <p:xfrm>
          <a:off x="502920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2"/>
                  </a:ext>
                </a:extLst>
              </a:tr>
            </a:tbl>
          </a:graphicData>
        </a:graphic>
      </p:graphicFrame>
      <p:sp>
        <p:nvSpPr>
          <p:cNvPr id="12" name="Rounded Rectangle 11"/>
          <p:cNvSpPr/>
          <p:nvPr/>
        </p:nvSpPr>
        <p:spPr>
          <a:xfrm>
            <a:off x="5513832" y="2157982"/>
            <a:ext cx="1188720" cy="283465"/>
          </a:xfrm>
          <a:prstGeom prst="roundRect">
            <a:avLst>
              <a:gd name="adj" fmla="val 45000"/>
            </a:avLst>
          </a:prstGeom>
          <a:noFill/>
          <a:ln w="28575">
            <a:solidFill>
              <a:srgbClr val="C82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085331" y="1911096"/>
            <a:ext cx="594360" cy="507492"/>
          </a:xfrm>
          <a:prstGeom prst="roundRect">
            <a:avLst>
              <a:gd name="adj" fmla="val 45000"/>
            </a:avLst>
          </a:prstGeom>
          <a:noFill/>
          <a:ln w="2857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D[2] = G[2] + G[1]</a:t>
            </a:r>
          </a:p>
        </p:txBody>
      </p:sp>
      <p:sp>
        <p:nvSpPr>
          <p:cNvPr id="15" name="TextBox 14"/>
          <p:cNvSpPr txBox="1"/>
          <p:nvPr/>
        </p:nvSpPr>
        <p:spPr>
          <a:xfrm>
            <a:off x="704088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D[1]</a:t>
            </a:r>
          </a:p>
        </p:txBody>
      </p:sp>
      <p:graphicFrame>
        <p:nvGraphicFramePr>
          <p:cNvPr id="16" name="Table 15"/>
          <p:cNvGraphicFramePr>
            <a:graphicFrameLocks noGrp="1"/>
          </p:cNvGraphicFramePr>
          <p:nvPr/>
        </p:nvGraphicFramePr>
        <p:xfrm>
          <a:off x="704088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dirty="0">
                          <a:solidFill>
                            <a:srgbClr val="5C5C5C"/>
                          </a:solidFill>
                          <a:latin typeface="Consolas"/>
                        </a:rPr>
                        <a:t>0</a:t>
                      </a:r>
                    </a:p>
                  </a:txBody>
                  <a:tcPr>
                    <a:solidFill>
                      <a:srgbClr val="FFFFFF"/>
                    </a:solidFill>
                  </a:tcPr>
                </a:tc>
                <a:extLst>
                  <a:ext uri="{0D108BD9-81ED-4DB2-BD59-A6C34878D82A}">
                    <a16:rowId xmlns:a16="http://schemas.microsoft.com/office/drawing/2014/main" val="10002"/>
                  </a:ext>
                </a:extLst>
              </a:tr>
            </a:tbl>
          </a:graphicData>
        </a:graphic>
      </p:graphicFrame>
      <p:sp>
        <p:nvSpPr>
          <p:cNvPr id="17" name="Rounded Rectangle 16"/>
          <p:cNvSpPr/>
          <p:nvPr/>
        </p:nvSpPr>
        <p:spPr>
          <a:xfrm>
            <a:off x="7808976" y="1911096"/>
            <a:ext cx="621792" cy="246888"/>
          </a:xfrm>
          <a:prstGeom prst="roundRect">
            <a:avLst>
              <a:gd name="adj" fmla="val 45000"/>
            </a:avLst>
          </a:prstGeom>
          <a:noFill/>
          <a:ln w="28575">
            <a:solidFill>
              <a:srgbClr val="6A2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4088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D[1] = G[2]'·G[0]</a:t>
            </a:r>
          </a:p>
        </p:txBody>
      </p:sp>
      <p:sp>
        <p:nvSpPr>
          <p:cNvPr id="19" name="TextBox 18"/>
          <p:cNvSpPr txBox="1"/>
          <p:nvPr/>
        </p:nvSpPr>
        <p:spPr>
          <a:xfrm>
            <a:off x="3017520" y="2926080"/>
            <a:ext cx="1719072" cy="182880"/>
          </a:xfrm>
          <a:prstGeom prst="rect">
            <a:avLst/>
          </a:prstGeom>
          <a:noFill/>
        </p:spPr>
        <p:txBody>
          <a:bodyPr wrap="none" lIns="0" tIns="0" rIns="0" bIns="0">
            <a:spAutoFit/>
          </a:bodyPr>
          <a:lstStyle/>
          <a:p>
            <a:pPr algn="l"/>
            <a:r>
              <a:rPr sz="1000" b="1">
                <a:solidFill>
                  <a:srgbClr val="1E2761"/>
                </a:solidFill>
                <a:latin typeface="Calibri"/>
              </a:rPr>
              <a:t>K-map for D[0]</a:t>
            </a:r>
          </a:p>
        </p:txBody>
      </p:sp>
      <p:graphicFrame>
        <p:nvGraphicFramePr>
          <p:cNvPr id="20" name="Table 19"/>
          <p:cNvGraphicFramePr>
            <a:graphicFrameLocks noGrp="1"/>
          </p:cNvGraphicFramePr>
          <p:nvPr/>
        </p:nvGraphicFramePr>
        <p:xfrm>
          <a:off x="3017520" y="312724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2"/>
                  </a:ext>
                </a:extLst>
              </a:tr>
            </a:tbl>
          </a:graphicData>
        </a:graphic>
      </p:graphicFrame>
      <p:sp>
        <p:nvSpPr>
          <p:cNvPr id="21" name="TextBox 20"/>
          <p:cNvSpPr txBox="1"/>
          <p:nvPr/>
        </p:nvSpPr>
        <p:spPr>
          <a:xfrm>
            <a:off x="3017520" y="399592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D[0] = 0</a:t>
            </a:r>
          </a:p>
        </p:txBody>
      </p:sp>
      <p:sp>
        <p:nvSpPr>
          <p:cNvPr id="22" name="TextBox 21"/>
          <p:cNvSpPr txBox="1"/>
          <p:nvPr/>
        </p:nvSpPr>
        <p:spPr>
          <a:xfrm>
            <a:off x="5029200" y="2926080"/>
            <a:ext cx="1719072" cy="182880"/>
          </a:xfrm>
          <a:prstGeom prst="rect">
            <a:avLst/>
          </a:prstGeom>
          <a:noFill/>
        </p:spPr>
        <p:txBody>
          <a:bodyPr wrap="none" lIns="0" tIns="0" rIns="0" bIns="0">
            <a:spAutoFit/>
          </a:bodyPr>
          <a:lstStyle/>
          <a:p>
            <a:pPr algn="l"/>
            <a:r>
              <a:rPr sz="1000" b="1" dirty="0">
                <a:solidFill>
                  <a:srgbClr val="1E2761"/>
                </a:solidFill>
                <a:latin typeface="Calibri"/>
              </a:rPr>
              <a:t>K-map for OF</a:t>
            </a:r>
          </a:p>
        </p:txBody>
      </p:sp>
      <p:graphicFrame>
        <p:nvGraphicFramePr>
          <p:cNvPr id="23" name="Table 22"/>
          <p:cNvGraphicFramePr>
            <a:graphicFrameLocks noGrp="1"/>
          </p:cNvGraphicFramePr>
          <p:nvPr/>
        </p:nvGraphicFramePr>
        <p:xfrm>
          <a:off x="5029200" y="312724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2"/>
                  </a:ext>
                </a:extLst>
              </a:tr>
            </a:tbl>
          </a:graphicData>
        </a:graphic>
      </p:graphicFrame>
      <p:sp>
        <p:nvSpPr>
          <p:cNvPr id="24" name="Rounded Rectangle 23"/>
          <p:cNvSpPr/>
          <p:nvPr/>
        </p:nvSpPr>
        <p:spPr>
          <a:xfrm>
            <a:off x="5522976" y="3718560"/>
            <a:ext cx="1170432" cy="268224"/>
          </a:xfrm>
          <a:prstGeom prst="roundRect">
            <a:avLst>
              <a:gd name="adj" fmla="val 45000"/>
            </a:avLst>
          </a:prstGeom>
          <a:noFill/>
          <a:ln w="28575">
            <a:solidFill>
              <a:srgbClr val="D96E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0" y="3995928"/>
            <a:ext cx="2084831" cy="365760"/>
          </a:xfrm>
          <a:prstGeom prst="rect">
            <a:avLst/>
          </a:prstGeom>
          <a:noFill/>
        </p:spPr>
        <p:txBody>
          <a:bodyPr wrap="square" lIns="36576" tIns="18288" rIns="36576" bIns="18288">
            <a:spAutoFit/>
          </a:bodyPr>
          <a:lstStyle/>
          <a:p>
            <a:pPr algn="l"/>
            <a:r>
              <a:rPr sz="1000" b="1" i="0" dirty="0">
                <a:solidFill>
                  <a:srgbClr val="21295C"/>
                </a:solidFill>
                <a:latin typeface="Consolas"/>
              </a:rPr>
              <a:t>OF = G[2]</a:t>
            </a:r>
          </a:p>
        </p:txBody>
      </p:sp>
      <p:sp>
        <p:nvSpPr>
          <p:cNvPr id="26" name="Rectangle 25"/>
          <p:cNvSpPr/>
          <p:nvPr/>
        </p:nvSpPr>
        <p:spPr>
          <a:xfrm>
            <a:off x="274320" y="4370832"/>
            <a:ext cx="8595360" cy="457200"/>
          </a:xfrm>
          <a:prstGeom prst="rect">
            <a:avLst/>
          </a:prstGeom>
          <a:solidFill>
            <a:srgbClr val="F2F4FA"/>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4407408"/>
            <a:ext cx="8412480" cy="384048"/>
          </a:xfrm>
          <a:prstGeom prst="rect">
            <a:avLst/>
          </a:prstGeom>
          <a:noFill/>
        </p:spPr>
        <p:txBody>
          <a:bodyPr wrap="square" lIns="36576" tIns="18288" rIns="36576" bIns="18288" anchor="ctr">
            <a:spAutoFit/>
          </a:bodyPr>
          <a:lstStyle/>
          <a:p>
            <a:pPr algn="l"/>
            <a:r>
              <a:rPr sz="1150" b="1" i="0" dirty="0">
                <a:solidFill>
                  <a:srgbClr val="1E2761"/>
                </a:solidFill>
                <a:latin typeface="Consolas"/>
              </a:rPr>
              <a:t>D[3:0] = { G[2],  G[2]+G[1],  G[2]'·G[0],  0 }       OF = G[2]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10896" y="365760"/>
            <a:ext cx="8522208" cy="576072"/>
          </a:xfrm>
        </p:spPr>
        <p:txBody>
          <a:bodyPr wrap="square" lIns="18288" tIns="18288" rIns="18288" bIns="18288" anchor="ctr"/>
          <a:lstStyle/>
          <a:p>
            <a:pPr algn="l"/>
            <a:r>
              <a:rPr sz="2200" b="1">
                <a:solidFill>
                  <a:srgbClr val="1E2761"/>
                </a:solidFill>
                <a:latin typeface="Calibri"/>
              </a:rPr>
              <a:t>Turning Angle (S = 001)</a:t>
            </a:r>
          </a:p>
        </p:txBody>
      </p:sp>
      <p:sp>
        <p:nvSpPr>
          <p:cNvPr id="4" name="TextBox 3"/>
          <p:cNvSpPr txBox="1"/>
          <p:nvPr/>
        </p:nvSpPr>
        <p:spPr>
          <a:xfrm>
            <a:off x="310896" y="1005840"/>
            <a:ext cx="8522208" cy="256032"/>
          </a:xfrm>
          <a:prstGeom prst="rect">
            <a:avLst/>
          </a:prstGeom>
          <a:noFill/>
        </p:spPr>
        <p:txBody>
          <a:bodyPr wrap="square" lIns="36576" tIns="18288" rIns="36576" bIns="18288">
            <a:spAutoFit/>
          </a:bodyPr>
          <a:lstStyle/>
          <a:p>
            <a:r>
              <a:rPr sz="1050" b="0" i="1">
                <a:solidFill>
                  <a:srgbClr val="5C5C5C"/>
                </a:solidFill>
                <a:latin typeface="Calibri"/>
              </a:rPr>
              <a:t>Side sensor scaled by 3 for steering. Overflows when 3Y ≥ 8 (i.e. Y ≥ 3).</a:t>
            </a:r>
          </a:p>
        </p:txBody>
      </p:sp>
      <p:graphicFrame>
        <p:nvGraphicFramePr>
          <p:cNvPr id="5" name="Table 4"/>
          <p:cNvGraphicFramePr>
            <a:graphicFrameLocks noGrp="1"/>
          </p:cNvGraphicFramePr>
          <p:nvPr/>
        </p:nvGraphicFramePr>
        <p:xfrm>
          <a:off x="274320" y="1371600"/>
          <a:ext cx="2350008" cy="2926080"/>
        </p:xfrm>
        <a:graphic>
          <a:graphicData uri="http://schemas.openxmlformats.org/drawingml/2006/table">
            <a:tbl>
              <a:tblPr firstRow="1" bandRow="1">
                <a:tableStyleId>{5C22544A-7EE6-4342-B048-85BDC9FD1C3A}</a:tableStyleId>
              </a:tblPr>
              <a:tblGrid>
                <a:gridCol w="658368">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411480">
                  <a:extLst>
                    <a:ext uri="{9D8B030D-6E8A-4147-A177-3AD203B41FA5}">
                      <a16:colId xmlns:a16="http://schemas.microsoft.com/office/drawing/2014/main" val="20003"/>
                    </a:ext>
                  </a:extLst>
                </a:gridCol>
              </a:tblGrid>
              <a:tr h="325120">
                <a:tc>
                  <a:txBody>
                    <a:bodyPr/>
                    <a:lstStyle/>
                    <a:p>
                      <a:pPr algn="ctr"/>
                      <a:r>
                        <a:rPr sz="1000" b="1" i="0" dirty="0">
                          <a:solidFill>
                            <a:srgbClr val="FFFFFF"/>
                          </a:solidFill>
                          <a:latin typeface="Calibri"/>
                        </a:rPr>
                        <a:t>Y[2:0]</a:t>
                      </a:r>
                    </a:p>
                  </a:txBody>
                  <a:tcPr>
                    <a:solidFill>
                      <a:srgbClr val="1E2761"/>
                    </a:solidFill>
                  </a:tcPr>
                </a:tc>
                <a:tc>
                  <a:txBody>
                    <a:bodyPr/>
                    <a:lstStyle/>
                    <a:p>
                      <a:pPr algn="ctr"/>
                      <a:r>
                        <a:rPr sz="1000" b="1" i="0">
                          <a:solidFill>
                            <a:srgbClr val="FFFFFF"/>
                          </a:solidFill>
                          <a:latin typeface="Calibri"/>
                        </a:rPr>
                        <a:t>3·Y</a:t>
                      </a:r>
                    </a:p>
                  </a:txBody>
                  <a:tcPr>
                    <a:solidFill>
                      <a:srgbClr val="1E2761"/>
                    </a:solidFill>
                  </a:tcPr>
                </a:tc>
                <a:tc>
                  <a:txBody>
                    <a:bodyPr/>
                    <a:lstStyle/>
                    <a:p>
                      <a:pPr algn="ctr"/>
                      <a:r>
                        <a:rPr sz="1000" b="1" i="0">
                          <a:solidFill>
                            <a:srgbClr val="FFFFFF"/>
                          </a:solidFill>
                          <a:latin typeface="Calibri"/>
                        </a:rPr>
                        <a:t>D[3:0]</a:t>
                      </a:r>
                    </a:p>
                  </a:txBody>
                  <a:tcPr>
                    <a:solidFill>
                      <a:srgbClr val="1E2761"/>
                    </a:solidFill>
                  </a:tcPr>
                </a:tc>
                <a:tc>
                  <a:txBody>
                    <a:bodyPr/>
                    <a:lstStyle/>
                    <a:p>
                      <a:pPr algn="ctr"/>
                      <a:r>
                        <a:rPr sz="1000" b="1" i="0" dirty="0">
                          <a:solidFill>
                            <a:srgbClr val="FFFFFF"/>
                          </a:solidFill>
                          <a:latin typeface="Calibri"/>
                        </a:rPr>
                        <a:t>OF</a:t>
                      </a:r>
                    </a:p>
                  </a:txBody>
                  <a:tcPr>
                    <a:solidFill>
                      <a:srgbClr val="1E2761"/>
                    </a:solidFill>
                  </a:tcPr>
                </a:tc>
                <a:extLst>
                  <a:ext uri="{0D108BD9-81ED-4DB2-BD59-A6C34878D82A}">
                    <a16:rowId xmlns:a16="http://schemas.microsoft.com/office/drawing/2014/main" val="10000"/>
                  </a:ext>
                </a:extLst>
              </a:tr>
              <a:tr h="325120">
                <a:tc>
                  <a:txBody>
                    <a:bodyPr/>
                    <a:lstStyle/>
                    <a:p>
                      <a:pPr algn="ctr"/>
                      <a:r>
                        <a:rPr sz="1000" b="0" i="0">
                          <a:solidFill>
                            <a:srgbClr val="21295C"/>
                          </a:solidFill>
                          <a:latin typeface="Consolas"/>
                        </a:rPr>
                        <a:t>000</a:t>
                      </a:r>
                    </a:p>
                  </a:txBody>
                  <a:tcPr>
                    <a:solidFill>
                      <a:srgbClr val="FFFFFF"/>
                    </a:solidFill>
                  </a:tcPr>
                </a:tc>
                <a:tc>
                  <a:txBody>
                    <a:bodyPr/>
                    <a:lstStyle/>
                    <a:p>
                      <a:pPr algn="ctr"/>
                      <a:r>
                        <a:rPr sz="1000" b="0" i="0">
                          <a:solidFill>
                            <a:srgbClr val="21295C"/>
                          </a:solidFill>
                          <a:latin typeface="Calibri"/>
                        </a:rPr>
                        <a:t>0</a:t>
                      </a:r>
                    </a:p>
                  </a:txBody>
                  <a:tcPr>
                    <a:solidFill>
                      <a:srgbClr val="FFFFFF"/>
                    </a:solidFill>
                  </a:tcPr>
                </a:tc>
                <a:tc>
                  <a:txBody>
                    <a:bodyPr/>
                    <a:lstStyle/>
                    <a:p>
                      <a:pPr algn="ctr"/>
                      <a:r>
                        <a:rPr sz="1000" b="0" i="0">
                          <a:solidFill>
                            <a:srgbClr val="21295C"/>
                          </a:solidFill>
                          <a:latin typeface="Consolas"/>
                        </a:rPr>
                        <a:t>0000</a:t>
                      </a:r>
                    </a:p>
                  </a:txBody>
                  <a:tcPr>
                    <a:solidFill>
                      <a:srgbClr val="FFFFFF"/>
                    </a:solidFill>
                  </a:tcPr>
                </a:tc>
                <a:tc>
                  <a:txBody>
                    <a:bodyPr/>
                    <a:lstStyle/>
                    <a:p>
                      <a:pPr algn="ctr"/>
                      <a:r>
                        <a:rPr sz="1000" b="0" i="0">
                          <a:solidFill>
                            <a:srgbClr val="21295C"/>
                          </a:solidFill>
                          <a:latin typeface="Consolas"/>
                        </a:rPr>
                        <a:t>0</a:t>
                      </a:r>
                    </a:p>
                  </a:txBody>
                  <a:tcPr>
                    <a:solidFill>
                      <a:srgbClr val="FFFFFF"/>
                    </a:solidFill>
                  </a:tcPr>
                </a:tc>
                <a:extLst>
                  <a:ext uri="{0D108BD9-81ED-4DB2-BD59-A6C34878D82A}">
                    <a16:rowId xmlns:a16="http://schemas.microsoft.com/office/drawing/2014/main" val="10001"/>
                  </a:ext>
                </a:extLst>
              </a:tr>
              <a:tr h="325120">
                <a:tc>
                  <a:txBody>
                    <a:bodyPr/>
                    <a:lstStyle/>
                    <a:p>
                      <a:pPr algn="ctr"/>
                      <a:r>
                        <a:rPr sz="1000" b="0" i="0">
                          <a:solidFill>
                            <a:srgbClr val="21295C"/>
                          </a:solidFill>
                          <a:latin typeface="Consolas"/>
                        </a:rPr>
                        <a:t>001</a:t>
                      </a:r>
                    </a:p>
                  </a:txBody>
                  <a:tcPr>
                    <a:solidFill>
                      <a:srgbClr val="F2F4FA"/>
                    </a:solidFill>
                  </a:tcPr>
                </a:tc>
                <a:tc>
                  <a:txBody>
                    <a:bodyPr/>
                    <a:lstStyle/>
                    <a:p>
                      <a:pPr algn="ctr"/>
                      <a:r>
                        <a:rPr sz="1000" b="0" i="0">
                          <a:solidFill>
                            <a:srgbClr val="21295C"/>
                          </a:solidFill>
                          <a:latin typeface="Calibri"/>
                        </a:rPr>
                        <a:t>3</a:t>
                      </a:r>
                    </a:p>
                  </a:txBody>
                  <a:tcPr>
                    <a:solidFill>
                      <a:srgbClr val="F2F4FA"/>
                    </a:solidFill>
                  </a:tcPr>
                </a:tc>
                <a:tc>
                  <a:txBody>
                    <a:bodyPr/>
                    <a:lstStyle/>
                    <a:p>
                      <a:pPr algn="ctr"/>
                      <a:r>
                        <a:rPr sz="1000" b="0" i="0">
                          <a:solidFill>
                            <a:srgbClr val="21295C"/>
                          </a:solidFill>
                          <a:latin typeface="Consolas"/>
                        </a:rPr>
                        <a:t>0011</a:t>
                      </a:r>
                    </a:p>
                  </a:txBody>
                  <a:tcPr>
                    <a:solidFill>
                      <a:srgbClr val="F2F4FA"/>
                    </a:solidFill>
                  </a:tcPr>
                </a:tc>
                <a:tc>
                  <a:txBody>
                    <a:bodyPr/>
                    <a:lstStyle/>
                    <a:p>
                      <a:pPr algn="ctr"/>
                      <a:r>
                        <a:rPr sz="1000" b="0" i="0">
                          <a:solidFill>
                            <a:srgbClr val="21295C"/>
                          </a:solidFill>
                          <a:latin typeface="Consolas"/>
                        </a:rPr>
                        <a:t>0</a:t>
                      </a:r>
                    </a:p>
                  </a:txBody>
                  <a:tcPr>
                    <a:solidFill>
                      <a:srgbClr val="F2F4FA"/>
                    </a:solidFill>
                  </a:tcPr>
                </a:tc>
                <a:extLst>
                  <a:ext uri="{0D108BD9-81ED-4DB2-BD59-A6C34878D82A}">
                    <a16:rowId xmlns:a16="http://schemas.microsoft.com/office/drawing/2014/main" val="10002"/>
                  </a:ext>
                </a:extLst>
              </a:tr>
              <a:tr h="325120">
                <a:tc>
                  <a:txBody>
                    <a:bodyPr/>
                    <a:lstStyle/>
                    <a:p>
                      <a:pPr algn="ctr"/>
                      <a:r>
                        <a:rPr sz="1000" b="0" i="0">
                          <a:solidFill>
                            <a:srgbClr val="21295C"/>
                          </a:solidFill>
                          <a:latin typeface="Consolas"/>
                        </a:rPr>
                        <a:t>010</a:t>
                      </a:r>
                    </a:p>
                  </a:txBody>
                  <a:tcPr>
                    <a:solidFill>
                      <a:srgbClr val="FFFFFF"/>
                    </a:solidFill>
                  </a:tcPr>
                </a:tc>
                <a:tc>
                  <a:txBody>
                    <a:bodyPr/>
                    <a:lstStyle/>
                    <a:p>
                      <a:pPr algn="ctr"/>
                      <a:r>
                        <a:rPr sz="1000" b="0" i="0">
                          <a:solidFill>
                            <a:srgbClr val="21295C"/>
                          </a:solidFill>
                          <a:latin typeface="Calibri"/>
                        </a:rPr>
                        <a:t>6</a:t>
                      </a:r>
                    </a:p>
                  </a:txBody>
                  <a:tcPr>
                    <a:solidFill>
                      <a:srgbClr val="FFFFFF"/>
                    </a:solidFill>
                  </a:tcPr>
                </a:tc>
                <a:tc>
                  <a:txBody>
                    <a:bodyPr/>
                    <a:lstStyle/>
                    <a:p>
                      <a:pPr algn="ctr"/>
                      <a:r>
                        <a:rPr sz="1000" b="0" i="0">
                          <a:solidFill>
                            <a:srgbClr val="21295C"/>
                          </a:solidFill>
                          <a:latin typeface="Consolas"/>
                        </a:rPr>
                        <a:t>0110</a:t>
                      </a:r>
                    </a:p>
                  </a:txBody>
                  <a:tcPr>
                    <a:solidFill>
                      <a:srgbClr val="FFFFFF"/>
                    </a:solidFill>
                  </a:tcPr>
                </a:tc>
                <a:tc>
                  <a:txBody>
                    <a:bodyPr/>
                    <a:lstStyle/>
                    <a:p>
                      <a:pPr algn="ctr"/>
                      <a:r>
                        <a:rPr sz="1000" b="0" i="0">
                          <a:solidFill>
                            <a:srgbClr val="21295C"/>
                          </a:solidFill>
                          <a:latin typeface="Consolas"/>
                        </a:rPr>
                        <a:t>0</a:t>
                      </a:r>
                    </a:p>
                  </a:txBody>
                  <a:tcPr>
                    <a:solidFill>
                      <a:srgbClr val="FFFFFF"/>
                    </a:solidFill>
                  </a:tcPr>
                </a:tc>
                <a:extLst>
                  <a:ext uri="{0D108BD9-81ED-4DB2-BD59-A6C34878D82A}">
                    <a16:rowId xmlns:a16="http://schemas.microsoft.com/office/drawing/2014/main" val="10003"/>
                  </a:ext>
                </a:extLst>
              </a:tr>
              <a:tr h="325120">
                <a:tc>
                  <a:txBody>
                    <a:bodyPr/>
                    <a:lstStyle/>
                    <a:p>
                      <a:pPr algn="ctr"/>
                      <a:r>
                        <a:rPr sz="1000" b="0" i="0">
                          <a:solidFill>
                            <a:srgbClr val="21295C"/>
                          </a:solidFill>
                          <a:latin typeface="Consolas"/>
                        </a:rPr>
                        <a:t>011</a:t>
                      </a:r>
                    </a:p>
                  </a:txBody>
                  <a:tcPr>
                    <a:solidFill>
                      <a:srgbClr val="F2F4FA"/>
                    </a:solidFill>
                  </a:tcPr>
                </a:tc>
                <a:tc>
                  <a:txBody>
                    <a:bodyPr/>
                    <a:lstStyle/>
                    <a:p>
                      <a:pPr algn="ctr"/>
                      <a:r>
                        <a:rPr sz="1000" b="0" i="0" dirty="0">
                          <a:solidFill>
                            <a:srgbClr val="21295C"/>
                          </a:solidFill>
                          <a:latin typeface="Calibri"/>
                        </a:rPr>
                        <a:t>OF</a:t>
                      </a:r>
                    </a:p>
                  </a:txBody>
                  <a:tcPr>
                    <a:solidFill>
                      <a:srgbClr val="F2F4FA"/>
                    </a:solidFill>
                  </a:tcPr>
                </a:tc>
                <a:tc>
                  <a:txBody>
                    <a:bodyPr/>
                    <a:lstStyle/>
                    <a:p>
                      <a:pPr algn="ctr"/>
                      <a:r>
                        <a:rPr sz="1000" b="0" i="0">
                          <a:solidFill>
                            <a:srgbClr val="21295C"/>
                          </a:solidFill>
                          <a:latin typeface="Consolas"/>
                        </a:rPr>
                        <a:t>1100</a:t>
                      </a:r>
                    </a:p>
                  </a:txBody>
                  <a:tcPr>
                    <a:solidFill>
                      <a:srgbClr val="F2F4FA"/>
                    </a:solidFill>
                  </a:tcPr>
                </a:tc>
                <a:tc>
                  <a:txBody>
                    <a:bodyPr/>
                    <a:lstStyle/>
                    <a:p>
                      <a:pPr algn="ctr"/>
                      <a:r>
                        <a:rPr sz="1000" b="0" i="0">
                          <a:solidFill>
                            <a:srgbClr val="21295C"/>
                          </a:solidFill>
                          <a:latin typeface="Consolas"/>
                        </a:rPr>
                        <a:t>1</a:t>
                      </a:r>
                    </a:p>
                  </a:txBody>
                  <a:tcPr>
                    <a:solidFill>
                      <a:srgbClr val="F2F4FA"/>
                    </a:solidFill>
                  </a:tcPr>
                </a:tc>
                <a:extLst>
                  <a:ext uri="{0D108BD9-81ED-4DB2-BD59-A6C34878D82A}">
                    <a16:rowId xmlns:a16="http://schemas.microsoft.com/office/drawing/2014/main" val="10004"/>
                  </a:ext>
                </a:extLst>
              </a:tr>
              <a:tr h="325120">
                <a:tc>
                  <a:txBody>
                    <a:bodyPr/>
                    <a:lstStyle/>
                    <a:p>
                      <a:pPr algn="ctr"/>
                      <a:r>
                        <a:rPr sz="1000" b="0" i="0">
                          <a:solidFill>
                            <a:srgbClr val="21295C"/>
                          </a:solidFill>
                          <a:latin typeface="Consolas"/>
                        </a:rPr>
                        <a:t>100</a:t>
                      </a:r>
                    </a:p>
                  </a:txBody>
                  <a:tcPr>
                    <a:solidFill>
                      <a:srgbClr val="FFFFFF"/>
                    </a:solidFill>
                  </a:tcPr>
                </a:tc>
                <a:tc>
                  <a:txBody>
                    <a:bodyPr/>
                    <a:lstStyle/>
                    <a:p>
                      <a:pPr algn="ctr"/>
                      <a:r>
                        <a:rPr sz="1000" b="0" i="0" dirty="0">
                          <a:solidFill>
                            <a:srgbClr val="21295C"/>
                          </a:solidFill>
                          <a:latin typeface="Calibri"/>
                        </a:rPr>
                        <a:t>OF</a:t>
                      </a:r>
                    </a:p>
                  </a:txBody>
                  <a:tcPr>
                    <a:solidFill>
                      <a:srgbClr val="FFFFFF"/>
                    </a:solidFill>
                  </a:tcPr>
                </a:tc>
                <a:tc>
                  <a:txBody>
                    <a:bodyPr/>
                    <a:lstStyle/>
                    <a:p>
                      <a:pPr algn="ctr"/>
                      <a:r>
                        <a:rPr sz="1000" b="0" i="0">
                          <a:solidFill>
                            <a:srgbClr val="21295C"/>
                          </a:solidFill>
                          <a:latin typeface="Consolas"/>
                        </a:rPr>
                        <a:t>1100</a:t>
                      </a:r>
                    </a:p>
                  </a:txBody>
                  <a:tcPr>
                    <a:solidFill>
                      <a:srgbClr val="FFFFFF"/>
                    </a:solidFill>
                  </a:tcPr>
                </a:tc>
                <a:tc>
                  <a:txBody>
                    <a:bodyPr/>
                    <a:lstStyle/>
                    <a:p>
                      <a:pPr algn="ctr"/>
                      <a:r>
                        <a:rPr sz="1000" b="0" i="0">
                          <a:solidFill>
                            <a:srgbClr val="21295C"/>
                          </a:solidFill>
                          <a:latin typeface="Consolas"/>
                        </a:rPr>
                        <a:t>1</a:t>
                      </a:r>
                    </a:p>
                  </a:txBody>
                  <a:tcPr>
                    <a:solidFill>
                      <a:srgbClr val="FFFFFF"/>
                    </a:solidFill>
                  </a:tcPr>
                </a:tc>
                <a:extLst>
                  <a:ext uri="{0D108BD9-81ED-4DB2-BD59-A6C34878D82A}">
                    <a16:rowId xmlns:a16="http://schemas.microsoft.com/office/drawing/2014/main" val="10005"/>
                  </a:ext>
                </a:extLst>
              </a:tr>
              <a:tr h="325120">
                <a:tc>
                  <a:txBody>
                    <a:bodyPr/>
                    <a:lstStyle/>
                    <a:p>
                      <a:pPr algn="ctr"/>
                      <a:r>
                        <a:rPr sz="1000" b="0" i="0">
                          <a:solidFill>
                            <a:srgbClr val="21295C"/>
                          </a:solidFill>
                          <a:latin typeface="Consolas"/>
                        </a:rPr>
                        <a:t>101</a:t>
                      </a:r>
                    </a:p>
                  </a:txBody>
                  <a:tcPr>
                    <a:solidFill>
                      <a:srgbClr val="F2F4FA"/>
                    </a:solidFill>
                  </a:tcPr>
                </a:tc>
                <a:tc>
                  <a:txBody>
                    <a:bodyPr/>
                    <a:lstStyle/>
                    <a:p>
                      <a:pPr algn="ctr"/>
                      <a:r>
                        <a:rPr sz="1000" b="0" i="0" dirty="0">
                          <a:solidFill>
                            <a:srgbClr val="21295C"/>
                          </a:solidFill>
                          <a:latin typeface="Calibri"/>
                        </a:rPr>
                        <a:t>OF</a:t>
                      </a:r>
                    </a:p>
                  </a:txBody>
                  <a:tcPr>
                    <a:solidFill>
                      <a:srgbClr val="F2F4FA"/>
                    </a:solidFill>
                  </a:tcPr>
                </a:tc>
                <a:tc>
                  <a:txBody>
                    <a:bodyPr/>
                    <a:lstStyle/>
                    <a:p>
                      <a:pPr algn="ctr"/>
                      <a:r>
                        <a:rPr sz="1000" b="0" i="0">
                          <a:solidFill>
                            <a:srgbClr val="21295C"/>
                          </a:solidFill>
                          <a:latin typeface="Consolas"/>
                        </a:rPr>
                        <a:t>1100</a:t>
                      </a:r>
                    </a:p>
                  </a:txBody>
                  <a:tcPr>
                    <a:solidFill>
                      <a:srgbClr val="F2F4FA"/>
                    </a:solidFill>
                  </a:tcPr>
                </a:tc>
                <a:tc>
                  <a:txBody>
                    <a:bodyPr/>
                    <a:lstStyle/>
                    <a:p>
                      <a:pPr algn="ctr"/>
                      <a:r>
                        <a:rPr sz="1000" b="0" i="0">
                          <a:solidFill>
                            <a:srgbClr val="21295C"/>
                          </a:solidFill>
                          <a:latin typeface="Consolas"/>
                        </a:rPr>
                        <a:t>1</a:t>
                      </a:r>
                    </a:p>
                  </a:txBody>
                  <a:tcPr>
                    <a:solidFill>
                      <a:srgbClr val="F2F4FA"/>
                    </a:solidFill>
                  </a:tcPr>
                </a:tc>
                <a:extLst>
                  <a:ext uri="{0D108BD9-81ED-4DB2-BD59-A6C34878D82A}">
                    <a16:rowId xmlns:a16="http://schemas.microsoft.com/office/drawing/2014/main" val="10006"/>
                  </a:ext>
                </a:extLst>
              </a:tr>
              <a:tr h="325120">
                <a:tc>
                  <a:txBody>
                    <a:bodyPr/>
                    <a:lstStyle/>
                    <a:p>
                      <a:pPr algn="ctr"/>
                      <a:r>
                        <a:rPr sz="1000" b="0" i="0">
                          <a:solidFill>
                            <a:srgbClr val="21295C"/>
                          </a:solidFill>
                          <a:latin typeface="Consolas"/>
                        </a:rPr>
                        <a:t>110</a:t>
                      </a:r>
                    </a:p>
                  </a:txBody>
                  <a:tcPr>
                    <a:solidFill>
                      <a:srgbClr val="FFFFFF"/>
                    </a:solidFill>
                  </a:tcPr>
                </a:tc>
                <a:tc>
                  <a:txBody>
                    <a:bodyPr/>
                    <a:lstStyle/>
                    <a:p>
                      <a:pPr algn="ctr"/>
                      <a:r>
                        <a:rPr sz="1000" b="0" i="0" dirty="0">
                          <a:solidFill>
                            <a:srgbClr val="21295C"/>
                          </a:solidFill>
                          <a:latin typeface="Calibri"/>
                        </a:rPr>
                        <a:t>OF</a:t>
                      </a:r>
                    </a:p>
                  </a:txBody>
                  <a:tcPr>
                    <a:solidFill>
                      <a:srgbClr val="FFFFFF"/>
                    </a:solidFill>
                  </a:tcPr>
                </a:tc>
                <a:tc>
                  <a:txBody>
                    <a:bodyPr/>
                    <a:lstStyle/>
                    <a:p>
                      <a:pPr algn="ctr"/>
                      <a:r>
                        <a:rPr sz="1000" b="0" i="0">
                          <a:solidFill>
                            <a:srgbClr val="21295C"/>
                          </a:solidFill>
                          <a:latin typeface="Consolas"/>
                        </a:rPr>
                        <a:t>1100</a:t>
                      </a:r>
                    </a:p>
                  </a:txBody>
                  <a:tcPr>
                    <a:solidFill>
                      <a:srgbClr val="FFFFFF"/>
                    </a:solidFill>
                  </a:tcPr>
                </a:tc>
                <a:tc>
                  <a:txBody>
                    <a:bodyPr/>
                    <a:lstStyle/>
                    <a:p>
                      <a:pPr algn="ctr"/>
                      <a:r>
                        <a:rPr sz="1000" b="0" i="0">
                          <a:solidFill>
                            <a:srgbClr val="21295C"/>
                          </a:solidFill>
                          <a:latin typeface="Consolas"/>
                        </a:rPr>
                        <a:t>1</a:t>
                      </a:r>
                    </a:p>
                  </a:txBody>
                  <a:tcPr>
                    <a:solidFill>
                      <a:srgbClr val="FFFFFF"/>
                    </a:solidFill>
                  </a:tcPr>
                </a:tc>
                <a:extLst>
                  <a:ext uri="{0D108BD9-81ED-4DB2-BD59-A6C34878D82A}">
                    <a16:rowId xmlns:a16="http://schemas.microsoft.com/office/drawing/2014/main" val="10007"/>
                  </a:ext>
                </a:extLst>
              </a:tr>
              <a:tr h="325120">
                <a:tc>
                  <a:txBody>
                    <a:bodyPr/>
                    <a:lstStyle/>
                    <a:p>
                      <a:pPr algn="ctr"/>
                      <a:r>
                        <a:rPr sz="1000" b="0" i="0">
                          <a:solidFill>
                            <a:srgbClr val="21295C"/>
                          </a:solidFill>
                          <a:latin typeface="Consolas"/>
                        </a:rPr>
                        <a:t>111</a:t>
                      </a:r>
                    </a:p>
                  </a:txBody>
                  <a:tcPr>
                    <a:solidFill>
                      <a:srgbClr val="F2F4FA"/>
                    </a:solidFill>
                  </a:tcPr>
                </a:tc>
                <a:tc>
                  <a:txBody>
                    <a:bodyPr/>
                    <a:lstStyle/>
                    <a:p>
                      <a:pPr algn="ctr"/>
                      <a:r>
                        <a:rPr sz="1000" b="0" i="0" dirty="0">
                          <a:solidFill>
                            <a:srgbClr val="21295C"/>
                          </a:solidFill>
                          <a:latin typeface="Calibri"/>
                        </a:rPr>
                        <a:t>OF</a:t>
                      </a:r>
                    </a:p>
                  </a:txBody>
                  <a:tcPr>
                    <a:solidFill>
                      <a:srgbClr val="F2F4FA"/>
                    </a:solidFill>
                  </a:tcPr>
                </a:tc>
                <a:tc>
                  <a:txBody>
                    <a:bodyPr/>
                    <a:lstStyle/>
                    <a:p>
                      <a:pPr algn="ctr"/>
                      <a:r>
                        <a:rPr sz="1000" b="0" i="0">
                          <a:solidFill>
                            <a:srgbClr val="21295C"/>
                          </a:solidFill>
                          <a:latin typeface="Consolas"/>
                        </a:rPr>
                        <a:t>1100</a:t>
                      </a:r>
                    </a:p>
                  </a:txBody>
                  <a:tcPr>
                    <a:solidFill>
                      <a:srgbClr val="F2F4FA"/>
                    </a:solidFill>
                  </a:tcPr>
                </a:tc>
                <a:tc>
                  <a:txBody>
                    <a:bodyPr/>
                    <a:lstStyle/>
                    <a:p>
                      <a:pPr algn="ctr"/>
                      <a:r>
                        <a:rPr sz="1000" b="0" i="0">
                          <a:solidFill>
                            <a:srgbClr val="21295C"/>
                          </a:solidFill>
                          <a:latin typeface="Consolas"/>
                        </a:rPr>
                        <a:t>1</a:t>
                      </a:r>
                    </a:p>
                  </a:txBody>
                  <a:tcPr>
                    <a:solidFill>
                      <a:srgbClr val="F2F4FA"/>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301752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D[3]</a:t>
            </a:r>
          </a:p>
        </p:txBody>
      </p:sp>
      <p:graphicFrame>
        <p:nvGraphicFramePr>
          <p:cNvPr id="7" name="Table 6"/>
          <p:cNvGraphicFramePr>
            <a:graphicFrameLocks noGrp="1"/>
          </p:cNvGraphicFramePr>
          <p:nvPr/>
        </p:nvGraphicFramePr>
        <p:xfrm>
          <a:off x="301752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Y[1]Y[0]\Y[2]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2"/>
                  </a:ext>
                </a:extLst>
              </a:tr>
            </a:tbl>
          </a:graphicData>
        </a:graphic>
      </p:graphicFrame>
      <p:sp>
        <p:nvSpPr>
          <p:cNvPr id="8" name="Rounded Rectangle 7"/>
          <p:cNvSpPr/>
          <p:nvPr/>
        </p:nvSpPr>
        <p:spPr>
          <a:xfrm>
            <a:off x="3511296" y="2148839"/>
            <a:ext cx="1170432" cy="283463"/>
          </a:xfrm>
          <a:prstGeom prst="roundRect">
            <a:avLst>
              <a:gd name="adj" fmla="val 45000"/>
            </a:avLst>
          </a:prstGeom>
          <a:noFill/>
          <a:ln w="28575">
            <a:solidFill>
              <a:srgbClr val="C82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096512" y="1880102"/>
            <a:ext cx="285365" cy="570489"/>
          </a:xfrm>
          <a:prstGeom prst="roundRect">
            <a:avLst>
              <a:gd name="adj" fmla="val 45000"/>
            </a:avLst>
          </a:prstGeom>
          <a:noFill/>
          <a:ln w="2857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1752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D[3] = Y[2] + Y[1]·Y[0]</a:t>
            </a:r>
          </a:p>
        </p:txBody>
      </p:sp>
      <p:sp>
        <p:nvSpPr>
          <p:cNvPr id="11" name="TextBox 10"/>
          <p:cNvSpPr txBox="1"/>
          <p:nvPr/>
        </p:nvSpPr>
        <p:spPr>
          <a:xfrm>
            <a:off x="502920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D[2]</a:t>
            </a:r>
          </a:p>
        </p:txBody>
      </p:sp>
      <p:graphicFrame>
        <p:nvGraphicFramePr>
          <p:cNvPr id="12" name="Table 11"/>
          <p:cNvGraphicFramePr>
            <a:graphicFrameLocks noGrp="1"/>
          </p:cNvGraphicFramePr>
          <p:nvPr/>
        </p:nvGraphicFramePr>
        <p:xfrm>
          <a:off x="502920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Y[1]Y[0]\Y[2]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dirty="0">
                          <a:solidFill>
                            <a:srgbClr val="21295C"/>
                          </a:solidFill>
                          <a:latin typeface="Consolas"/>
                        </a:rPr>
                        <a:t>1</a:t>
                      </a:r>
                    </a:p>
                  </a:txBody>
                  <a:tcPr>
                    <a:solidFill>
                      <a:srgbClr val="E8F1FF"/>
                    </a:solidFill>
                  </a:tcPr>
                </a:tc>
                <a:extLst>
                  <a:ext uri="{0D108BD9-81ED-4DB2-BD59-A6C34878D82A}">
                    <a16:rowId xmlns:a16="http://schemas.microsoft.com/office/drawing/2014/main" val="10002"/>
                  </a:ext>
                </a:extLst>
              </a:tr>
            </a:tbl>
          </a:graphicData>
        </a:graphic>
      </p:graphicFrame>
      <p:sp>
        <p:nvSpPr>
          <p:cNvPr id="13" name="Rounded Rectangle 12"/>
          <p:cNvSpPr/>
          <p:nvPr/>
        </p:nvSpPr>
        <p:spPr>
          <a:xfrm>
            <a:off x="5513832" y="2075688"/>
            <a:ext cx="1188720" cy="365760"/>
          </a:xfrm>
          <a:prstGeom prst="roundRect">
            <a:avLst>
              <a:gd name="adj" fmla="val 45000"/>
            </a:avLst>
          </a:prstGeom>
          <a:noFill/>
          <a:ln w="28575">
            <a:solidFill>
              <a:srgbClr val="C82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085331" y="1880102"/>
            <a:ext cx="594360" cy="538486"/>
          </a:xfrm>
          <a:prstGeom prst="roundRect">
            <a:avLst>
              <a:gd name="adj" fmla="val 45000"/>
            </a:avLst>
          </a:prstGeom>
          <a:noFill/>
          <a:ln w="2857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D[2] = Y[2] + Y[1]</a:t>
            </a:r>
          </a:p>
        </p:txBody>
      </p:sp>
      <p:sp>
        <p:nvSpPr>
          <p:cNvPr id="16" name="TextBox 15"/>
          <p:cNvSpPr txBox="1"/>
          <p:nvPr/>
        </p:nvSpPr>
        <p:spPr>
          <a:xfrm>
            <a:off x="704088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D[1]</a:t>
            </a:r>
          </a:p>
        </p:txBody>
      </p:sp>
      <p:graphicFrame>
        <p:nvGraphicFramePr>
          <p:cNvPr id="17" name="Table 16"/>
          <p:cNvGraphicFramePr>
            <a:graphicFrameLocks noGrp="1"/>
          </p:cNvGraphicFramePr>
          <p:nvPr/>
        </p:nvGraphicFramePr>
        <p:xfrm>
          <a:off x="704088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Y[1]Y[0]\Y[2]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2"/>
                  </a:ext>
                </a:extLst>
              </a:tr>
            </a:tbl>
          </a:graphicData>
        </a:graphic>
      </p:graphicFrame>
      <p:sp>
        <p:nvSpPr>
          <p:cNvPr id="18" name="Rounded Rectangle 17"/>
          <p:cNvSpPr/>
          <p:nvPr/>
        </p:nvSpPr>
        <p:spPr>
          <a:xfrm>
            <a:off x="7823612" y="1880102"/>
            <a:ext cx="299911" cy="277882"/>
          </a:xfrm>
          <a:prstGeom prst="roundRect">
            <a:avLst>
              <a:gd name="adj" fmla="val 45000"/>
            </a:avLst>
          </a:prstGeom>
          <a:noFill/>
          <a:ln w="28575">
            <a:solidFill>
              <a:srgbClr val="6A2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68601" y="1880102"/>
            <a:ext cx="299911" cy="277882"/>
          </a:xfrm>
          <a:prstGeom prst="roundRect">
            <a:avLst>
              <a:gd name="adj" fmla="val 45000"/>
            </a:avLst>
          </a:prstGeom>
          <a:noFill/>
          <a:ln w="28575">
            <a:solidFill>
              <a:srgbClr val="D96E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4088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D[1] = Y[2]'·(Y[1]⊕Y[0])</a:t>
            </a:r>
          </a:p>
        </p:txBody>
      </p:sp>
      <p:sp>
        <p:nvSpPr>
          <p:cNvPr id="21" name="TextBox 20"/>
          <p:cNvSpPr txBox="1"/>
          <p:nvPr/>
        </p:nvSpPr>
        <p:spPr>
          <a:xfrm>
            <a:off x="3017520" y="2926080"/>
            <a:ext cx="1719072" cy="182880"/>
          </a:xfrm>
          <a:prstGeom prst="rect">
            <a:avLst/>
          </a:prstGeom>
          <a:noFill/>
        </p:spPr>
        <p:txBody>
          <a:bodyPr wrap="none" lIns="0" tIns="0" rIns="0" bIns="0">
            <a:spAutoFit/>
          </a:bodyPr>
          <a:lstStyle/>
          <a:p>
            <a:pPr algn="l"/>
            <a:r>
              <a:rPr sz="1000" b="1">
                <a:solidFill>
                  <a:srgbClr val="1E2761"/>
                </a:solidFill>
                <a:latin typeface="Calibri"/>
              </a:rPr>
              <a:t>K-map for D[0]</a:t>
            </a:r>
          </a:p>
        </p:txBody>
      </p:sp>
      <p:graphicFrame>
        <p:nvGraphicFramePr>
          <p:cNvPr id="22" name="Table 21"/>
          <p:cNvGraphicFramePr>
            <a:graphicFrameLocks noGrp="1"/>
          </p:cNvGraphicFramePr>
          <p:nvPr/>
        </p:nvGraphicFramePr>
        <p:xfrm>
          <a:off x="3017520" y="312724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Y[1]Y[0]\Y[2]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dirty="0">
                          <a:solidFill>
                            <a:srgbClr val="5C5C5C"/>
                          </a:solidFill>
                          <a:latin typeface="Consolas"/>
                        </a:rPr>
                        <a:t>0</a:t>
                      </a:r>
                    </a:p>
                  </a:txBody>
                  <a:tcPr>
                    <a:solidFill>
                      <a:srgbClr val="FFFFFF"/>
                    </a:solidFill>
                  </a:tcPr>
                </a:tc>
                <a:extLst>
                  <a:ext uri="{0D108BD9-81ED-4DB2-BD59-A6C34878D82A}">
                    <a16:rowId xmlns:a16="http://schemas.microsoft.com/office/drawing/2014/main" val="10002"/>
                  </a:ext>
                </a:extLst>
              </a:tr>
            </a:tbl>
          </a:graphicData>
        </a:graphic>
      </p:graphicFrame>
      <p:sp>
        <p:nvSpPr>
          <p:cNvPr id="23" name="Rounded Rectangle 22"/>
          <p:cNvSpPr/>
          <p:nvPr/>
        </p:nvSpPr>
        <p:spPr>
          <a:xfrm>
            <a:off x="3803783" y="3434280"/>
            <a:ext cx="292729" cy="278183"/>
          </a:xfrm>
          <a:prstGeom prst="roundRect">
            <a:avLst>
              <a:gd name="adj" fmla="val 45000"/>
            </a:avLst>
          </a:prstGeom>
          <a:noFill/>
          <a:ln w="28575">
            <a:solidFill>
              <a:srgbClr val="1B5E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017520" y="399592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D[0] = Y[2]'·Y[1]'·Y[0]</a:t>
            </a:r>
          </a:p>
        </p:txBody>
      </p:sp>
      <p:sp>
        <p:nvSpPr>
          <p:cNvPr id="25" name="TextBox 24"/>
          <p:cNvSpPr txBox="1"/>
          <p:nvPr/>
        </p:nvSpPr>
        <p:spPr>
          <a:xfrm>
            <a:off x="5029200" y="2926080"/>
            <a:ext cx="1719072" cy="182880"/>
          </a:xfrm>
          <a:prstGeom prst="rect">
            <a:avLst/>
          </a:prstGeom>
          <a:noFill/>
        </p:spPr>
        <p:txBody>
          <a:bodyPr wrap="none" lIns="0" tIns="0" rIns="0" bIns="0">
            <a:spAutoFit/>
          </a:bodyPr>
          <a:lstStyle/>
          <a:p>
            <a:pPr algn="l"/>
            <a:r>
              <a:rPr sz="1000" b="1" dirty="0">
                <a:solidFill>
                  <a:srgbClr val="1E2761"/>
                </a:solidFill>
                <a:latin typeface="Calibri"/>
              </a:rPr>
              <a:t>K-map for OF</a:t>
            </a:r>
          </a:p>
        </p:txBody>
      </p:sp>
      <p:graphicFrame>
        <p:nvGraphicFramePr>
          <p:cNvPr id="26" name="Table 25"/>
          <p:cNvGraphicFramePr>
            <a:graphicFrameLocks noGrp="1"/>
          </p:cNvGraphicFramePr>
          <p:nvPr/>
        </p:nvGraphicFramePr>
        <p:xfrm>
          <a:off x="5029200" y="312724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Y[1]Y[0]\Y[2]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2"/>
                  </a:ext>
                </a:extLst>
              </a:tr>
            </a:tbl>
          </a:graphicData>
        </a:graphic>
      </p:graphicFrame>
      <p:sp>
        <p:nvSpPr>
          <p:cNvPr id="27" name="Rounded Rectangle 26"/>
          <p:cNvSpPr/>
          <p:nvPr/>
        </p:nvSpPr>
        <p:spPr>
          <a:xfrm>
            <a:off x="5522976" y="3712462"/>
            <a:ext cx="1170432" cy="274321"/>
          </a:xfrm>
          <a:prstGeom prst="roundRect">
            <a:avLst>
              <a:gd name="adj" fmla="val 45000"/>
            </a:avLst>
          </a:prstGeom>
          <a:noFill/>
          <a:ln w="28575">
            <a:solidFill>
              <a:srgbClr val="C82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108192" y="3434280"/>
            <a:ext cx="289590" cy="570792"/>
          </a:xfrm>
          <a:prstGeom prst="roundRect">
            <a:avLst>
              <a:gd name="adj" fmla="val 45000"/>
            </a:avLst>
          </a:prstGeom>
          <a:noFill/>
          <a:ln w="2857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0" y="3995928"/>
            <a:ext cx="2084831" cy="365760"/>
          </a:xfrm>
          <a:prstGeom prst="rect">
            <a:avLst/>
          </a:prstGeom>
          <a:noFill/>
        </p:spPr>
        <p:txBody>
          <a:bodyPr wrap="square" lIns="36576" tIns="18288" rIns="36576" bIns="18288">
            <a:spAutoFit/>
          </a:bodyPr>
          <a:lstStyle/>
          <a:p>
            <a:pPr algn="l"/>
            <a:r>
              <a:rPr sz="1000" b="1" i="0" dirty="0">
                <a:solidFill>
                  <a:srgbClr val="21295C"/>
                </a:solidFill>
                <a:latin typeface="Consolas"/>
              </a:rPr>
              <a:t>OF = Y[2] + Y[1]·Y[0]</a:t>
            </a:r>
          </a:p>
        </p:txBody>
      </p:sp>
      <p:sp>
        <p:nvSpPr>
          <p:cNvPr id="30" name="Rectangle 29"/>
          <p:cNvSpPr/>
          <p:nvPr/>
        </p:nvSpPr>
        <p:spPr>
          <a:xfrm>
            <a:off x="274320" y="4370832"/>
            <a:ext cx="8595360" cy="457200"/>
          </a:xfrm>
          <a:prstGeom prst="rect">
            <a:avLst/>
          </a:prstGeom>
          <a:solidFill>
            <a:srgbClr val="F2F4FA"/>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5760" y="4407408"/>
            <a:ext cx="8412480" cy="384048"/>
          </a:xfrm>
          <a:prstGeom prst="rect">
            <a:avLst/>
          </a:prstGeom>
          <a:noFill/>
        </p:spPr>
        <p:txBody>
          <a:bodyPr wrap="square" lIns="36576" tIns="18288" rIns="36576" bIns="18288" anchor="ctr">
            <a:spAutoFit/>
          </a:bodyPr>
          <a:lstStyle/>
          <a:p>
            <a:pPr algn="l"/>
            <a:r>
              <a:rPr sz="1150" b="1" i="0" dirty="0">
                <a:solidFill>
                  <a:srgbClr val="1E2761"/>
                </a:solidFill>
                <a:latin typeface="Consolas"/>
              </a:rPr>
              <a:t>D[3]=Y[2]+Y[1]Y[0]   D[2]=Y[2]+Y[1]   D[1]=Y[2]'(Y[1]⊕Y[0])   D[0]=Y[2]'Y[1]'Y[0]   OF=D[3]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10896" y="365760"/>
            <a:ext cx="8522208" cy="576072"/>
          </a:xfrm>
        </p:spPr>
        <p:txBody>
          <a:bodyPr wrap="square" lIns="18288" tIns="18288" rIns="18288" bIns="18288" anchor="ctr"/>
          <a:lstStyle/>
          <a:p>
            <a:pPr algn="l"/>
            <a:r>
              <a:rPr sz="2200" b="1" dirty="0">
                <a:solidFill>
                  <a:srgbClr val="1E2761"/>
                </a:solidFill>
                <a:latin typeface="Calibri"/>
              </a:rPr>
              <a:t>Sensor Compare (S = 010)</a:t>
            </a:r>
          </a:p>
        </p:txBody>
      </p:sp>
      <p:sp>
        <p:nvSpPr>
          <p:cNvPr id="4" name="TextBox 3"/>
          <p:cNvSpPr txBox="1"/>
          <p:nvPr/>
        </p:nvSpPr>
        <p:spPr>
          <a:xfrm>
            <a:off x="310896" y="1005840"/>
            <a:ext cx="8522208" cy="256032"/>
          </a:xfrm>
          <a:prstGeom prst="rect">
            <a:avLst/>
          </a:prstGeom>
          <a:noFill/>
        </p:spPr>
        <p:txBody>
          <a:bodyPr wrap="square" lIns="36576" tIns="18288" rIns="36576" bIns="18288">
            <a:spAutoFit/>
          </a:bodyPr>
          <a:lstStyle/>
          <a:p>
            <a:r>
              <a:rPr sz="1050" b="0" i="1">
                <a:solidFill>
                  <a:srgbClr val="5C5C5C"/>
                </a:solidFill>
                <a:latin typeface="Calibri"/>
              </a:rPr>
              <a:t>Tests whether front and side sensors agree. Output is "E" when equal, "U" otherwise. Builds on the Chapter 4 equality comparator. Never overflows.</a:t>
            </a:r>
          </a:p>
        </p:txBody>
      </p:sp>
      <p:graphicFrame>
        <p:nvGraphicFramePr>
          <p:cNvPr id="5" name="Table 4"/>
          <p:cNvGraphicFramePr>
            <a:graphicFrameLocks noGrp="1"/>
          </p:cNvGraphicFramePr>
          <p:nvPr/>
        </p:nvGraphicFramePr>
        <p:xfrm>
          <a:off x="274320" y="1371600"/>
          <a:ext cx="2423160" cy="2103120"/>
        </p:xfrm>
        <a:graphic>
          <a:graphicData uri="http://schemas.openxmlformats.org/drawingml/2006/table">
            <a:tbl>
              <a:tblPr firstRow="1" bandRow="1">
                <a:tableStyleId>{5C22544A-7EE6-4342-B048-85BDC9FD1C3A}</a:tableStyleId>
              </a:tblPr>
              <a:tblGrid>
                <a:gridCol w="59436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300445">
                <a:tc>
                  <a:txBody>
                    <a:bodyPr/>
                    <a:lstStyle/>
                    <a:p>
                      <a:pPr algn="ctr"/>
                      <a:r>
                        <a:rPr sz="1000" b="1" i="0">
                          <a:solidFill>
                            <a:srgbClr val="FFFFFF"/>
                          </a:solidFill>
                          <a:latin typeface="Calibri"/>
                        </a:rPr>
                        <a:t>G[2:0]</a:t>
                      </a:r>
                    </a:p>
                  </a:txBody>
                  <a:tcPr>
                    <a:solidFill>
                      <a:srgbClr val="1E2761"/>
                    </a:solidFill>
                  </a:tcPr>
                </a:tc>
                <a:tc>
                  <a:txBody>
                    <a:bodyPr/>
                    <a:lstStyle/>
                    <a:p>
                      <a:pPr algn="ctr"/>
                      <a:r>
                        <a:rPr sz="1000" b="1" i="0">
                          <a:solidFill>
                            <a:srgbClr val="FFFFFF"/>
                          </a:solidFill>
                          <a:latin typeface="Calibri"/>
                        </a:rPr>
                        <a:t>Y[2:0]</a:t>
                      </a:r>
                    </a:p>
                  </a:txBody>
                  <a:tcPr>
                    <a:solidFill>
                      <a:srgbClr val="1E2761"/>
                    </a:solidFill>
                  </a:tcPr>
                </a:tc>
                <a:tc>
                  <a:txBody>
                    <a:bodyPr/>
                    <a:lstStyle/>
                    <a:p>
                      <a:pPr algn="ctr"/>
                      <a:r>
                        <a:rPr sz="1000" b="1" i="0">
                          <a:solidFill>
                            <a:srgbClr val="FFFFFF"/>
                          </a:solidFill>
                          <a:latin typeface="Calibri"/>
                        </a:rPr>
                        <a:t>Result</a:t>
                      </a:r>
                    </a:p>
                  </a:txBody>
                  <a:tcPr>
                    <a:solidFill>
                      <a:srgbClr val="1E2761"/>
                    </a:solidFill>
                  </a:tcPr>
                </a:tc>
                <a:tc>
                  <a:txBody>
                    <a:bodyPr/>
                    <a:lstStyle/>
                    <a:p>
                      <a:pPr algn="ctr"/>
                      <a:r>
                        <a:rPr sz="1000" b="1" i="0">
                          <a:solidFill>
                            <a:srgbClr val="FFFFFF"/>
                          </a:solidFill>
                          <a:latin typeface="Calibri"/>
                        </a:rPr>
                        <a:t>D[3:0]</a:t>
                      </a:r>
                    </a:p>
                  </a:txBody>
                  <a:tcPr>
                    <a:solidFill>
                      <a:srgbClr val="1E2761"/>
                    </a:solidFill>
                  </a:tcPr>
                </a:tc>
                <a:extLst>
                  <a:ext uri="{0D108BD9-81ED-4DB2-BD59-A6C34878D82A}">
                    <a16:rowId xmlns:a16="http://schemas.microsoft.com/office/drawing/2014/main" val="10000"/>
                  </a:ext>
                </a:extLst>
              </a:tr>
              <a:tr h="300445">
                <a:tc>
                  <a:txBody>
                    <a:bodyPr/>
                    <a:lstStyle/>
                    <a:p>
                      <a:pPr algn="ctr"/>
                      <a:r>
                        <a:rPr sz="1000" b="0" i="0">
                          <a:solidFill>
                            <a:srgbClr val="21295C"/>
                          </a:solidFill>
                          <a:latin typeface="Consolas"/>
                        </a:rPr>
                        <a:t>000</a:t>
                      </a:r>
                    </a:p>
                  </a:txBody>
                  <a:tcPr>
                    <a:solidFill>
                      <a:srgbClr val="FFFFFF"/>
                    </a:solidFill>
                  </a:tcPr>
                </a:tc>
                <a:tc>
                  <a:txBody>
                    <a:bodyPr/>
                    <a:lstStyle/>
                    <a:p>
                      <a:pPr algn="ctr"/>
                      <a:r>
                        <a:rPr sz="1000" b="0" i="0">
                          <a:solidFill>
                            <a:srgbClr val="21295C"/>
                          </a:solidFill>
                          <a:latin typeface="Consolas"/>
                        </a:rPr>
                        <a:t>000</a:t>
                      </a:r>
                    </a:p>
                  </a:txBody>
                  <a:tcPr>
                    <a:solidFill>
                      <a:srgbClr val="FFFFFF"/>
                    </a:solidFill>
                  </a:tcPr>
                </a:tc>
                <a:tc>
                  <a:txBody>
                    <a:bodyPr/>
                    <a:lstStyle/>
                    <a:p>
                      <a:pPr algn="ctr"/>
                      <a:r>
                        <a:rPr sz="1000" b="0" i="0">
                          <a:solidFill>
                            <a:srgbClr val="21295C"/>
                          </a:solidFill>
                          <a:latin typeface="Calibri"/>
                        </a:rPr>
                        <a:t>equal</a:t>
                      </a:r>
                    </a:p>
                  </a:txBody>
                  <a:tcPr>
                    <a:solidFill>
                      <a:srgbClr val="FFFFFF"/>
                    </a:solidFill>
                  </a:tcPr>
                </a:tc>
                <a:tc>
                  <a:txBody>
                    <a:bodyPr/>
                    <a:lstStyle/>
                    <a:p>
                      <a:pPr algn="ctr"/>
                      <a:r>
                        <a:rPr sz="1000" b="0" i="0">
                          <a:solidFill>
                            <a:srgbClr val="21295C"/>
                          </a:solidFill>
                          <a:latin typeface="Consolas"/>
                        </a:rPr>
                        <a:t>1000</a:t>
                      </a:r>
                    </a:p>
                  </a:txBody>
                  <a:tcPr>
                    <a:solidFill>
                      <a:srgbClr val="FFFFFF"/>
                    </a:solidFill>
                  </a:tcPr>
                </a:tc>
                <a:extLst>
                  <a:ext uri="{0D108BD9-81ED-4DB2-BD59-A6C34878D82A}">
                    <a16:rowId xmlns:a16="http://schemas.microsoft.com/office/drawing/2014/main" val="10001"/>
                  </a:ext>
                </a:extLst>
              </a:tr>
              <a:tr h="300445">
                <a:tc>
                  <a:txBody>
                    <a:bodyPr/>
                    <a:lstStyle/>
                    <a:p>
                      <a:pPr algn="ctr"/>
                      <a:r>
                        <a:rPr sz="1000" b="0" i="0">
                          <a:solidFill>
                            <a:srgbClr val="21295C"/>
                          </a:solidFill>
                          <a:latin typeface="Consolas"/>
                        </a:rPr>
                        <a:t>010</a:t>
                      </a:r>
                    </a:p>
                  </a:txBody>
                  <a:tcPr>
                    <a:solidFill>
                      <a:srgbClr val="F2F4FA"/>
                    </a:solidFill>
                  </a:tcPr>
                </a:tc>
                <a:tc>
                  <a:txBody>
                    <a:bodyPr/>
                    <a:lstStyle/>
                    <a:p>
                      <a:pPr algn="ctr"/>
                      <a:r>
                        <a:rPr sz="1000" b="0" i="0">
                          <a:solidFill>
                            <a:srgbClr val="21295C"/>
                          </a:solidFill>
                          <a:latin typeface="Consolas"/>
                        </a:rPr>
                        <a:t>010</a:t>
                      </a:r>
                    </a:p>
                  </a:txBody>
                  <a:tcPr>
                    <a:solidFill>
                      <a:srgbClr val="F2F4FA"/>
                    </a:solidFill>
                  </a:tcPr>
                </a:tc>
                <a:tc>
                  <a:txBody>
                    <a:bodyPr/>
                    <a:lstStyle/>
                    <a:p>
                      <a:pPr algn="ctr"/>
                      <a:r>
                        <a:rPr sz="1000" b="0" i="0">
                          <a:solidFill>
                            <a:srgbClr val="21295C"/>
                          </a:solidFill>
                          <a:latin typeface="Calibri"/>
                        </a:rPr>
                        <a:t>equal</a:t>
                      </a:r>
                    </a:p>
                  </a:txBody>
                  <a:tcPr>
                    <a:solidFill>
                      <a:srgbClr val="F2F4FA"/>
                    </a:solidFill>
                  </a:tcPr>
                </a:tc>
                <a:tc>
                  <a:txBody>
                    <a:bodyPr/>
                    <a:lstStyle/>
                    <a:p>
                      <a:pPr algn="ctr"/>
                      <a:r>
                        <a:rPr sz="1000" b="0" i="0">
                          <a:solidFill>
                            <a:srgbClr val="21295C"/>
                          </a:solidFill>
                          <a:latin typeface="Consolas"/>
                        </a:rPr>
                        <a:t>1000</a:t>
                      </a:r>
                    </a:p>
                  </a:txBody>
                  <a:tcPr>
                    <a:solidFill>
                      <a:srgbClr val="F2F4FA"/>
                    </a:solidFill>
                  </a:tcPr>
                </a:tc>
                <a:extLst>
                  <a:ext uri="{0D108BD9-81ED-4DB2-BD59-A6C34878D82A}">
                    <a16:rowId xmlns:a16="http://schemas.microsoft.com/office/drawing/2014/main" val="10002"/>
                  </a:ext>
                </a:extLst>
              </a:tr>
              <a:tr h="300445">
                <a:tc>
                  <a:txBody>
                    <a:bodyPr/>
                    <a:lstStyle/>
                    <a:p>
                      <a:pPr algn="ctr"/>
                      <a:r>
                        <a:rPr sz="1000" b="0" i="0">
                          <a:solidFill>
                            <a:srgbClr val="21295C"/>
                          </a:solidFill>
                          <a:latin typeface="Consolas"/>
                        </a:rPr>
                        <a:t>111</a:t>
                      </a:r>
                    </a:p>
                  </a:txBody>
                  <a:tcPr>
                    <a:solidFill>
                      <a:srgbClr val="FFFFFF"/>
                    </a:solidFill>
                  </a:tcPr>
                </a:tc>
                <a:tc>
                  <a:txBody>
                    <a:bodyPr/>
                    <a:lstStyle/>
                    <a:p>
                      <a:pPr algn="ctr"/>
                      <a:r>
                        <a:rPr sz="1000" b="0" i="0">
                          <a:solidFill>
                            <a:srgbClr val="21295C"/>
                          </a:solidFill>
                          <a:latin typeface="Consolas"/>
                        </a:rPr>
                        <a:t>111</a:t>
                      </a:r>
                    </a:p>
                  </a:txBody>
                  <a:tcPr>
                    <a:solidFill>
                      <a:srgbClr val="FFFFFF"/>
                    </a:solidFill>
                  </a:tcPr>
                </a:tc>
                <a:tc>
                  <a:txBody>
                    <a:bodyPr/>
                    <a:lstStyle/>
                    <a:p>
                      <a:pPr algn="ctr"/>
                      <a:r>
                        <a:rPr sz="1000" b="0" i="0">
                          <a:solidFill>
                            <a:srgbClr val="21295C"/>
                          </a:solidFill>
                          <a:latin typeface="Calibri"/>
                        </a:rPr>
                        <a:t>equal</a:t>
                      </a:r>
                    </a:p>
                  </a:txBody>
                  <a:tcPr>
                    <a:solidFill>
                      <a:srgbClr val="FFFFFF"/>
                    </a:solidFill>
                  </a:tcPr>
                </a:tc>
                <a:tc>
                  <a:txBody>
                    <a:bodyPr/>
                    <a:lstStyle/>
                    <a:p>
                      <a:pPr algn="ctr"/>
                      <a:r>
                        <a:rPr sz="1000" b="0" i="0">
                          <a:solidFill>
                            <a:srgbClr val="21295C"/>
                          </a:solidFill>
                          <a:latin typeface="Consolas"/>
                        </a:rPr>
                        <a:t>1000</a:t>
                      </a:r>
                    </a:p>
                  </a:txBody>
                  <a:tcPr>
                    <a:solidFill>
                      <a:srgbClr val="FFFFFF"/>
                    </a:solidFill>
                  </a:tcPr>
                </a:tc>
                <a:extLst>
                  <a:ext uri="{0D108BD9-81ED-4DB2-BD59-A6C34878D82A}">
                    <a16:rowId xmlns:a16="http://schemas.microsoft.com/office/drawing/2014/main" val="10003"/>
                  </a:ext>
                </a:extLst>
              </a:tr>
              <a:tr h="300445">
                <a:tc>
                  <a:txBody>
                    <a:bodyPr/>
                    <a:lstStyle/>
                    <a:p>
                      <a:pPr algn="ctr"/>
                      <a:r>
                        <a:rPr sz="1000" b="0" i="0">
                          <a:solidFill>
                            <a:srgbClr val="21295C"/>
                          </a:solidFill>
                          <a:latin typeface="Consolas"/>
                        </a:rPr>
                        <a:t>001</a:t>
                      </a:r>
                    </a:p>
                  </a:txBody>
                  <a:tcPr>
                    <a:solidFill>
                      <a:srgbClr val="F2F4FA"/>
                    </a:solidFill>
                  </a:tcPr>
                </a:tc>
                <a:tc>
                  <a:txBody>
                    <a:bodyPr/>
                    <a:lstStyle/>
                    <a:p>
                      <a:pPr algn="ctr"/>
                      <a:r>
                        <a:rPr sz="1000" b="0" i="0">
                          <a:solidFill>
                            <a:srgbClr val="21295C"/>
                          </a:solidFill>
                          <a:latin typeface="Consolas"/>
                        </a:rPr>
                        <a:t>010</a:t>
                      </a:r>
                    </a:p>
                  </a:txBody>
                  <a:tcPr>
                    <a:solidFill>
                      <a:srgbClr val="F2F4FA"/>
                    </a:solidFill>
                  </a:tcPr>
                </a:tc>
                <a:tc>
                  <a:txBody>
                    <a:bodyPr/>
                    <a:lstStyle/>
                    <a:p>
                      <a:pPr algn="ctr"/>
                      <a:r>
                        <a:rPr sz="1000" b="0" i="0">
                          <a:solidFill>
                            <a:srgbClr val="21295C"/>
                          </a:solidFill>
                          <a:latin typeface="Calibri"/>
                        </a:rPr>
                        <a:t>not eq</a:t>
                      </a:r>
                    </a:p>
                  </a:txBody>
                  <a:tcPr>
                    <a:solidFill>
                      <a:srgbClr val="F2F4FA"/>
                    </a:solidFill>
                  </a:tcPr>
                </a:tc>
                <a:tc>
                  <a:txBody>
                    <a:bodyPr/>
                    <a:lstStyle/>
                    <a:p>
                      <a:pPr algn="ctr"/>
                      <a:r>
                        <a:rPr sz="1000" b="0" i="0">
                          <a:solidFill>
                            <a:srgbClr val="21295C"/>
                          </a:solidFill>
                          <a:latin typeface="Consolas"/>
                        </a:rPr>
                        <a:t>1001</a:t>
                      </a:r>
                    </a:p>
                  </a:txBody>
                  <a:tcPr>
                    <a:solidFill>
                      <a:srgbClr val="F2F4FA"/>
                    </a:solidFill>
                  </a:tcPr>
                </a:tc>
                <a:extLst>
                  <a:ext uri="{0D108BD9-81ED-4DB2-BD59-A6C34878D82A}">
                    <a16:rowId xmlns:a16="http://schemas.microsoft.com/office/drawing/2014/main" val="10004"/>
                  </a:ext>
                </a:extLst>
              </a:tr>
              <a:tr h="300445">
                <a:tc>
                  <a:txBody>
                    <a:bodyPr/>
                    <a:lstStyle/>
                    <a:p>
                      <a:pPr algn="ctr"/>
                      <a:r>
                        <a:rPr sz="1000" b="0" i="0">
                          <a:solidFill>
                            <a:srgbClr val="21295C"/>
                          </a:solidFill>
                          <a:latin typeface="Consolas"/>
                        </a:rPr>
                        <a:t>100</a:t>
                      </a:r>
                    </a:p>
                  </a:txBody>
                  <a:tcPr>
                    <a:solidFill>
                      <a:srgbClr val="FFFFFF"/>
                    </a:solidFill>
                  </a:tcPr>
                </a:tc>
                <a:tc>
                  <a:txBody>
                    <a:bodyPr/>
                    <a:lstStyle/>
                    <a:p>
                      <a:pPr algn="ctr"/>
                      <a:r>
                        <a:rPr sz="1000" b="0" i="0">
                          <a:solidFill>
                            <a:srgbClr val="21295C"/>
                          </a:solidFill>
                          <a:latin typeface="Consolas"/>
                        </a:rPr>
                        <a:t>011</a:t>
                      </a:r>
                    </a:p>
                  </a:txBody>
                  <a:tcPr>
                    <a:solidFill>
                      <a:srgbClr val="FFFFFF"/>
                    </a:solidFill>
                  </a:tcPr>
                </a:tc>
                <a:tc>
                  <a:txBody>
                    <a:bodyPr/>
                    <a:lstStyle/>
                    <a:p>
                      <a:pPr algn="ctr"/>
                      <a:r>
                        <a:rPr sz="1000" b="0" i="0">
                          <a:solidFill>
                            <a:srgbClr val="21295C"/>
                          </a:solidFill>
                          <a:latin typeface="Calibri"/>
                        </a:rPr>
                        <a:t>not eq</a:t>
                      </a:r>
                    </a:p>
                  </a:txBody>
                  <a:tcPr>
                    <a:solidFill>
                      <a:srgbClr val="FFFFFF"/>
                    </a:solidFill>
                  </a:tcPr>
                </a:tc>
                <a:tc>
                  <a:txBody>
                    <a:bodyPr/>
                    <a:lstStyle/>
                    <a:p>
                      <a:pPr algn="ctr"/>
                      <a:r>
                        <a:rPr sz="1000" b="0" i="0">
                          <a:solidFill>
                            <a:srgbClr val="21295C"/>
                          </a:solidFill>
                          <a:latin typeface="Consolas"/>
                        </a:rPr>
                        <a:t>1001</a:t>
                      </a:r>
                    </a:p>
                  </a:txBody>
                  <a:tcPr>
                    <a:solidFill>
                      <a:srgbClr val="FFFFFF"/>
                    </a:solidFill>
                  </a:tcPr>
                </a:tc>
                <a:extLst>
                  <a:ext uri="{0D108BD9-81ED-4DB2-BD59-A6C34878D82A}">
                    <a16:rowId xmlns:a16="http://schemas.microsoft.com/office/drawing/2014/main" val="10005"/>
                  </a:ext>
                </a:extLst>
              </a:tr>
              <a:tr h="300450">
                <a:tc>
                  <a:txBody>
                    <a:bodyPr/>
                    <a:lstStyle/>
                    <a:p>
                      <a:pPr algn="ctr"/>
                      <a:r>
                        <a:rPr sz="1000" b="0" i="0">
                          <a:solidFill>
                            <a:srgbClr val="21295C"/>
                          </a:solidFill>
                          <a:latin typeface="Consolas"/>
                        </a:rPr>
                        <a:t>011</a:t>
                      </a:r>
                    </a:p>
                  </a:txBody>
                  <a:tcPr>
                    <a:solidFill>
                      <a:srgbClr val="F2F4FA"/>
                    </a:solidFill>
                  </a:tcPr>
                </a:tc>
                <a:tc>
                  <a:txBody>
                    <a:bodyPr/>
                    <a:lstStyle/>
                    <a:p>
                      <a:pPr algn="ctr"/>
                      <a:r>
                        <a:rPr sz="1000" b="0" i="0">
                          <a:solidFill>
                            <a:srgbClr val="21295C"/>
                          </a:solidFill>
                          <a:latin typeface="Consolas"/>
                        </a:rPr>
                        <a:t>111</a:t>
                      </a:r>
                    </a:p>
                  </a:txBody>
                  <a:tcPr>
                    <a:solidFill>
                      <a:srgbClr val="F2F4FA"/>
                    </a:solidFill>
                  </a:tcPr>
                </a:tc>
                <a:tc>
                  <a:txBody>
                    <a:bodyPr/>
                    <a:lstStyle/>
                    <a:p>
                      <a:pPr algn="ctr"/>
                      <a:r>
                        <a:rPr sz="1000" b="0" i="0">
                          <a:solidFill>
                            <a:srgbClr val="21295C"/>
                          </a:solidFill>
                          <a:latin typeface="Calibri"/>
                        </a:rPr>
                        <a:t>not eq</a:t>
                      </a:r>
                    </a:p>
                  </a:txBody>
                  <a:tcPr>
                    <a:solidFill>
                      <a:srgbClr val="F2F4FA"/>
                    </a:solidFill>
                  </a:tcPr>
                </a:tc>
                <a:tc>
                  <a:txBody>
                    <a:bodyPr/>
                    <a:lstStyle/>
                    <a:p>
                      <a:pPr algn="ctr"/>
                      <a:r>
                        <a:rPr sz="1000" b="0" i="0">
                          <a:solidFill>
                            <a:srgbClr val="21295C"/>
                          </a:solidFill>
                          <a:latin typeface="Consolas"/>
                        </a:rPr>
                        <a:t>1001</a:t>
                      </a:r>
                    </a:p>
                  </a:txBody>
                  <a:tcPr>
                    <a:solidFill>
                      <a:srgbClr val="F2F4FA"/>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3017520" y="1371600"/>
            <a:ext cx="5852160" cy="256032"/>
          </a:xfrm>
          <a:prstGeom prst="rect">
            <a:avLst/>
          </a:prstGeom>
          <a:noFill/>
        </p:spPr>
        <p:txBody>
          <a:bodyPr wrap="square" lIns="36576" tIns="18288" rIns="36576" bIns="18288">
            <a:spAutoFit/>
          </a:bodyPr>
          <a:lstStyle/>
          <a:p>
            <a:r>
              <a:rPr sz="1100" b="1" i="0">
                <a:solidFill>
                  <a:srgbClr val="1E2761"/>
                </a:solidFill>
                <a:latin typeface="Calibri"/>
              </a:rPr>
              <a:t>Chapter 4 building block — 1-bit equality cell (XNOR)</a:t>
            </a:r>
          </a:p>
        </p:txBody>
      </p:sp>
      <p:sp>
        <p:nvSpPr>
          <p:cNvPr id="7" name="TextBox 6"/>
          <p:cNvSpPr txBox="1"/>
          <p:nvPr/>
        </p:nvSpPr>
        <p:spPr>
          <a:xfrm>
            <a:off x="3017520" y="1700784"/>
            <a:ext cx="411480" cy="228600"/>
          </a:xfrm>
          <a:prstGeom prst="rect">
            <a:avLst/>
          </a:prstGeom>
          <a:noFill/>
        </p:spPr>
        <p:txBody>
          <a:bodyPr wrap="square" lIns="36576" tIns="18288" rIns="36576" bIns="18288">
            <a:spAutoFit/>
          </a:bodyPr>
          <a:lstStyle/>
          <a:p>
            <a:pPr algn="r"/>
            <a:r>
              <a:rPr sz="950" b="0" i="0">
                <a:solidFill>
                  <a:srgbClr val="21295C"/>
                </a:solidFill>
                <a:latin typeface="Consolas"/>
              </a:rPr>
              <a:t>G[i]</a:t>
            </a:r>
          </a:p>
        </p:txBody>
      </p:sp>
      <p:sp>
        <p:nvSpPr>
          <p:cNvPr id="8" name="TextBox 7"/>
          <p:cNvSpPr txBox="1"/>
          <p:nvPr/>
        </p:nvSpPr>
        <p:spPr>
          <a:xfrm>
            <a:off x="3017520" y="2029968"/>
            <a:ext cx="411480" cy="228600"/>
          </a:xfrm>
          <a:prstGeom prst="rect">
            <a:avLst/>
          </a:prstGeom>
          <a:noFill/>
        </p:spPr>
        <p:txBody>
          <a:bodyPr wrap="square" lIns="36576" tIns="18288" rIns="36576" bIns="18288">
            <a:spAutoFit/>
          </a:bodyPr>
          <a:lstStyle/>
          <a:p>
            <a:pPr algn="r"/>
            <a:r>
              <a:rPr sz="950" b="0" i="0" dirty="0">
                <a:solidFill>
                  <a:srgbClr val="21295C"/>
                </a:solidFill>
                <a:latin typeface="Consolas"/>
              </a:rPr>
              <a:t>Y[</a:t>
            </a:r>
            <a:r>
              <a:rPr sz="950" b="0" i="0" dirty="0" err="1">
                <a:solidFill>
                  <a:srgbClr val="21295C"/>
                </a:solidFill>
                <a:latin typeface="Consolas"/>
              </a:rPr>
              <a:t>i</a:t>
            </a:r>
            <a:r>
              <a:rPr sz="950" b="0" i="0" dirty="0">
                <a:solidFill>
                  <a:srgbClr val="21295C"/>
                </a:solidFill>
                <a:latin typeface="Consolas"/>
              </a:rPr>
              <a:t>]</a:t>
            </a:r>
          </a:p>
        </p:txBody>
      </p:sp>
      <p:sp>
        <p:nvSpPr>
          <p:cNvPr id="9" name="Pentagon 8"/>
          <p:cNvSpPr/>
          <p:nvPr/>
        </p:nvSpPr>
        <p:spPr>
          <a:xfrm>
            <a:off x="3474720" y="1645920"/>
            <a:ext cx="822960" cy="685800"/>
          </a:xfrm>
          <a:prstGeom prst="homePlate">
            <a:avLst/>
          </a:prstGeom>
          <a:solidFill>
            <a:srgbClr val="E8F1FF"/>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E2761"/>
                </a:solidFill>
              </a:rPr>
              <a:t>XNOR</a:t>
            </a:r>
          </a:p>
        </p:txBody>
      </p:sp>
      <p:sp>
        <p:nvSpPr>
          <p:cNvPr id="10" name="TextBox 9"/>
          <p:cNvSpPr txBox="1"/>
          <p:nvPr/>
        </p:nvSpPr>
        <p:spPr>
          <a:xfrm>
            <a:off x="4343400" y="1847088"/>
            <a:ext cx="1645920" cy="274320"/>
          </a:xfrm>
          <a:prstGeom prst="rect">
            <a:avLst/>
          </a:prstGeom>
          <a:noFill/>
        </p:spPr>
        <p:txBody>
          <a:bodyPr wrap="square" lIns="36576" tIns="18288" rIns="36576" bIns="18288">
            <a:spAutoFit/>
          </a:bodyPr>
          <a:lstStyle/>
          <a:p>
            <a:r>
              <a:rPr sz="1000" b="1" i="0">
                <a:solidFill>
                  <a:srgbClr val="21295C"/>
                </a:solidFill>
                <a:latin typeface="Consolas"/>
              </a:rPr>
              <a:t>eq[i] = G[i]⊙Y[i]</a:t>
            </a:r>
          </a:p>
        </p:txBody>
      </p:sp>
      <p:sp>
        <p:nvSpPr>
          <p:cNvPr id="11" name="TextBox 10"/>
          <p:cNvSpPr txBox="1"/>
          <p:nvPr/>
        </p:nvSpPr>
        <p:spPr>
          <a:xfrm>
            <a:off x="3017520" y="2423160"/>
            <a:ext cx="5852160" cy="228600"/>
          </a:xfrm>
          <a:prstGeom prst="rect">
            <a:avLst/>
          </a:prstGeom>
          <a:noFill/>
        </p:spPr>
        <p:txBody>
          <a:bodyPr wrap="square" lIns="36576" tIns="18288" rIns="36576" bIns="18288">
            <a:spAutoFit/>
          </a:bodyPr>
          <a:lstStyle/>
          <a:p>
            <a:r>
              <a:rPr sz="950" b="0" i="1">
                <a:solidFill>
                  <a:srgbClr val="5C5C5C"/>
                </a:solidFill>
                <a:latin typeface="Calibri"/>
              </a:rPr>
              <a:t>eq[i] = 1 when bit i matches</a:t>
            </a:r>
          </a:p>
        </p:txBody>
      </p:sp>
      <p:sp>
        <p:nvSpPr>
          <p:cNvPr id="12" name="TextBox 11"/>
          <p:cNvSpPr txBox="1"/>
          <p:nvPr/>
        </p:nvSpPr>
        <p:spPr>
          <a:xfrm>
            <a:off x="3017520" y="2560320"/>
            <a:ext cx="5852160" cy="228600"/>
          </a:xfrm>
          <a:prstGeom prst="rect">
            <a:avLst/>
          </a:prstGeom>
          <a:noFill/>
        </p:spPr>
        <p:txBody>
          <a:bodyPr wrap="square" lIns="36576" tIns="18288" rIns="36576" bIns="18288">
            <a:spAutoFit/>
          </a:bodyPr>
          <a:lstStyle/>
          <a:p>
            <a:r>
              <a:rPr sz="1100" b="1" i="0">
                <a:solidFill>
                  <a:srgbClr val="1E2761"/>
                </a:solidFill>
                <a:latin typeface="Calibri"/>
              </a:rPr>
              <a:t>3-bit equality: AND the per-bit equalities</a:t>
            </a:r>
          </a:p>
        </p:txBody>
      </p:sp>
      <p:sp>
        <p:nvSpPr>
          <p:cNvPr id="13" name="TextBox 12"/>
          <p:cNvSpPr txBox="1"/>
          <p:nvPr/>
        </p:nvSpPr>
        <p:spPr>
          <a:xfrm>
            <a:off x="3017520" y="2816352"/>
            <a:ext cx="5852160" cy="292608"/>
          </a:xfrm>
          <a:prstGeom prst="rect">
            <a:avLst/>
          </a:prstGeom>
          <a:noFill/>
        </p:spPr>
        <p:txBody>
          <a:bodyPr wrap="square" lIns="36576" tIns="18288" rIns="36576" bIns="18288">
            <a:spAutoFit/>
          </a:bodyPr>
          <a:lstStyle/>
          <a:p>
            <a:r>
              <a:rPr sz="1150" b="1" i="0">
                <a:solidFill>
                  <a:srgbClr val="21295C"/>
                </a:solidFill>
                <a:latin typeface="Consolas"/>
              </a:rPr>
              <a:t>eq = (G[2]⊙Y[2]) · (G[1]⊙Y[1]) · (G[0]⊙Y[0])</a:t>
            </a:r>
          </a:p>
        </p:txBody>
      </p:sp>
      <p:sp>
        <p:nvSpPr>
          <p:cNvPr id="14" name="TextBox 13"/>
          <p:cNvSpPr txBox="1"/>
          <p:nvPr/>
        </p:nvSpPr>
        <p:spPr>
          <a:xfrm>
            <a:off x="3017520" y="3200400"/>
            <a:ext cx="5852160" cy="228600"/>
          </a:xfrm>
          <a:prstGeom prst="rect">
            <a:avLst/>
          </a:prstGeom>
          <a:noFill/>
        </p:spPr>
        <p:txBody>
          <a:bodyPr wrap="square" lIns="36576" tIns="18288" rIns="36576" bIns="18288">
            <a:spAutoFit/>
          </a:bodyPr>
          <a:lstStyle/>
          <a:p>
            <a:r>
              <a:rPr sz="1100" b="1" i="0">
                <a:solidFill>
                  <a:srgbClr val="1E2761"/>
                </a:solidFill>
                <a:latin typeface="Calibri"/>
              </a:rPr>
              <a:t>Per-bit outputs (from encoding E=1000, U=1001)</a:t>
            </a:r>
          </a:p>
        </p:txBody>
      </p:sp>
      <p:sp>
        <p:nvSpPr>
          <p:cNvPr id="15" name="TextBox 14"/>
          <p:cNvSpPr txBox="1"/>
          <p:nvPr/>
        </p:nvSpPr>
        <p:spPr>
          <a:xfrm>
            <a:off x="3017520" y="3456432"/>
            <a:ext cx="5852160" cy="960120"/>
          </a:xfrm>
          <a:prstGeom prst="rect">
            <a:avLst/>
          </a:prstGeom>
          <a:noFill/>
        </p:spPr>
        <p:txBody>
          <a:bodyPr wrap="square" lIns="36576" tIns="18288" rIns="36576" bIns="18288">
            <a:spAutoFit/>
          </a:bodyPr>
          <a:lstStyle/>
          <a:p>
            <a:r>
              <a:rPr sz="1100" b="0" i="0" dirty="0">
                <a:solidFill>
                  <a:srgbClr val="21295C"/>
                </a:solidFill>
                <a:latin typeface="Consolas"/>
              </a:rPr>
              <a:t>D[3] = 1   (constant)        D[2] = 0   (constant)</a:t>
            </a:r>
          </a:p>
          <a:p>
            <a:r>
              <a:rPr sz="1100" b="1" i="0" dirty="0">
                <a:solidFill>
                  <a:srgbClr val="21295C"/>
                </a:solidFill>
                <a:latin typeface="Consolas"/>
              </a:rPr>
              <a:t>D[1] = 0   (constant)        D[0] = NOT(eq)</a:t>
            </a:r>
          </a:p>
          <a:p>
            <a:r>
              <a:rPr sz="1100" b="0" i="0" dirty="0">
                <a:solidFill>
                  <a:srgbClr val="21295C"/>
                </a:solidFill>
                <a:latin typeface="Consolas"/>
              </a:rPr>
              <a:t>OF   = 0   (constant)</a:t>
            </a:r>
          </a:p>
        </p:txBody>
      </p:sp>
      <p:sp>
        <p:nvSpPr>
          <p:cNvPr id="16" name="Rectangle 15"/>
          <p:cNvSpPr/>
          <p:nvPr/>
        </p:nvSpPr>
        <p:spPr>
          <a:xfrm>
            <a:off x="274320" y="4370832"/>
            <a:ext cx="8595360" cy="457200"/>
          </a:xfrm>
          <a:prstGeom prst="rect">
            <a:avLst/>
          </a:prstGeom>
          <a:solidFill>
            <a:srgbClr val="F2F4FA"/>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4407408"/>
            <a:ext cx="8412480" cy="384048"/>
          </a:xfrm>
          <a:prstGeom prst="rect">
            <a:avLst/>
          </a:prstGeom>
          <a:noFill/>
        </p:spPr>
        <p:txBody>
          <a:bodyPr wrap="square" lIns="36576" tIns="18288" rIns="36576" bIns="18288" anchor="ctr">
            <a:spAutoFit/>
          </a:bodyPr>
          <a:lstStyle/>
          <a:p>
            <a:pPr algn="l"/>
            <a:r>
              <a:rPr sz="1150" b="1" i="0">
                <a:solidFill>
                  <a:srgbClr val="1E2761"/>
                </a:solidFill>
                <a:latin typeface="Consolas"/>
              </a:rPr>
              <a:t>D[3:0] = { 1, 0, 0, eq' }     where eq = (G[2]⊙Y[2])·(G[1]⊙Y[1])·(G[0]⊙Y[0])     OF = 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10896" y="365760"/>
            <a:ext cx="8522208" cy="576072"/>
          </a:xfrm>
        </p:spPr>
        <p:txBody>
          <a:bodyPr wrap="square" lIns="18288" tIns="18288" rIns="18288" bIns="18288" anchor="ctr"/>
          <a:lstStyle/>
          <a:p>
            <a:pPr algn="l"/>
            <a:r>
              <a:rPr sz="2200" b="1">
                <a:solidFill>
                  <a:srgbClr val="1E2761"/>
                </a:solidFill>
                <a:latin typeface="Calibri"/>
              </a:rPr>
              <a:t>Forward Adjust (S = 011)</a:t>
            </a:r>
          </a:p>
        </p:txBody>
      </p:sp>
      <p:sp>
        <p:nvSpPr>
          <p:cNvPr id="4" name="TextBox 3"/>
          <p:cNvSpPr txBox="1"/>
          <p:nvPr/>
        </p:nvSpPr>
        <p:spPr>
          <a:xfrm>
            <a:off x="310896" y="1005840"/>
            <a:ext cx="8522208" cy="256032"/>
          </a:xfrm>
          <a:prstGeom prst="rect">
            <a:avLst/>
          </a:prstGeom>
          <a:noFill/>
        </p:spPr>
        <p:txBody>
          <a:bodyPr wrap="square" lIns="36576" tIns="18288" rIns="36576" bIns="18288">
            <a:spAutoFit/>
          </a:bodyPr>
          <a:lstStyle/>
          <a:p>
            <a:r>
              <a:rPr sz="1050" b="0" i="1">
                <a:solidFill>
                  <a:srgbClr val="5C5C5C"/>
                </a:solidFill>
                <a:latin typeface="Calibri"/>
              </a:rPr>
              <a:t>Adds a bias of 3 to G for nudging forward. Overflows when G+3 ≥ 8 (i.e. G ≥ 5).</a:t>
            </a:r>
          </a:p>
        </p:txBody>
      </p:sp>
      <p:graphicFrame>
        <p:nvGraphicFramePr>
          <p:cNvPr id="5" name="Table 4"/>
          <p:cNvGraphicFramePr>
            <a:graphicFrameLocks noGrp="1"/>
          </p:cNvGraphicFramePr>
          <p:nvPr/>
        </p:nvGraphicFramePr>
        <p:xfrm>
          <a:off x="274320" y="1371600"/>
          <a:ext cx="2350008" cy="2926080"/>
        </p:xfrm>
        <a:graphic>
          <a:graphicData uri="http://schemas.openxmlformats.org/drawingml/2006/table">
            <a:tbl>
              <a:tblPr firstRow="1" bandRow="1">
                <a:tableStyleId>{5C22544A-7EE6-4342-B048-85BDC9FD1C3A}</a:tableStyleId>
              </a:tblPr>
              <a:tblGrid>
                <a:gridCol w="658368">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411480">
                  <a:extLst>
                    <a:ext uri="{9D8B030D-6E8A-4147-A177-3AD203B41FA5}">
                      <a16:colId xmlns:a16="http://schemas.microsoft.com/office/drawing/2014/main" val="20003"/>
                    </a:ext>
                  </a:extLst>
                </a:gridCol>
              </a:tblGrid>
              <a:tr h="325120">
                <a:tc>
                  <a:txBody>
                    <a:bodyPr/>
                    <a:lstStyle/>
                    <a:p>
                      <a:pPr algn="ctr"/>
                      <a:r>
                        <a:rPr sz="1000" b="1" i="0">
                          <a:solidFill>
                            <a:srgbClr val="FFFFFF"/>
                          </a:solidFill>
                          <a:latin typeface="Calibri"/>
                        </a:rPr>
                        <a:t>G[2:0]</a:t>
                      </a:r>
                    </a:p>
                  </a:txBody>
                  <a:tcPr>
                    <a:solidFill>
                      <a:srgbClr val="1E2761"/>
                    </a:solidFill>
                  </a:tcPr>
                </a:tc>
                <a:tc>
                  <a:txBody>
                    <a:bodyPr/>
                    <a:lstStyle/>
                    <a:p>
                      <a:pPr algn="ctr"/>
                      <a:r>
                        <a:rPr sz="1000" b="1" i="0">
                          <a:solidFill>
                            <a:srgbClr val="FFFFFF"/>
                          </a:solidFill>
                          <a:latin typeface="Calibri"/>
                        </a:rPr>
                        <a:t>G+3</a:t>
                      </a:r>
                    </a:p>
                  </a:txBody>
                  <a:tcPr>
                    <a:solidFill>
                      <a:srgbClr val="1E2761"/>
                    </a:solidFill>
                  </a:tcPr>
                </a:tc>
                <a:tc>
                  <a:txBody>
                    <a:bodyPr/>
                    <a:lstStyle/>
                    <a:p>
                      <a:pPr algn="ctr"/>
                      <a:r>
                        <a:rPr sz="1000" b="1" i="0">
                          <a:solidFill>
                            <a:srgbClr val="FFFFFF"/>
                          </a:solidFill>
                          <a:latin typeface="Calibri"/>
                        </a:rPr>
                        <a:t>D[3:0]</a:t>
                      </a:r>
                    </a:p>
                  </a:txBody>
                  <a:tcPr>
                    <a:solidFill>
                      <a:srgbClr val="1E2761"/>
                    </a:solidFill>
                  </a:tcPr>
                </a:tc>
                <a:tc>
                  <a:txBody>
                    <a:bodyPr/>
                    <a:lstStyle/>
                    <a:p>
                      <a:pPr algn="ctr"/>
                      <a:r>
                        <a:rPr sz="1000" b="1" i="0">
                          <a:solidFill>
                            <a:srgbClr val="FFFFFF"/>
                          </a:solidFill>
                          <a:latin typeface="Calibri"/>
                        </a:rPr>
                        <a:t>OF</a:t>
                      </a:r>
                    </a:p>
                  </a:txBody>
                  <a:tcPr>
                    <a:solidFill>
                      <a:srgbClr val="1E2761"/>
                    </a:solidFill>
                  </a:tcPr>
                </a:tc>
                <a:extLst>
                  <a:ext uri="{0D108BD9-81ED-4DB2-BD59-A6C34878D82A}">
                    <a16:rowId xmlns:a16="http://schemas.microsoft.com/office/drawing/2014/main" val="10000"/>
                  </a:ext>
                </a:extLst>
              </a:tr>
              <a:tr h="325120">
                <a:tc>
                  <a:txBody>
                    <a:bodyPr/>
                    <a:lstStyle/>
                    <a:p>
                      <a:pPr algn="ctr"/>
                      <a:r>
                        <a:rPr sz="1000" b="0" i="0">
                          <a:solidFill>
                            <a:srgbClr val="21295C"/>
                          </a:solidFill>
                          <a:latin typeface="Consolas"/>
                        </a:rPr>
                        <a:t>000</a:t>
                      </a:r>
                    </a:p>
                  </a:txBody>
                  <a:tcPr>
                    <a:solidFill>
                      <a:srgbClr val="FFFFFF"/>
                    </a:solidFill>
                  </a:tcPr>
                </a:tc>
                <a:tc>
                  <a:txBody>
                    <a:bodyPr/>
                    <a:lstStyle/>
                    <a:p>
                      <a:pPr algn="ctr"/>
                      <a:r>
                        <a:rPr sz="1000" b="0" i="0">
                          <a:solidFill>
                            <a:srgbClr val="21295C"/>
                          </a:solidFill>
                          <a:latin typeface="Calibri"/>
                        </a:rPr>
                        <a:t>3</a:t>
                      </a:r>
                    </a:p>
                  </a:txBody>
                  <a:tcPr>
                    <a:solidFill>
                      <a:srgbClr val="FFFFFF"/>
                    </a:solidFill>
                  </a:tcPr>
                </a:tc>
                <a:tc>
                  <a:txBody>
                    <a:bodyPr/>
                    <a:lstStyle/>
                    <a:p>
                      <a:pPr algn="ctr"/>
                      <a:r>
                        <a:rPr sz="1000" b="0" i="0">
                          <a:solidFill>
                            <a:srgbClr val="21295C"/>
                          </a:solidFill>
                          <a:latin typeface="Consolas"/>
                        </a:rPr>
                        <a:t>0011</a:t>
                      </a:r>
                    </a:p>
                  </a:txBody>
                  <a:tcPr>
                    <a:solidFill>
                      <a:srgbClr val="FFFFFF"/>
                    </a:solidFill>
                  </a:tcPr>
                </a:tc>
                <a:tc>
                  <a:txBody>
                    <a:bodyPr/>
                    <a:lstStyle/>
                    <a:p>
                      <a:pPr algn="ctr"/>
                      <a:r>
                        <a:rPr sz="1000" b="0" i="0">
                          <a:solidFill>
                            <a:srgbClr val="21295C"/>
                          </a:solidFill>
                          <a:latin typeface="Consolas"/>
                        </a:rPr>
                        <a:t>0</a:t>
                      </a:r>
                    </a:p>
                  </a:txBody>
                  <a:tcPr>
                    <a:solidFill>
                      <a:srgbClr val="FFFFFF"/>
                    </a:solidFill>
                  </a:tcPr>
                </a:tc>
                <a:extLst>
                  <a:ext uri="{0D108BD9-81ED-4DB2-BD59-A6C34878D82A}">
                    <a16:rowId xmlns:a16="http://schemas.microsoft.com/office/drawing/2014/main" val="10001"/>
                  </a:ext>
                </a:extLst>
              </a:tr>
              <a:tr h="325120">
                <a:tc>
                  <a:txBody>
                    <a:bodyPr/>
                    <a:lstStyle/>
                    <a:p>
                      <a:pPr algn="ctr"/>
                      <a:r>
                        <a:rPr sz="1000" b="0" i="0">
                          <a:solidFill>
                            <a:srgbClr val="21295C"/>
                          </a:solidFill>
                          <a:latin typeface="Consolas"/>
                        </a:rPr>
                        <a:t>001</a:t>
                      </a:r>
                    </a:p>
                  </a:txBody>
                  <a:tcPr>
                    <a:solidFill>
                      <a:srgbClr val="F2F4FA"/>
                    </a:solidFill>
                  </a:tcPr>
                </a:tc>
                <a:tc>
                  <a:txBody>
                    <a:bodyPr/>
                    <a:lstStyle/>
                    <a:p>
                      <a:pPr algn="ctr"/>
                      <a:r>
                        <a:rPr sz="1000" b="0" i="0">
                          <a:solidFill>
                            <a:srgbClr val="21295C"/>
                          </a:solidFill>
                          <a:latin typeface="Calibri"/>
                        </a:rPr>
                        <a:t>4</a:t>
                      </a:r>
                    </a:p>
                  </a:txBody>
                  <a:tcPr>
                    <a:solidFill>
                      <a:srgbClr val="F2F4FA"/>
                    </a:solidFill>
                  </a:tcPr>
                </a:tc>
                <a:tc>
                  <a:txBody>
                    <a:bodyPr/>
                    <a:lstStyle/>
                    <a:p>
                      <a:pPr algn="ctr"/>
                      <a:r>
                        <a:rPr sz="1000" b="0" i="0">
                          <a:solidFill>
                            <a:srgbClr val="21295C"/>
                          </a:solidFill>
                          <a:latin typeface="Consolas"/>
                        </a:rPr>
                        <a:t>0100</a:t>
                      </a:r>
                    </a:p>
                  </a:txBody>
                  <a:tcPr>
                    <a:solidFill>
                      <a:srgbClr val="F2F4FA"/>
                    </a:solidFill>
                  </a:tcPr>
                </a:tc>
                <a:tc>
                  <a:txBody>
                    <a:bodyPr/>
                    <a:lstStyle/>
                    <a:p>
                      <a:pPr algn="ctr"/>
                      <a:r>
                        <a:rPr sz="1000" b="0" i="0">
                          <a:solidFill>
                            <a:srgbClr val="21295C"/>
                          </a:solidFill>
                          <a:latin typeface="Consolas"/>
                        </a:rPr>
                        <a:t>0</a:t>
                      </a:r>
                    </a:p>
                  </a:txBody>
                  <a:tcPr>
                    <a:solidFill>
                      <a:srgbClr val="F2F4FA"/>
                    </a:solidFill>
                  </a:tcPr>
                </a:tc>
                <a:extLst>
                  <a:ext uri="{0D108BD9-81ED-4DB2-BD59-A6C34878D82A}">
                    <a16:rowId xmlns:a16="http://schemas.microsoft.com/office/drawing/2014/main" val="10002"/>
                  </a:ext>
                </a:extLst>
              </a:tr>
              <a:tr h="325120">
                <a:tc>
                  <a:txBody>
                    <a:bodyPr/>
                    <a:lstStyle/>
                    <a:p>
                      <a:pPr algn="ctr"/>
                      <a:r>
                        <a:rPr sz="1000" b="0" i="0">
                          <a:solidFill>
                            <a:srgbClr val="21295C"/>
                          </a:solidFill>
                          <a:latin typeface="Consolas"/>
                        </a:rPr>
                        <a:t>010</a:t>
                      </a:r>
                    </a:p>
                  </a:txBody>
                  <a:tcPr>
                    <a:solidFill>
                      <a:srgbClr val="FFFFFF"/>
                    </a:solidFill>
                  </a:tcPr>
                </a:tc>
                <a:tc>
                  <a:txBody>
                    <a:bodyPr/>
                    <a:lstStyle/>
                    <a:p>
                      <a:pPr algn="ctr"/>
                      <a:r>
                        <a:rPr sz="1000" b="0" i="0">
                          <a:solidFill>
                            <a:srgbClr val="21295C"/>
                          </a:solidFill>
                          <a:latin typeface="Calibri"/>
                        </a:rPr>
                        <a:t>5</a:t>
                      </a:r>
                    </a:p>
                  </a:txBody>
                  <a:tcPr>
                    <a:solidFill>
                      <a:srgbClr val="FFFFFF"/>
                    </a:solidFill>
                  </a:tcPr>
                </a:tc>
                <a:tc>
                  <a:txBody>
                    <a:bodyPr/>
                    <a:lstStyle/>
                    <a:p>
                      <a:pPr algn="ctr"/>
                      <a:r>
                        <a:rPr sz="1000" b="0" i="0">
                          <a:solidFill>
                            <a:srgbClr val="21295C"/>
                          </a:solidFill>
                          <a:latin typeface="Consolas"/>
                        </a:rPr>
                        <a:t>0101</a:t>
                      </a:r>
                    </a:p>
                  </a:txBody>
                  <a:tcPr>
                    <a:solidFill>
                      <a:srgbClr val="FFFFFF"/>
                    </a:solidFill>
                  </a:tcPr>
                </a:tc>
                <a:tc>
                  <a:txBody>
                    <a:bodyPr/>
                    <a:lstStyle/>
                    <a:p>
                      <a:pPr algn="ctr"/>
                      <a:r>
                        <a:rPr sz="1000" b="0" i="0">
                          <a:solidFill>
                            <a:srgbClr val="21295C"/>
                          </a:solidFill>
                          <a:latin typeface="Consolas"/>
                        </a:rPr>
                        <a:t>0</a:t>
                      </a:r>
                    </a:p>
                  </a:txBody>
                  <a:tcPr>
                    <a:solidFill>
                      <a:srgbClr val="FFFFFF"/>
                    </a:solidFill>
                  </a:tcPr>
                </a:tc>
                <a:extLst>
                  <a:ext uri="{0D108BD9-81ED-4DB2-BD59-A6C34878D82A}">
                    <a16:rowId xmlns:a16="http://schemas.microsoft.com/office/drawing/2014/main" val="10003"/>
                  </a:ext>
                </a:extLst>
              </a:tr>
              <a:tr h="325120">
                <a:tc>
                  <a:txBody>
                    <a:bodyPr/>
                    <a:lstStyle/>
                    <a:p>
                      <a:pPr algn="ctr"/>
                      <a:r>
                        <a:rPr sz="1000" b="0" i="0">
                          <a:solidFill>
                            <a:srgbClr val="21295C"/>
                          </a:solidFill>
                          <a:latin typeface="Consolas"/>
                        </a:rPr>
                        <a:t>011</a:t>
                      </a:r>
                    </a:p>
                  </a:txBody>
                  <a:tcPr>
                    <a:solidFill>
                      <a:srgbClr val="F2F4FA"/>
                    </a:solidFill>
                  </a:tcPr>
                </a:tc>
                <a:tc>
                  <a:txBody>
                    <a:bodyPr/>
                    <a:lstStyle/>
                    <a:p>
                      <a:pPr algn="ctr"/>
                      <a:r>
                        <a:rPr sz="1000" b="0" i="0">
                          <a:solidFill>
                            <a:srgbClr val="21295C"/>
                          </a:solidFill>
                          <a:latin typeface="Calibri"/>
                        </a:rPr>
                        <a:t>6</a:t>
                      </a:r>
                    </a:p>
                  </a:txBody>
                  <a:tcPr>
                    <a:solidFill>
                      <a:srgbClr val="F2F4FA"/>
                    </a:solidFill>
                  </a:tcPr>
                </a:tc>
                <a:tc>
                  <a:txBody>
                    <a:bodyPr/>
                    <a:lstStyle/>
                    <a:p>
                      <a:pPr algn="ctr"/>
                      <a:r>
                        <a:rPr sz="1000" b="0" i="0">
                          <a:solidFill>
                            <a:srgbClr val="21295C"/>
                          </a:solidFill>
                          <a:latin typeface="Consolas"/>
                        </a:rPr>
                        <a:t>0110</a:t>
                      </a:r>
                    </a:p>
                  </a:txBody>
                  <a:tcPr>
                    <a:solidFill>
                      <a:srgbClr val="F2F4FA"/>
                    </a:solidFill>
                  </a:tcPr>
                </a:tc>
                <a:tc>
                  <a:txBody>
                    <a:bodyPr/>
                    <a:lstStyle/>
                    <a:p>
                      <a:pPr algn="ctr"/>
                      <a:r>
                        <a:rPr sz="1000" b="0" i="0">
                          <a:solidFill>
                            <a:srgbClr val="21295C"/>
                          </a:solidFill>
                          <a:latin typeface="Consolas"/>
                        </a:rPr>
                        <a:t>0</a:t>
                      </a:r>
                    </a:p>
                  </a:txBody>
                  <a:tcPr>
                    <a:solidFill>
                      <a:srgbClr val="F2F4FA"/>
                    </a:solidFill>
                  </a:tcPr>
                </a:tc>
                <a:extLst>
                  <a:ext uri="{0D108BD9-81ED-4DB2-BD59-A6C34878D82A}">
                    <a16:rowId xmlns:a16="http://schemas.microsoft.com/office/drawing/2014/main" val="10004"/>
                  </a:ext>
                </a:extLst>
              </a:tr>
              <a:tr h="325120">
                <a:tc>
                  <a:txBody>
                    <a:bodyPr/>
                    <a:lstStyle/>
                    <a:p>
                      <a:pPr algn="ctr"/>
                      <a:r>
                        <a:rPr sz="1000" b="0" i="0">
                          <a:solidFill>
                            <a:srgbClr val="21295C"/>
                          </a:solidFill>
                          <a:latin typeface="Consolas"/>
                        </a:rPr>
                        <a:t>100</a:t>
                      </a:r>
                    </a:p>
                  </a:txBody>
                  <a:tcPr>
                    <a:solidFill>
                      <a:srgbClr val="FFFFFF"/>
                    </a:solidFill>
                  </a:tcPr>
                </a:tc>
                <a:tc>
                  <a:txBody>
                    <a:bodyPr/>
                    <a:lstStyle/>
                    <a:p>
                      <a:pPr algn="ctr"/>
                      <a:r>
                        <a:rPr sz="1000" b="0" i="0">
                          <a:solidFill>
                            <a:srgbClr val="21295C"/>
                          </a:solidFill>
                          <a:latin typeface="Calibri"/>
                        </a:rPr>
                        <a:t>7</a:t>
                      </a:r>
                    </a:p>
                  </a:txBody>
                  <a:tcPr>
                    <a:solidFill>
                      <a:srgbClr val="FFFFFF"/>
                    </a:solidFill>
                  </a:tcPr>
                </a:tc>
                <a:tc>
                  <a:txBody>
                    <a:bodyPr/>
                    <a:lstStyle/>
                    <a:p>
                      <a:pPr algn="ctr"/>
                      <a:r>
                        <a:rPr sz="1000" b="0" i="0">
                          <a:solidFill>
                            <a:srgbClr val="21295C"/>
                          </a:solidFill>
                          <a:latin typeface="Consolas"/>
                        </a:rPr>
                        <a:t>0111</a:t>
                      </a:r>
                    </a:p>
                  </a:txBody>
                  <a:tcPr>
                    <a:solidFill>
                      <a:srgbClr val="FFFFFF"/>
                    </a:solidFill>
                  </a:tcPr>
                </a:tc>
                <a:tc>
                  <a:txBody>
                    <a:bodyPr/>
                    <a:lstStyle/>
                    <a:p>
                      <a:pPr algn="ctr"/>
                      <a:r>
                        <a:rPr sz="1000" b="0" i="0">
                          <a:solidFill>
                            <a:srgbClr val="21295C"/>
                          </a:solidFill>
                          <a:latin typeface="Consolas"/>
                        </a:rPr>
                        <a:t>0</a:t>
                      </a:r>
                    </a:p>
                  </a:txBody>
                  <a:tcPr>
                    <a:solidFill>
                      <a:srgbClr val="FFFFFF"/>
                    </a:solidFill>
                  </a:tcPr>
                </a:tc>
                <a:extLst>
                  <a:ext uri="{0D108BD9-81ED-4DB2-BD59-A6C34878D82A}">
                    <a16:rowId xmlns:a16="http://schemas.microsoft.com/office/drawing/2014/main" val="10005"/>
                  </a:ext>
                </a:extLst>
              </a:tr>
              <a:tr h="325120">
                <a:tc>
                  <a:txBody>
                    <a:bodyPr/>
                    <a:lstStyle/>
                    <a:p>
                      <a:pPr algn="ctr"/>
                      <a:r>
                        <a:rPr sz="1000" b="0" i="0">
                          <a:solidFill>
                            <a:srgbClr val="21295C"/>
                          </a:solidFill>
                          <a:latin typeface="Consolas"/>
                        </a:rPr>
                        <a:t>101</a:t>
                      </a:r>
                    </a:p>
                  </a:txBody>
                  <a:tcPr>
                    <a:solidFill>
                      <a:srgbClr val="F2F4FA"/>
                    </a:solidFill>
                  </a:tcPr>
                </a:tc>
                <a:tc>
                  <a:txBody>
                    <a:bodyPr/>
                    <a:lstStyle/>
                    <a:p>
                      <a:pPr algn="ctr"/>
                      <a:r>
                        <a:rPr sz="1000" b="0" i="0">
                          <a:solidFill>
                            <a:srgbClr val="21295C"/>
                          </a:solidFill>
                          <a:latin typeface="Calibri"/>
                        </a:rPr>
                        <a:t>OF</a:t>
                      </a:r>
                    </a:p>
                  </a:txBody>
                  <a:tcPr>
                    <a:solidFill>
                      <a:srgbClr val="F2F4FA"/>
                    </a:solidFill>
                  </a:tcPr>
                </a:tc>
                <a:tc>
                  <a:txBody>
                    <a:bodyPr/>
                    <a:lstStyle/>
                    <a:p>
                      <a:pPr algn="ctr"/>
                      <a:r>
                        <a:rPr sz="1000" b="0" i="0">
                          <a:solidFill>
                            <a:srgbClr val="21295C"/>
                          </a:solidFill>
                          <a:latin typeface="Consolas"/>
                        </a:rPr>
                        <a:t>1100</a:t>
                      </a:r>
                    </a:p>
                  </a:txBody>
                  <a:tcPr>
                    <a:solidFill>
                      <a:srgbClr val="F2F4FA"/>
                    </a:solidFill>
                  </a:tcPr>
                </a:tc>
                <a:tc>
                  <a:txBody>
                    <a:bodyPr/>
                    <a:lstStyle/>
                    <a:p>
                      <a:pPr algn="ctr"/>
                      <a:r>
                        <a:rPr sz="1000" b="0" i="0">
                          <a:solidFill>
                            <a:srgbClr val="21295C"/>
                          </a:solidFill>
                          <a:latin typeface="Consolas"/>
                        </a:rPr>
                        <a:t>1</a:t>
                      </a:r>
                    </a:p>
                  </a:txBody>
                  <a:tcPr>
                    <a:solidFill>
                      <a:srgbClr val="F2F4FA"/>
                    </a:solidFill>
                  </a:tcPr>
                </a:tc>
                <a:extLst>
                  <a:ext uri="{0D108BD9-81ED-4DB2-BD59-A6C34878D82A}">
                    <a16:rowId xmlns:a16="http://schemas.microsoft.com/office/drawing/2014/main" val="10006"/>
                  </a:ext>
                </a:extLst>
              </a:tr>
              <a:tr h="325120">
                <a:tc>
                  <a:txBody>
                    <a:bodyPr/>
                    <a:lstStyle/>
                    <a:p>
                      <a:pPr algn="ctr"/>
                      <a:r>
                        <a:rPr sz="1000" b="0" i="0">
                          <a:solidFill>
                            <a:srgbClr val="21295C"/>
                          </a:solidFill>
                          <a:latin typeface="Consolas"/>
                        </a:rPr>
                        <a:t>110</a:t>
                      </a:r>
                    </a:p>
                  </a:txBody>
                  <a:tcPr>
                    <a:solidFill>
                      <a:srgbClr val="FFFFFF"/>
                    </a:solidFill>
                  </a:tcPr>
                </a:tc>
                <a:tc>
                  <a:txBody>
                    <a:bodyPr/>
                    <a:lstStyle/>
                    <a:p>
                      <a:pPr algn="ctr"/>
                      <a:r>
                        <a:rPr sz="1000" b="0" i="0">
                          <a:solidFill>
                            <a:srgbClr val="21295C"/>
                          </a:solidFill>
                          <a:latin typeface="Calibri"/>
                        </a:rPr>
                        <a:t>OF</a:t>
                      </a:r>
                    </a:p>
                  </a:txBody>
                  <a:tcPr>
                    <a:solidFill>
                      <a:srgbClr val="FFFFFF"/>
                    </a:solidFill>
                  </a:tcPr>
                </a:tc>
                <a:tc>
                  <a:txBody>
                    <a:bodyPr/>
                    <a:lstStyle/>
                    <a:p>
                      <a:pPr algn="ctr"/>
                      <a:r>
                        <a:rPr sz="1000" b="0" i="0">
                          <a:solidFill>
                            <a:srgbClr val="21295C"/>
                          </a:solidFill>
                          <a:latin typeface="Consolas"/>
                        </a:rPr>
                        <a:t>1100</a:t>
                      </a:r>
                    </a:p>
                  </a:txBody>
                  <a:tcPr>
                    <a:solidFill>
                      <a:srgbClr val="FFFFFF"/>
                    </a:solidFill>
                  </a:tcPr>
                </a:tc>
                <a:tc>
                  <a:txBody>
                    <a:bodyPr/>
                    <a:lstStyle/>
                    <a:p>
                      <a:pPr algn="ctr"/>
                      <a:r>
                        <a:rPr sz="1000" b="0" i="0">
                          <a:solidFill>
                            <a:srgbClr val="21295C"/>
                          </a:solidFill>
                          <a:latin typeface="Consolas"/>
                        </a:rPr>
                        <a:t>1</a:t>
                      </a:r>
                    </a:p>
                  </a:txBody>
                  <a:tcPr>
                    <a:solidFill>
                      <a:srgbClr val="FFFFFF"/>
                    </a:solidFill>
                  </a:tcPr>
                </a:tc>
                <a:extLst>
                  <a:ext uri="{0D108BD9-81ED-4DB2-BD59-A6C34878D82A}">
                    <a16:rowId xmlns:a16="http://schemas.microsoft.com/office/drawing/2014/main" val="10007"/>
                  </a:ext>
                </a:extLst>
              </a:tr>
              <a:tr h="325120">
                <a:tc>
                  <a:txBody>
                    <a:bodyPr/>
                    <a:lstStyle/>
                    <a:p>
                      <a:pPr algn="ctr"/>
                      <a:r>
                        <a:rPr sz="1000" b="0" i="0">
                          <a:solidFill>
                            <a:srgbClr val="21295C"/>
                          </a:solidFill>
                          <a:latin typeface="Consolas"/>
                        </a:rPr>
                        <a:t>111</a:t>
                      </a:r>
                    </a:p>
                  </a:txBody>
                  <a:tcPr>
                    <a:solidFill>
                      <a:srgbClr val="F2F4FA"/>
                    </a:solidFill>
                  </a:tcPr>
                </a:tc>
                <a:tc>
                  <a:txBody>
                    <a:bodyPr/>
                    <a:lstStyle/>
                    <a:p>
                      <a:pPr algn="ctr"/>
                      <a:r>
                        <a:rPr sz="1000" b="0" i="0">
                          <a:solidFill>
                            <a:srgbClr val="21295C"/>
                          </a:solidFill>
                          <a:latin typeface="Calibri"/>
                        </a:rPr>
                        <a:t>OF</a:t>
                      </a:r>
                    </a:p>
                  </a:txBody>
                  <a:tcPr>
                    <a:solidFill>
                      <a:srgbClr val="F2F4FA"/>
                    </a:solidFill>
                  </a:tcPr>
                </a:tc>
                <a:tc>
                  <a:txBody>
                    <a:bodyPr/>
                    <a:lstStyle/>
                    <a:p>
                      <a:pPr algn="ctr"/>
                      <a:r>
                        <a:rPr sz="1000" b="0" i="0">
                          <a:solidFill>
                            <a:srgbClr val="21295C"/>
                          </a:solidFill>
                          <a:latin typeface="Consolas"/>
                        </a:rPr>
                        <a:t>1100</a:t>
                      </a:r>
                    </a:p>
                  </a:txBody>
                  <a:tcPr>
                    <a:solidFill>
                      <a:srgbClr val="F2F4FA"/>
                    </a:solidFill>
                  </a:tcPr>
                </a:tc>
                <a:tc>
                  <a:txBody>
                    <a:bodyPr/>
                    <a:lstStyle/>
                    <a:p>
                      <a:pPr algn="ctr"/>
                      <a:r>
                        <a:rPr sz="1000" b="0" i="0">
                          <a:solidFill>
                            <a:srgbClr val="21295C"/>
                          </a:solidFill>
                          <a:latin typeface="Consolas"/>
                        </a:rPr>
                        <a:t>1</a:t>
                      </a:r>
                    </a:p>
                  </a:txBody>
                  <a:tcPr>
                    <a:solidFill>
                      <a:srgbClr val="F2F4FA"/>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301752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D[3]</a:t>
            </a:r>
          </a:p>
        </p:txBody>
      </p:sp>
      <p:graphicFrame>
        <p:nvGraphicFramePr>
          <p:cNvPr id="7" name="Table 6"/>
          <p:cNvGraphicFramePr>
            <a:graphicFrameLocks noGrp="1"/>
          </p:cNvGraphicFramePr>
          <p:nvPr/>
        </p:nvGraphicFramePr>
        <p:xfrm>
          <a:off x="301752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dirty="0">
                          <a:solidFill>
                            <a:srgbClr val="21295C"/>
                          </a:solidFill>
                          <a:latin typeface="Consolas"/>
                        </a:rPr>
                        <a:t>1</a:t>
                      </a:r>
                    </a:p>
                  </a:txBody>
                  <a:tcPr>
                    <a:solidFill>
                      <a:srgbClr val="E8F1FF"/>
                    </a:solidFill>
                  </a:tcPr>
                </a:tc>
                <a:extLst>
                  <a:ext uri="{0D108BD9-81ED-4DB2-BD59-A6C34878D82A}">
                    <a16:rowId xmlns:a16="http://schemas.microsoft.com/office/drawing/2014/main" val="10002"/>
                  </a:ext>
                </a:extLst>
              </a:tr>
            </a:tbl>
          </a:graphicData>
        </a:graphic>
      </p:graphicFrame>
      <p:sp>
        <p:nvSpPr>
          <p:cNvPr id="8" name="Rounded Rectangle 7"/>
          <p:cNvSpPr/>
          <p:nvPr/>
        </p:nvSpPr>
        <p:spPr>
          <a:xfrm>
            <a:off x="3785615" y="2121407"/>
            <a:ext cx="621792" cy="310895"/>
          </a:xfrm>
          <a:prstGeom prst="roundRect">
            <a:avLst>
              <a:gd name="adj" fmla="val 45000"/>
            </a:avLst>
          </a:prstGeom>
          <a:noFill/>
          <a:ln w="28575">
            <a:solidFill>
              <a:srgbClr val="C82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041648" y="2157984"/>
            <a:ext cx="658368" cy="292606"/>
          </a:xfrm>
          <a:prstGeom prst="roundRect">
            <a:avLst>
              <a:gd name="adj" fmla="val 45000"/>
            </a:avLst>
          </a:prstGeom>
          <a:noFill/>
          <a:ln w="2857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1752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D[3] = G[2]·(G[1]+G[0])</a:t>
            </a:r>
          </a:p>
        </p:txBody>
      </p:sp>
      <p:sp>
        <p:nvSpPr>
          <p:cNvPr id="11" name="TextBox 10"/>
          <p:cNvSpPr txBox="1"/>
          <p:nvPr/>
        </p:nvSpPr>
        <p:spPr>
          <a:xfrm>
            <a:off x="502920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D[2]</a:t>
            </a:r>
          </a:p>
        </p:txBody>
      </p:sp>
      <p:graphicFrame>
        <p:nvGraphicFramePr>
          <p:cNvPr id="12" name="Table 11"/>
          <p:cNvGraphicFramePr>
            <a:graphicFrameLocks noGrp="1"/>
          </p:cNvGraphicFramePr>
          <p:nvPr/>
        </p:nvGraphicFramePr>
        <p:xfrm>
          <a:off x="502920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2"/>
                  </a:ext>
                </a:extLst>
              </a:tr>
            </a:tbl>
          </a:graphicData>
        </a:graphic>
      </p:graphicFrame>
      <p:sp>
        <p:nvSpPr>
          <p:cNvPr id="13" name="Rounded Rectangle 12"/>
          <p:cNvSpPr/>
          <p:nvPr/>
        </p:nvSpPr>
        <p:spPr>
          <a:xfrm>
            <a:off x="5513832" y="2157984"/>
            <a:ext cx="1188720" cy="283464"/>
          </a:xfrm>
          <a:prstGeom prst="roundRect">
            <a:avLst>
              <a:gd name="adj" fmla="val 45000"/>
            </a:avLst>
          </a:prstGeom>
          <a:noFill/>
          <a:ln w="28575">
            <a:solidFill>
              <a:srgbClr val="C82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811012" y="1877084"/>
            <a:ext cx="594360" cy="541503"/>
          </a:xfrm>
          <a:prstGeom prst="roundRect">
            <a:avLst>
              <a:gd name="adj" fmla="val 45000"/>
            </a:avLst>
          </a:prstGeom>
          <a:noFill/>
          <a:ln w="2857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053328" y="1877084"/>
            <a:ext cx="658368" cy="573508"/>
          </a:xfrm>
          <a:prstGeom prst="roundRect">
            <a:avLst>
              <a:gd name="adj" fmla="val 45000"/>
            </a:avLst>
          </a:prstGeom>
          <a:noFill/>
          <a:ln w="28575">
            <a:solidFill>
              <a:srgbClr val="6A2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D[2] = G[2]+G[1]+G[0]</a:t>
            </a:r>
          </a:p>
        </p:txBody>
      </p:sp>
      <p:sp>
        <p:nvSpPr>
          <p:cNvPr id="17" name="TextBox 16"/>
          <p:cNvSpPr txBox="1"/>
          <p:nvPr/>
        </p:nvSpPr>
        <p:spPr>
          <a:xfrm>
            <a:off x="704088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D[1]</a:t>
            </a:r>
          </a:p>
        </p:txBody>
      </p:sp>
      <p:graphicFrame>
        <p:nvGraphicFramePr>
          <p:cNvPr id="18" name="Table 17"/>
          <p:cNvGraphicFramePr>
            <a:graphicFrameLocks noGrp="1"/>
          </p:cNvGraphicFramePr>
          <p:nvPr/>
        </p:nvGraphicFramePr>
        <p:xfrm>
          <a:off x="704088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2"/>
                  </a:ext>
                </a:extLst>
              </a:tr>
            </a:tbl>
          </a:graphicData>
        </a:graphic>
      </p:graphicFrame>
      <p:sp>
        <p:nvSpPr>
          <p:cNvPr id="19" name="Rounded Rectangle 18"/>
          <p:cNvSpPr/>
          <p:nvPr/>
        </p:nvSpPr>
        <p:spPr>
          <a:xfrm>
            <a:off x="7534656" y="1877084"/>
            <a:ext cx="347472" cy="555220"/>
          </a:xfrm>
          <a:prstGeom prst="roundRect">
            <a:avLst>
              <a:gd name="adj" fmla="val 45000"/>
            </a:avLst>
          </a:prstGeom>
          <a:noFill/>
          <a:ln w="28575">
            <a:solidFill>
              <a:srgbClr val="C82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123976" y="1914144"/>
            <a:ext cx="251928" cy="243840"/>
          </a:xfrm>
          <a:prstGeom prst="roundRect">
            <a:avLst>
              <a:gd name="adj" fmla="val 45000"/>
            </a:avLst>
          </a:prstGeom>
          <a:noFill/>
          <a:ln w="2857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4088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D[1] = G[1]'·G[0]'+G[2]'·G[1]·G[0]</a:t>
            </a:r>
          </a:p>
        </p:txBody>
      </p:sp>
      <p:sp>
        <p:nvSpPr>
          <p:cNvPr id="22" name="TextBox 21"/>
          <p:cNvSpPr txBox="1"/>
          <p:nvPr/>
        </p:nvSpPr>
        <p:spPr>
          <a:xfrm>
            <a:off x="3017520" y="2926080"/>
            <a:ext cx="1719072" cy="182880"/>
          </a:xfrm>
          <a:prstGeom prst="rect">
            <a:avLst/>
          </a:prstGeom>
          <a:noFill/>
        </p:spPr>
        <p:txBody>
          <a:bodyPr wrap="none" lIns="0" tIns="0" rIns="0" bIns="0">
            <a:spAutoFit/>
          </a:bodyPr>
          <a:lstStyle/>
          <a:p>
            <a:pPr algn="l"/>
            <a:r>
              <a:rPr sz="1000" b="1">
                <a:solidFill>
                  <a:srgbClr val="1E2761"/>
                </a:solidFill>
                <a:latin typeface="Calibri"/>
              </a:rPr>
              <a:t>K-map for D[0]</a:t>
            </a:r>
          </a:p>
        </p:txBody>
      </p:sp>
      <p:graphicFrame>
        <p:nvGraphicFramePr>
          <p:cNvPr id="23" name="Table 22"/>
          <p:cNvGraphicFramePr>
            <a:graphicFrameLocks noGrp="1"/>
          </p:cNvGraphicFramePr>
          <p:nvPr/>
        </p:nvGraphicFramePr>
        <p:xfrm>
          <a:off x="3017520" y="312724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dirty="0">
                          <a:solidFill>
                            <a:srgbClr val="5C5C5C"/>
                          </a:solidFill>
                          <a:latin typeface="Consolas"/>
                        </a:rPr>
                        <a:t>0</a:t>
                      </a:r>
                    </a:p>
                  </a:txBody>
                  <a:tcPr>
                    <a:solidFill>
                      <a:srgbClr val="FFFFFF"/>
                    </a:solidFill>
                  </a:tcPr>
                </a:tc>
                <a:extLst>
                  <a:ext uri="{0D108BD9-81ED-4DB2-BD59-A6C34878D82A}">
                    <a16:rowId xmlns:a16="http://schemas.microsoft.com/office/drawing/2014/main" val="10002"/>
                  </a:ext>
                </a:extLst>
              </a:tr>
            </a:tbl>
          </a:graphicData>
        </a:graphic>
      </p:graphicFrame>
      <p:sp>
        <p:nvSpPr>
          <p:cNvPr id="24" name="Rounded Rectangle 23"/>
          <p:cNvSpPr/>
          <p:nvPr/>
        </p:nvSpPr>
        <p:spPr>
          <a:xfrm>
            <a:off x="3511296" y="3468624"/>
            <a:ext cx="347472" cy="518160"/>
          </a:xfrm>
          <a:prstGeom prst="roundRect">
            <a:avLst>
              <a:gd name="adj" fmla="val 45000"/>
            </a:avLst>
          </a:prstGeom>
          <a:noFill/>
          <a:ln w="28575">
            <a:solidFill>
              <a:srgbClr val="C82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511296" y="3425228"/>
            <a:ext cx="347472" cy="314668"/>
          </a:xfrm>
          <a:prstGeom prst="roundRect">
            <a:avLst>
              <a:gd name="adj" fmla="val 45000"/>
            </a:avLst>
          </a:prstGeom>
          <a:noFill/>
          <a:ln w="2857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352543" y="3425226"/>
            <a:ext cx="320041" cy="314669"/>
          </a:xfrm>
          <a:prstGeom prst="roundRect">
            <a:avLst>
              <a:gd name="adj" fmla="val 45000"/>
            </a:avLst>
          </a:prstGeom>
          <a:noFill/>
          <a:ln w="2857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017520" y="399592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D[0] = G[0]'·(G[1]'+G[2]')</a:t>
            </a:r>
          </a:p>
        </p:txBody>
      </p:sp>
      <p:sp>
        <p:nvSpPr>
          <p:cNvPr id="28" name="TextBox 27"/>
          <p:cNvSpPr txBox="1"/>
          <p:nvPr/>
        </p:nvSpPr>
        <p:spPr>
          <a:xfrm>
            <a:off x="5029200" y="2926080"/>
            <a:ext cx="1719072" cy="182880"/>
          </a:xfrm>
          <a:prstGeom prst="rect">
            <a:avLst/>
          </a:prstGeom>
          <a:noFill/>
        </p:spPr>
        <p:txBody>
          <a:bodyPr wrap="none" lIns="0" tIns="0" rIns="0" bIns="0">
            <a:spAutoFit/>
          </a:bodyPr>
          <a:lstStyle/>
          <a:p>
            <a:pPr algn="l"/>
            <a:r>
              <a:rPr sz="1000" b="1">
                <a:solidFill>
                  <a:srgbClr val="1E2761"/>
                </a:solidFill>
                <a:latin typeface="Calibri"/>
              </a:rPr>
              <a:t>K-map for OF</a:t>
            </a:r>
          </a:p>
        </p:txBody>
      </p:sp>
      <p:graphicFrame>
        <p:nvGraphicFramePr>
          <p:cNvPr id="29" name="Table 28"/>
          <p:cNvGraphicFramePr>
            <a:graphicFrameLocks noGrp="1"/>
          </p:cNvGraphicFramePr>
          <p:nvPr/>
        </p:nvGraphicFramePr>
        <p:xfrm>
          <a:off x="5029200" y="312724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2"/>
                  </a:ext>
                </a:extLst>
              </a:tr>
            </a:tbl>
          </a:graphicData>
        </a:graphic>
      </p:graphicFrame>
      <p:sp>
        <p:nvSpPr>
          <p:cNvPr id="30" name="Rounded Rectangle 29"/>
          <p:cNvSpPr/>
          <p:nvPr/>
        </p:nvSpPr>
        <p:spPr>
          <a:xfrm>
            <a:off x="5797296" y="3675888"/>
            <a:ext cx="621792" cy="310896"/>
          </a:xfrm>
          <a:prstGeom prst="roundRect">
            <a:avLst>
              <a:gd name="adj" fmla="val 45000"/>
            </a:avLst>
          </a:prstGeom>
          <a:noFill/>
          <a:ln w="28575">
            <a:solidFill>
              <a:srgbClr val="C82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053328" y="3639312"/>
            <a:ext cx="658368" cy="365760"/>
          </a:xfrm>
          <a:prstGeom prst="roundRect">
            <a:avLst>
              <a:gd name="adj" fmla="val 45000"/>
            </a:avLst>
          </a:prstGeom>
          <a:noFill/>
          <a:ln w="2857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29200" y="399592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OF = G[2]·(G[1]+G[0])</a:t>
            </a:r>
          </a:p>
        </p:txBody>
      </p:sp>
      <p:sp>
        <p:nvSpPr>
          <p:cNvPr id="33" name="Rectangle 32"/>
          <p:cNvSpPr/>
          <p:nvPr/>
        </p:nvSpPr>
        <p:spPr>
          <a:xfrm>
            <a:off x="274320" y="4370832"/>
            <a:ext cx="8595360" cy="457200"/>
          </a:xfrm>
          <a:prstGeom prst="rect">
            <a:avLst/>
          </a:prstGeom>
          <a:solidFill>
            <a:srgbClr val="F2F4FA"/>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4407408"/>
            <a:ext cx="8412480" cy="384048"/>
          </a:xfrm>
          <a:prstGeom prst="rect">
            <a:avLst/>
          </a:prstGeom>
          <a:noFill/>
        </p:spPr>
        <p:txBody>
          <a:bodyPr wrap="square" lIns="36576" tIns="18288" rIns="36576" bIns="18288" anchor="ctr">
            <a:spAutoFit/>
          </a:bodyPr>
          <a:lstStyle/>
          <a:p>
            <a:pPr algn="l"/>
            <a:r>
              <a:rPr sz="1150" b="1" i="0">
                <a:solidFill>
                  <a:srgbClr val="1E2761"/>
                </a:solidFill>
                <a:latin typeface="Consolas"/>
              </a:rPr>
              <a:t>D[3]=G[2](G[1]+G[0])   D[2]=G[2]+G[1]+G[0]   D[1]=G[1]'G[0]'+G[2]'G[1]G[0]   D[0]=G[0]'(G[1]'+G[2]')   OF=D[3]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10896" y="365760"/>
            <a:ext cx="8522208" cy="576072"/>
          </a:xfrm>
        </p:spPr>
        <p:txBody>
          <a:bodyPr wrap="square" lIns="18288" tIns="18288" rIns="18288" bIns="18288" anchor="ctr"/>
          <a:lstStyle/>
          <a:p>
            <a:pPr algn="l"/>
            <a:r>
              <a:rPr sz="2200" b="1">
                <a:solidFill>
                  <a:srgbClr val="1E2761"/>
                </a:solidFill>
                <a:latin typeface="Calibri"/>
              </a:rPr>
              <a:t>Clearance (S = 100)</a:t>
            </a:r>
          </a:p>
        </p:txBody>
      </p:sp>
      <p:sp>
        <p:nvSpPr>
          <p:cNvPr id="4" name="TextBox 3"/>
          <p:cNvSpPr txBox="1"/>
          <p:nvPr/>
        </p:nvSpPr>
        <p:spPr>
          <a:xfrm>
            <a:off x="310896" y="1005840"/>
            <a:ext cx="8522208" cy="256032"/>
          </a:xfrm>
          <a:prstGeom prst="rect">
            <a:avLst/>
          </a:prstGeom>
          <a:noFill/>
        </p:spPr>
        <p:txBody>
          <a:bodyPr wrap="square" lIns="36576" tIns="18288" rIns="36576" bIns="18288">
            <a:spAutoFit/>
          </a:bodyPr>
          <a:lstStyle/>
          <a:p>
            <a:r>
              <a:rPr sz="1050" b="0" i="1">
                <a:solidFill>
                  <a:srgbClr val="5C5C5C"/>
                </a:solidFill>
                <a:latin typeface="Calibri"/>
              </a:rPr>
              <a:t>Computes 7 − Y to invert a proximity reading. Result is always 0–7, never overflows.</a:t>
            </a:r>
          </a:p>
        </p:txBody>
      </p:sp>
      <p:graphicFrame>
        <p:nvGraphicFramePr>
          <p:cNvPr id="5" name="Table 4"/>
          <p:cNvGraphicFramePr>
            <a:graphicFrameLocks noGrp="1"/>
          </p:cNvGraphicFramePr>
          <p:nvPr/>
        </p:nvGraphicFramePr>
        <p:xfrm>
          <a:off x="274320" y="1371600"/>
          <a:ext cx="2350008" cy="2926080"/>
        </p:xfrm>
        <a:graphic>
          <a:graphicData uri="http://schemas.openxmlformats.org/drawingml/2006/table">
            <a:tbl>
              <a:tblPr firstRow="1" bandRow="1">
                <a:tableStyleId>{5C22544A-7EE6-4342-B048-85BDC9FD1C3A}</a:tableStyleId>
              </a:tblPr>
              <a:tblGrid>
                <a:gridCol w="658368">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411480">
                  <a:extLst>
                    <a:ext uri="{9D8B030D-6E8A-4147-A177-3AD203B41FA5}">
                      <a16:colId xmlns:a16="http://schemas.microsoft.com/office/drawing/2014/main" val="20003"/>
                    </a:ext>
                  </a:extLst>
                </a:gridCol>
              </a:tblGrid>
              <a:tr h="325120">
                <a:tc>
                  <a:txBody>
                    <a:bodyPr/>
                    <a:lstStyle/>
                    <a:p>
                      <a:pPr algn="ctr"/>
                      <a:r>
                        <a:rPr sz="1000" b="1" i="0">
                          <a:solidFill>
                            <a:srgbClr val="FFFFFF"/>
                          </a:solidFill>
                          <a:latin typeface="Calibri"/>
                        </a:rPr>
                        <a:t>Y[2:0]</a:t>
                      </a:r>
                    </a:p>
                  </a:txBody>
                  <a:tcPr>
                    <a:solidFill>
                      <a:srgbClr val="1E2761"/>
                    </a:solidFill>
                  </a:tcPr>
                </a:tc>
                <a:tc>
                  <a:txBody>
                    <a:bodyPr/>
                    <a:lstStyle/>
                    <a:p>
                      <a:pPr algn="ctr"/>
                      <a:r>
                        <a:rPr sz="1000" b="1" i="0">
                          <a:solidFill>
                            <a:srgbClr val="FFFFFF"/>
                          </a:solidFill>
                          <a:latin typeface="Calibri"/>
                        </a:rPr>
                        <a:t>7−Y</a:t>
                      </a:r>
                    </a:p>
                  </a:txBody>
                  <a:tcPr>
                    <a:solidFill>
                      <a:srgbClr val="1E2761"/>
                    </a:solidFill>
                  </a:tcPr>
                </a:tc>
                <a:tc>
                  <a:txBody>
                    <a:bodyPr/>
                    <a:lstStyle/>
                    <a:p>
                      <a:pPr algn="ctr"/>
                      <a:r>
                        <a:rPr sz="1000" b="1" i="0">
                          <a:solidFill>
                            <a:srgbClr val="FFFFFF"/>
                          </a:solidFill>
                          <a:latin typeface="Calibri"/>
                        </a:rPr>
                        <a:t>D[3:0]</a:t>
                      </a:r>
                    </a:p>
                  </a:txBody>
                  <a:tcPr>
                    <a:solidFill>
                      <a:srgbClr val="1E2761"/>
                    </a:solidFill>
                  </a:tcPr>
                </a:tc>
                <a:tc>
                  <a:txBody>
                    <a:bodyPr/>
                    <a:lstStyle/>
                    <a:p>
                      <a:pPr algn="ctr"/>
                      <a:r>
                        <a:rPr sz="1000" b="1" i="0">
                          <a:solidFill>
                            <a:srgbClr val="FFFFFF"/>
                          </a:solidFill>
                          <a:latin typeface="Calibri"/>
                        </a:rPr>
                        <a:t>OF</a:t>
                      </a:r>
                    </a:p>
                  </a:txBody>
                  <a:tcPr>
                    <a:solidFill>
                      <a:srgbClr val="1E2761"/>
                    </a:solidFill>
                  </a:tcPr>
                </a:tc>
                <a:extLst>
                  <a:ext uri="{0D108BD9-81ED-4DB2-BD59-A6C34878D82A}">
                    <a16:rowId xmlns:a16="http://schemas.microsoft.com/office/drawing/2014/main" val="10000"/>
                  </a:ext>
                </a:extLst>
              </a:tr>
              <a:tr h="325120">
                <a:tc>
                  <a:txBody>
                    <a:bodyPr/>
                    <a:lstStyle/>
                    <a:p>
                      <a:pPr algn="ctr"/>
                      <a:r>
                        <a:rPr sz="1000" b="0" i="0">
                          <a:solidFill>
                            <a:srgbClr val="21295C"/>
                          </a:solidFill>
                          <a:latin typeface="Consolas"/>
                        </a:rPr>
                        <a:t>000</a:t>
                      </a:r>
                    </a:p>
                  </a:txBody>
                  <a:tcPr>
                    <a:solidFill>
                      <a:srgbClr val="FFFFFF"/>
                    </a:solidFill>
                  </a:tcPr>
                </a:tc>
                <a:tc>
                  <a:txBody>
                    <a:bodyPr/>
                    <a:lstStyle/>
                    <a:p>
                      <a:pPr algn="ctr"/>
                      <a:r>
                        <a:rPr sz="1000" b="0" i="0">
                          <a:solidFill>
                            <a:srgbClr val="21295C"/>
                          </a:solidFill>
                          <a:latin typeface="Calibri"/>
                        </a:rPr>
                        <a:t>7</a:t>
                      </a:r>
                    </a:p>
                  </a:txBody>
                  <a:tcPr>
                    <a:solidFill>
                      <a:srgbClr val="FFFFFF"/>
                    </a:solidFill>
                  </a:tcPr>
                </a:tc>
                <a:tc>
                  <a:txBody>
                    <a:bodyPr/>
                    <a:lstStyle/>
                    <a:p>
                      <a:pPr algn="ctr"/>
                      <a:r>
                        <a:rPr sz="1000" b="0" i="0">
                          <a:solidFill>
                            <a:srgbClr val="21295C"/>
                          </a:solidFill>
                          <a:latin typeface="Consolas"/>
                        </a:rPr>
                        <a:t>0111</a:t>
                      </a:r>
                    </a:p>
                  </a:txBody>
                  <a:tcPr>
                    <a:solidFill>
                      <a:srgbClr val="FFFFFF"/>
                    </a:solidFill>
                  </a:tcPr>
                </a:tc>
                <a:tc>
                  <a:txBody>
                    <a:bodyPr/>
                    <a:lstStyle/>
                    <a:p>
                      <a:pPr algn="ctr"/>
                      <a:r>
                        <a:rPr sz="1000" b="0" i="0">
                          <a:solidFill>
                            <a:srgbClr val="21295C"/>
                          </a:solidFill>
                          <a:latin typeface="Consolas"/>
                        </a:rPr>
                        <a:t>0</a:t>
                      </a:r>
                    </a:p>
                  </a:txBody>
                  <a:tcPr>
                    <a:solidFill>
                      <a:srgbClr val="FFFFFF"/>
                    </a:solidFill>
                  </a:tcPr>
                </a:tc>
                <a:extLst>
                  <a:ext uri="{0D108BD9-81ED-4DB2-BD59-A6C34878D82A}">
                    <a16:rowId xmlns:a16="http://schemas.microsoft.com/office/drawing/2014/main" val="10001"/>
                  </a:ext>
                </a:extLst>
              </a:tr>
              <a:tr h="325120">
                <a:tc>
                  <a:txBody>
                    <a:bodyPr/>
                    <a:lstStyle/>
                    <a:p>
                      <a:pPr algn="ctr"/>
                      <a:r>
                        <a:rPr sz="1000" b="0" i="0">
                          <a:solidFill>
                            <a:srgbClr val="21295C"/>
                          </a:solidFill>
                          <a:latin typeface="Consolas"/>
                        </a:rPr>
                        <a:t>001</a:t>
                      </a:r>
                    </a:p>
                  </a:txBody>
                  <a:tcPr>
                    <a:solidFill>
                      <a:srgbClr val="F2F4FA"/>
                    </a:solidFill>
                  </a:tcPr>
                </a:tc>
                <a:tc>
                  <a:txBody>
                    <a:bodyPr/>
                    <a:lstStyle/>
                    <a:p>
                      <a:pPr algn="ctr"/>
                      <a:r>
                        <a:rPr sz="1000" b="0" i="0">
                          <a:solidFill>
                            <a:srgbClr val="21295C"/>
                          </a:solidFill>
                          <a:latin typeface="Calibri"/>
                        </a:rPr>
                        <a:t>6</a:t>
                      </a:r>
                    </a:p>
                  </a:txBody>
                  <a:tcPr>
                    <a:solidFill>
                      <a:srgbClr val="F2F4FA"/>
                    </a:solidFill>
                  </a:tcPr>
                </a:tc>
                <a:tc>
                  <a:txBody>
                    <a:bodyPr/>
                    <a:lstStyle/>
                    <a:p>
                      <a:pPr algn="ctr"/>
                      <a:r>
                        <a:rPr sz="1000" b="0" i="0">
                          <a:solidFill>
                            <a:srgbClr val="21295C"/>
                          </a:solidFill>
                          <a:latin typeface="Consolas"/>
                        </a:rPr>
                        <a:t>0110</a:t>
                      </a:r>
                    </a:p>
                  </a:txBody>
                  <a:tcPr>
                    <a:solidFill>
                      <a:srgbClr val="F2F4FA"/>
                    </a:solidFill>
                  </a:tcPr>
                </a:tc>
                <a:tc>
                  <a:txBody>
                    <a:bodyPr/>
                    <a:lstStyle/>
                    <a:p>
                      <a:pPr algn="ctr"/>
                      <a:r>
                        <a:rPr sz="1000" b="0" i="0">
                          <a:solidFill>
                            <a:srgbClr val="21295C"/>
                          </a:solidFill>
                          <a:latin typeface="Consolas"/>
                        </a:rPr>
                        <a:t>0</a:t>
                      </a:r>
                    </a:p>
                  </a:txBody>
                  <a:tcPr>
                    <a:solidFill>
                      <a:srgbClr val="F2F4FA"/>
                    </a:solidFill>
                  </a:tcPr>
                </a:tc>
                <a:extLst>
                  <a:ext uri="{0D108BD9-81ED-4DB2-BD59-A6C34878D82A}">
                    <a16:rowId xmlns:a16="http://schemas.microsoft.com/office/drawing/2014/main" val="10002"/>
                  </a:ext>
                </a:extLst>
              </a:tr>
              <a:tr h="325120">
                <a:tc>
                  <a:txBody>
                    <a:bodyPr/>
                    <a:lstStyle/>
                    <a:p>
                      <a:pPr algn="ctr"/>
                      <a:r>
                        <a:rPr sz="1000" b="0" i="0">
                          <a:solidFill>
                            <a:srgbClr val="21295C"/>
                          </a:solidFill>
                          <a:latin typeface="Consolas"/>
                        </a:rPr>
                        <a:t>010</a:t>
                      </a:r>
                    </a:p>
                  </a:txBody>
                  <a:tcPr>
                    <a:solidFill>
                      <a:srgbClr val="FFFFFF"/>
                    </a:solidFill>
                  </a:tcPr>
                </a:tc>
                <a:tc>
                  <a:txBody>
                    <a:bodyPr/>
                    <a:lstStyle/>
                    <a:p>
                      <a:pPr algn="ctr"/>
                      <a:r>
                        <a:rPr sz="1000" b="0" i="0">
                          <a:solidFill>
                            <a:srgbClr val="21295C"/>
                          </a:solidFill>
                          <a:latin typeface="Calibri"/>
                        </a:rPr>
                        <a:t>5</a:t>
                      </a:r>
                    </a:p>
                  </a:txBody>
                  <a:tcPr>
                    <a:solidFill>
                      <a:srgbClr val="FFFFFF"/>
                    </a:solidFill>
                  </a:tcPr>
                </a:tc>
                <a:tc>
                  <a:txBody>
                    <a:bodyPr/>
                    <a:lstStyle/>
                    <a:p>
                      <a:pPr algn="ctr"/>
                      <a:r>
                        <a:rPr sz="1000" b="0" i="0">
                          <a:solidFill>
                            <a:srgbClr val="21295C"/>
                          </a:solidFill>
                          <a:latin typeface="Consolas"/>
                        </a:rPr>
                        <a:t>0101</a:t>
                      </a:r>
                    </a:p>
                  </a:txBody>
                  <a:tcPr>
                    <a:solidFill>
                      <a:srgbClr val="FFFFFF"/>
                    </a:solidFill>
                  </a:tcPr>
                </a:tc>
                <a:tc>
                  <a:txBody>
                    <a:bodyPr/>
                    <a:lstStyle/>
                    <a:p>
                      <a:pPr algn="ctr"/>
                      <a:r>
                        <a:rPr sz="1000" b="0" i="0">
                          <a:solidFill>
                            <a:srgbClr val="21295C"/>
                          </a:solidFill>
                          <a:latin typeface="Consolas"/>
                        </a:rPr>
                        <a:t>0</a:t>
                      </a:r>
                    </a:p>
                  </a:txBody>
                  <a:tcPr>
                    <a:solidFill>
                      <a:srgbClr val="FFFFFF"/>
                    </a:solidFill>
                  </a:tcPr>
                </a:tc>
                <a:extLst>
                  <a:ext uri="{0D108BD9-81ED-4DB2-BD59-A6C34878D82A}">
                    <a16:rowId xmlns:a16="http://schemas.microsoft.com/office/drawing/2014/main" val="10003"/>
                  </a:ext>
                </a:extLst>
              </a:tr>
              <a:tr h="325120">
                <a:tc>
                  <a:txBody>
                    <a:bodyPr/>
                    <a:lstStyle/>
                    <a:p>
                      <a:pPr algn="ctr"/>
                      <a:r>
                        <a:rPr sz="1000" b="0" i="0">
                          <a:solidFill>
                            <a:srgbClr val="21295C"/>
                          </a:solidFill>
                          <a:latin typeface="Consolas"/>
                        </a:rPr>
                        <a:t>011</a:t>
                      </a:r>
                    </a:p>
                  </a:txBody>
                  <a:tcPr>
                    <a:solidFill>
                      <a:srgbClr val="F2F4FA"/>
                    </a:solidFill>
                  </a:tcPr>
                </a:tc>
                <a:tc>
                  <a:txBody>
                    <a:bodyPr/>
                    <a:lstStyle/>
                    <a:p>
                      <a:pPr algn="ctr"/>
                      <a:r>
                        <a:rPr sz="1000" b="0" i="0">
                          <a:solidFill>
                            <a:srgbClr val="21295C"/>
                          </a:solidFill>
                          <a:latin typeface="Calibri"/>
                        </a:rPr>
                        <a:t>4</a:t>
                      </a:r>
                    </a:p>
                  </a:txBody>
                  <a:tcPr>
                    <a:solidFill>
                      <a:srgbClr val="F2F4FA"/>
                    </a:solidFill>
                  </a:tcPr>
                </a:tc>
                <a:tc>
                  <a:txBody>
                    <a:bodyPr/>
                    <a:lstStyle/>
                    <a:p>
                      <a:pPr algn="ctr"/>
                      <a:r>
                        <a:rPr sz="1000" b="0" i="0">
                          <a:solidFill>
                            <a:srgbClr val="21295C"/>
                          </a:solidFill>
                          <a:latin typeface="Consolas"/>
                        </a:rPr>
                        <a:t>0100</a:t>
                      </a:r>
                    </a:p>
                  </a:txBody>
                  <a:tcPr>
                    <a:solidFill>
                      <a:srgbClr val="F2F4FA"/>
                    </a:solidFill>
                  </a:tcPr>
                </a:tc>
                <a:tc>
                  <a:txBody>
                    <a:bodyPr/>
                    <a:lstStyle/>
                    <a:p>
                      <a:pPr algn="ctr"/>
                      <a:r>
                        <a:rPr sz="1000" b="0" i="0">
                          <a:solidFill>
                            <a:srgbClr val="21295C"/>
                          </a:solidFill>
                          <a:latin typeface="Consolas"/>
                        </a:rPr>
                        <a:t>0</a:t>
                      </a:r>
                    </a:p>
                  </a:txBody>
                  <a:tcPr>
                    <a:solidFill>
                      <a:srgbClr val="F2F4FA"/>
                    </a:solidFill>
                  </a:tcPr>
                </a:tc>
                <a:extLst>
                  <a:ext uri="{0D108BD9-81ED-4DB2-BD59-A6C34878D82A}">
                    <a16:rowId xmlns:a16="http://schemas.microsoft.com/office/drawing/2014/main" val="10004"/>
                  </a:ext>
                </a:extLst>
              </a:tr>
              <a:tr h="325120">
                <a:tc>
                  <a:txBody>
                    <a:bodyPr/>
                    <a:lstStyle/>
                    <a:p>
                      <a:pPr algn="ctr"/>
                      <a:r>
                        <a:rPr sz="1000" b="0" i="0">
                          <a:solidFill>
                            <a:srgbClr val="21295C"/>
                          </a:solidFill>
                          <a:latin typeface="Consolas"/>
                        </a:rPr>
                        <a:t>100</a:t>
                      </a:r>
                    </a:p>
                  </a:txBody>
                  <a:tcPr>
                    <a:solidFill>
                      <a:srgbClr val="FFFFFF"/>
                    </a:solidFill>
                  </a:tcPr>
                </a:tc>
                <a:tc>
                  <a:txBody>
                    <a:bodyPr/>
                    <a:lstStyle/>
                    <a:p>
                      <a:pPr algn="ctr"/>
                      <a:r>
                        <a:rPr sz="1000" b="0" i="0">
                          <a:solidFill>
                            <a:srgbClr val="21295C"/>
                          </a:solidFill>
                          <a:latin typeface="Calibri"/>
                        </a:rPr>
                        <a:t>3</a:t>
                      </a:r>
                    </a:p>
                  </a:txBody>
                  <a:tcPr>
                    <a:solidFill>
                      <a:srgbClr val="FFFFFF"/>
                    </a:solidFill>
                  </a:tcPr>
                </a:tc>
                <a:tc>
                  <a:txBody>
                    <a:bodyPr/>
                    <a:lstStyle/>
                    <a:p>
                      <a:pPr algn="ctr"/>
                      <a:r>
                        <a:rPr sz="1000" b="0" i="0">
                          <a:solidFill>
                            <a:srgbClr val="21295C"/>
                          </a:solidFill>
                          <a:latin typeface="Consolas"/>
                        </a:rPr>
                        <a:t>0011</a:t>
                      </a:r>
                    </a:p>
                  </a:txBody>
                  <a:tcPr>
                    <a:solidFill>
                      <a:srgbClr val="FFFFFF"/>
                    </a:solidFill>
                  </a:tcPr>
                </a:tc>
                <a:tc>
                  <a:txBody>
                    <a:bodyPr/>
                    <a:lstStyle/>
                    <a:p>
                      <a:pPr algn="ctr"/>
                      <a:r>
                        <a:rPr sz="1000" b="0" i="0">
                          <a:solidFill>
                            <a:srgbClr val="21295C"/>
                          </a:solidFill>
                          <a:latin typeface="Consolas"/>
                        </a:rPr>
                        <a:t>0</a:t>
                      </a:r>
                    </a:p>
                  </a:txBody>
                  <a:tcPr>
                    <a:solidFill>
                      <a:srgbClr val="FFFFFF"/>
                    </a:solidFill>
                  </a:tcPr>
                </a:tc>
                <a:extLst>
                  <a:ext uri="{0D108BD9-81ED-4DB2-BD59-A6C34878D82A}">
                    <a16:rowId xmlns:a16="http://schemas.microsoft.com/office/drawing/2014/main" val="10005"/>
                  </a:ext>
                </a:extLst>
              </a:tr>
              <a:tr h="325120">
                <a:tc>
                  <a:txBody>
                    <a:bodyPr/>
                    <a:lstStyle/>
                    <a:p>
                      <a:pPr algn="ctr"/>
                      <a:r>
                        <a:rPr sz="1000" b="0" i="0">
                          <a:solidFill>
                            <a:srgbClr val="21295C"/>
                          </a:solidFill>
                          <a:latin typeface="Consolas"/>
                        </a:rPr>
                        <a:t>101</a:t>
                      </a:r>
                    </a:p>
                  </a:txBody>
                  <a:tcPr>
                    <a:solidFill>
                      <a:srgbClr val="F2F4FA"/>
                    </a:solidFill>
                  </a:tcPr>
                </a:tc>
                <a:tc>
                  <a:txBody>
                    <a:bodyPr/>
                    <a:lstStyle/>
                    <a:p>
                      <a:pPr algn="ctr"/>
                      <a:r>
                        <a:rPr sz="1000" b="0" i="0">
                          <a:solidFill>
                            <a:srgbClr val="21295C"/>
                          </a:solidFill>
                          <a:latin typeface="Calibri"/>
                        </a:rPr>
                        <a:t>2</a:t>
                      </a:r>
                    </a:p>
                  </a:txBody>
                  <a:tcPr>
                    <a:solidFill>
                      <a:srgbClr val="F2F4FA"/>
                    </a:solidFill>
                  </a:tcPr>
                </a:tc>
                <a:tc>
                  <a:txBody>
                    <a:bodyPr/>
                    <a:lstStyle/>
                    <a:p>
                      <a:pPr algn="ctr"/>
                      <a:r>
                        <a:rPr sz="1000" b="0" i="0">
                          <a:solidFill>
                            <a:srgbClr val="21295C"/>
                          </a:solidFill>
                          <a:latin typeface="Consolas"/>
                        </a:rPr>
                        <a:t>0010</a:t>
                      </a:r>
                    </a:p>
                  </a:txBody>
                  <a:tcPr>
                    <a:solidFill>
                      <a:srgbClr val="F2F4FA"/>
                    </a:solidFill>
                  </a:tcPr>
                </a:tc>
                <a:tc>
                  <a:txBody>
                    <a:bodyPr/>
                    <a:lstStyle/>
                    <a:p>
                      <a:pPr algn="ctr"/>
                      <a:r>
                        <a:rPr sz="1000" b="0" i="0">
                          <a:solidFill>
                            <a:srgbClr val="21295C"/>
                          </a:solidFill>
                          <a:latin typeface="Consolas"/>
                        </a:rPr>
                        <a:t>0</a:t>
                      </a:r>
                    </a:p>
                  </a:txBody>
                  <a:tcPr>
                    <a:solidFill>
                      <a:srgbClr val="F2F4FA"/>
                    </a:solidFill>
                  </a:tcPr>
                </a:tc>
                <a:extLst>
                  <a:ext uri="{0D108BD9-81ED-4DB2-BD59-A6C34878D82A}">
                    <a16:rowId xmlns:a16="http://schemas.microsoft.com/office/drawing/2014/main" val="10006"/>
                  </a:ext>
                </a:extLst>
              </a:tr>
              <a:tr h="325120">
                <a:tc>
                  <a:txBody>
                    <a:bodyPr/>
                    <a:lstStyle/>
                    <a:p>
                      <a:pPr algn="ctr"/>
                      <a:r>
                        <a:rPr sz="1000" b="0" i="0">
                          <a:solidFill>
                            <a:srgbClr val="21295C"/>
                          </a:solidFill>
                          <a:latin typeface="Consolas"/>
                        </a:rPr>
                        <a:t>110</a:t>
                      </a:r>
                    </a:p>
                  </a:txBody>
                  <a:tcPr>
                    <a:solidFill>
                      <a:srgbClr val="FFFFFF"/>
                    </a:solidFill>
                  </a:tcPr>
                </a:tc>
                <a:tc>
                  <a:txBody>
                    <a:bodyPr/>
                    <a:lstStyle/>
                    <a:p>
                      <a:pPr algn="ctr"/>
                      <a:r>
                        <a:rPr sz="1000" b="0" i="0">
                          <a:solidFill>
                            <a:srgbClr val="21295C"/>
                          </a:solidFill>
                          <a:latin typeface="Calibri"/>
                        </a:rPr>
                        <a:t>1</a:t>
                      </a:r>
                    </a:p>
                  </a:txBody>
                  <a:tcPr>
                    <a:solidFill>
                      <a:srgbClr val="FFFFFF"/>
                    </a:solidFill>
                  </a:tcPr>
                </a:tc>
                <a:tc>
                  <a:txBody>
                    <a:bodyPr/>
                    <a:lstStyle/>
                    <a:p>
                      <a:pPr algn="ctr"/>
                      <a:r>
                        <a:rPr sz="1000" b="0" i="0">
                          <a:solidFill>
                            <a:srgbClr val="21295C"/>
                          </a:solidFill>
                          <a:latin typeface="Consolas"/>
                        </a:rPr>
                        <a:t>0001</a:t>
                      </a:r>
                    </a:p>
                  </a:txBody>
                  <a:tcPr>
                    <a:solidFill>
                      <a:srgbClr val="FFFFFF"/>
                    </a:solidFill>
                  </a:tcPr>
                </a:tc>
                <a:tc>
                  <a:txBody>
                    <a:bodyPr/>
                    <a:lstStyle/>
                    <a:p>
                      <a:pPr algn="ctr"/>
                      <a:r>
                        <a:rPr sz="1000" b="0" i="0">
                          <a:solidFill>
                            <a:srgbClr val="21295C"/>
                          </a:solidFill>
                          <a:latin typeface="Consolas"/>
                        </a:rPr>
                        <a:t>0</a:t>
                      </a:r>
                    </a:p>
                  </a:txBody>
                  <a:tcPr>
                    <a:solidFill>
                      <a:srgbClr val="FFFFFF"/>
                    </a:solidFill>
                  </a:tcPr>
                </a:tc>
                <a:extLst>
                  <a:ext uri="{0D108BD9-81ED-4DB2-BD59-A6C34878D82A}">
                    <a16:rowId xmlns:a16="http://schemas.microsoft.com/office/drawing/2014/main" val="10007"/>
                  </a:ext>
                </a:extLst>
              </a:tr>
              <a:tr h="325120">
                <a:tc>
                  <a:txBody>
                    <a:bodyPr/>
                    <a:lstStyle/>
                    <a:p>
                      <a:pPr algn="ctr"/>
                      <a:r>
                        <a:rPr sz="1000" b="0" i="0">
                          <a:solidFill>
                            <a:srgbClr val="21295C"/>
                          </a:solidFill>
                          <a:latin typeface="Consolas"/>
                        </a:rPr>
                        <a:t>111</a:t>
                      </a:r>
                    </a:p>
                  </a:txBody>
                  <a:tcPr>
                    <a:solidFill>
                      <a:srgbClr val="F2F4FA"/>
                    </a:solidFill>
                  </a:tcPr>
                </a:tc>
                <a:tc>
                  <a:txBody>
                    <a:bodyPr/>
                    <a:lstStyle/>
                    <a:p>
                      <a:pPr algn="ctr"/>
                      <a:r>
                        <a:rPr sz="1000" b="0" i="0">
                          <a:solidFill>
                            <a:srgbClr val="21295C"/>
                          </a:solidFill>
                          <a:latin typeface="Calibri"/>
                        </a:rPr>
                        <a:t>0</a:t>
                      </a:r>
                    </a:p>
                  </a:txBody>
                  <a:tcPr>
                    <a:solidFill>
                      <a:srgbClr val="F2F4FA"/>
                    </a:solidFill>
                  </a:tcPr>
                </a:tc>
                <a:tc>
                  <a:txBody>
                    <a:bodyPr/>
                    <a:lstStyle/>
                    <a:p>
                      <a:pPr algn="ctr"/>
                      <a:r>
                        <a:rPr sz="1000" b="0" i="0">
                          <a:solidFill>
                            <a:srgbClr val="21295C"/>
                          </a:solidFill>
                          <a:latin typeface="Consolas"/>
                        </a:rPr>
                        <a:t>0000</a:t>
                      </a:r>
                    </a:p>
                  </a:txBody>
                  <a:tcPr>
                    <a:solidFill>
                      <a:srgbClr val="F2F4FA"/>
                    </a:solidFill>
                  </a:tcPr>
                </a:tc>
                <a:tc>
                  <a:txBody>
                    <a:bodyPr/>
                    <a:lstStyle/>
                    <a:p>
                      <a:pPr algn="ctr"/>
                      <a:r>
                        <a:rPr sz="1000" b="0" i="0">
                          <a:solidFill>
                            <a:srgbClr val="21295C"/>
                          </a:solidFill>
                          <a:latin typeface="Consolas"/>
                        </a:rPr>
                        <a:t>0</a:t>
                      </a:r>
                    </a:p>
                  </a:txBody>
                  <a:tcPr>
                    <a:solidFill>
                      <a:srgbClr val="F2F4FA"/>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301752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D[3]</a:t>
            </a:r>
          </a:p>
        </p:txBody>
      </p:sp>
      <p:graphicFrame>
        <p:nvGraphicFramePr>
          <p:cNvPr id="7" name="Table 6"/>
          <p:cNvGraphicFramePr>
            <a:graphicFrameLocks noGrp="1"/>
          </p:cNvGraphicFramePr>
          <p:nvPr/>
        </p:nvGraphicFramePr>
        <p:xfrm>
          <a:off x="301752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Y[1]Y[0]\Y[2]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301752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D[3] = 0</a:t>
            </a:r>
          </a:p>
        </p:txBody>
      </p:sp>
      <p:sp>
        <p:nvSpPr>
          <p:cNvPr id="9" name="TextBox 8"/>
          <p:cNvSpPr txBox="1"/>
          <p:nvPr/>
        </p:nvSpPr>
        <p:spPr>
          <a:xfrm>
            <a:off x="502920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D[2]</a:t>
            </a:r>
          </a:p>
        </p:txBody>
      </p:sp>
      <p:graphicFrame>
        <p:nvGraphicFramePr>
          <p:cNvPr id="10" name="Table 9"/>
          <p:cNvGraphicFramePr>
            <a:graphicFrameLocks noGrp="1"/>
          </p:cNvGraphicFramePr>
          <p:nvPr/>
        </p:nvGraphicFramePr>
        <p:xfrm>
          <a:off x="502920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Y[1]Y[0]\Y[2]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2"/>
                  </a:ext>
                </a:extLst>
              </a:tr>
            </a:tbl>
          </a:graphicData>
        </a:graphic>
      </p:graphicFrame>
      <p:sp>
        <p:nvSpPr>
          <p:cNvPr id="11" name="Rounded Rectangle 10"/>
          <p:cNvSpPr/>
          <p:nvPr/>
        </p:nvSpPr>
        <p:spPr>
          <a:xfrm>
            <a:off x="5532120" y="1865376"/>
            <a:ext cx="1170432" cy="347472"/>
          </a:xfrm>
          <a:prstGeom prst="roundRect">
            <a:avLst>
              <a:gd name="adj" fmla="val 45000"/>
            </a:avLst>
          </a:prstGeom>
          <a:noFill/>
          <a:ln w="28575">
            <a:solidFill>
              <a:srgbClr val="C82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D[2] = Y[2]'</a:t>
            </a:r>
          </a:p>
        </p:txBody>
      </p:sp>
      <p:sp>
        <p:nvSpPr>
          <p:cNvPr id="13" name="TextBox 12"/>
          <p:cNvSpPr txBox="1"/>
          <p:nvPr/>
        </p:nvSpPr>
        <p:spPr>
          <a:xfrm>
            <a:off x="704088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D[1]</a:t>
            </a:r>
          </a:p>
        </p:txBody>
      </p:sp>
      <p:graphicFrame>
        <p:nvGraphicFramePr>
          <p:cNvPr id="14" name="Table 13"/>
          <p:cNvGraphicFramePr>
            <a:graphicFrameLocks noGrp="1"/>
          </p:cNvGraphicFramePr>
          <p:nvPr/>
        </p:nvGraphicFramePr>
        <p:xfrm>
          <a:off x="704088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Y[1]Y[0]\Y[2]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2"/>
                  </a:ext>
                </a:extLst>
              </a:tr>
            </a:tbl>
          </a:graphicData>
        </a:graphic>
      </p:graphicFrame>
      <p:sp>
        <p:nvSpPr>
          <p:cNvPr id="15" name="Rounded Rectangle 14"/>
          <p:cNvSpPr/>
          <p:nvPr/>
        </p:nvSpPr>
        <p:spPr>
          <a:xfrm>
            <a:off x="7543800" y="1828800"/>
            <a:ext cx="621792" cy="621792"/>
          </a:xfrm>
          <a:prstGeom prst="roundRect">
            <a:avLst>
              <a:gd name="adj" fmla="val 45000"/>
            </a:avLst>
          </a:prstGeom>
          <a:noFill/>
          <a:ln w="2857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4088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D[1] = Y[1]'</a:t>
            </a:r>
          </a:p>
        </p:txBody>
      </p:sp>
      <p:sp>
        <p:nvSpPr>
          <p:cNvPr id="17" name="TextBox 16"/>
          <p:cNvSpPr txBox="1"/>
          <p:nvPr/>
        </p:nvSpPr>
        <p:spPr>
          <a:xfrm>
            <a:off x="3017520" y="2926080"/>
            <a:ext cx="1719072" cy="182880"/>
          </a:xfrm>
          <a:prstGeom prst="rect">
            <a:avLst/>
          </a:prstGeom>
          <a:noFill/>
        </p:spPr>
        <p:txBody>
          <a:bodyPr wrap="none" lIns="0" tIns="0" rIns="0" bIns="0">
            <a:spAutoFit/>
          </a:bodyPr>
          <a:lstStyle/>
          <a:p>
            <a:pPr algn="l"/>
            <a:r>
              <a:rPr sz="1000" b="1">
                <a:solidFill>
                  <a:srgbClr val="1E2761"/>
                </a:solidFill>
                <a:latin typeface="Calibri"/>
              </a:rPr>
              <a:t>K-map for D[0]</a:t>
            </a:r>
          </a:p>
        </p:txBody>
      </p:sp>
      <p:graphicFrame>
        <p:nvGraphicFramePr>
          <p:cNvPr id="18" name="Table 17"/>
          <p:cNvGraphicFramePr>
            <a:graphicFrameLocks noGrp="1"/>
          </p:cNvGraphicFramePr>
          <p:nvPr/>
        </p:nvGraphicFramePr>
        <p:xfrm>
          <a:off x="3017520" y="312724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Y[1]Y[0]\Y[2]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1" i="0" dirty="0">
                          <a:solidFill>
                            <a:srgbClr val="21295C"/>
                          </a:solidFill>
                          <a:latin typeface="Consolas"/>
                        </a:rPr>
                        <a:t>1</a:t>
                      </a:r>
                    </a:p>
                  </a:txBody>
                  <a:tcPr>
                    <a:solidFill>
                      <a:srgbClr val="E8F1FF"/>
                    </a:solidFill>
                  </a:tcPr>
                </a:tc>
                <a:extLst>
                  <a:ext uri="{0D108BD9-81ED-4DB2-BD59-A6C34878D82A}">
                    <a16:rowId xmlns:a16="http://schemas.microsoft.com/office/drawing/2014/main" val="10002"/>
                  </a:ext>
                </a:extLst>
              </a:tr>
            </a:tbl>
          </a:graphicData>
        </a:graphic>
      </p:graphicFrame>
      <p:sp>
        <p:nvSpPr>
          <p:cNvPr id="19" name="Rounded Rectangle 18"/>
          <p:cNvSpPr/>
          <p:nvPr/>
        </p:nvSpPr>
        <p:spPr>
          <a:xfrm>
            <a:off x="3493008" y="3468624"/>
            <a:ext cx="384048" cy="527304"/>
          </a:xfrm>
          <a:prstGeom prst="roundRect">
            <a:avLst>
              <a:gd name="adj" fmla="val 45000"/>
            </a:avLst>
          </a:prstGeom>
          <a:noFill/>
          <a:ln w="28575">
            <a:solidFill>
              <a:srgbClr val="6A2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315968" y="3446352"/>
            <a:ext cx="384048" cy="558720"/>
          </a:xfrm>
          <a:prstGeom prst="roundRect">
            <a:avLst>
              <a:gd name="adj" fmla="val 45000"/>
            </a:avLst>
          </a:prstGeom>
          <a:noFill/>
          <a:ln w="28575">
            <a:solidFill>
              <a:srgbClr val="6A2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017520" y="3995928"/>
            <a:ext cx="2084831" cy="365760"/>
          </a:xfrm>
          <a:prstGeom prst="rect">
            <a:avLst/>
          </a:prstGeom>
          <a:noFill/>
        </p:spPr>
        <p:txBody>
          <a:bodyPr wrap="square" lIns="36576" tIns="18288" rIns="36576" bIns="18288">
            <a:spAutoFit/>
          </a:bodyPr>
          <a:lstStyle/>
          <a:p>
            <a:pPr algn="l"/>
            <a:r>
              <a:rPr sz="1000" b="1" i="0" dirty="0">
                <a:solidFill>
                  <a:srgbClr val="21295C"/>
                </a:solidFill>
                <a:latin typeface="Consolas"/>
              </a:rPr>
              <a:t>D[0] = Y[0]'</a:t>
            </a:r>
          </a:p>
        </p:txBody>
      </p:sp>
      <p:sp>
        <p:nvSpPr>
          <p:cNvPr id="22" name="TextBox 21"/>
          <p:cNvSpPr txBox="1"/>
          <p:nvPr/>
        </p:nvSpPr>
        <p:spPr>
          <a:xfrm>
            <a:off x="5029200" y="2926080"/>
            <a:ext cx="1719072" cy="182880"/>
          </a:xfrm>
          <a:prstGeom prst="rect">
            <a:avLst/>
          </a:prstGeom>
          <a:noFill/>
        </p:spPr>
        <p:txBody>
          <a:bodyPr wrap="none" lIns="0" tIns="0" rIns="0" bIns="0">
            <a:spAutoFit/>
          </a:bodyPr>
          <a:lstStyle/>
          <a:p>
            <a:pPr algn="l"/>
            <a:r>
              <a:rPr sz="1000" b="1">
                <a:solidFill>
                  <a:srgbClr val="1E2761"/>
                </a:solidFill>
                <a:latin typeface="Calibri"/>
              </a:rPr>
              <a:t>K-map for OF</a:t>
            </a:r>
          </a:p>
        </p:txBody>
      </p:sp>
      <p:graphicFrame>
        <p:nvGraphicFramePr>
          <p:cNvPr id="23" name="Table 22"/>
          <p:cNvGraphicFramePr>
            <a:graphicFrameLocks noGrp="1"/>
          </p:cNvGraphicFramePr>
          <p:nvPr/>
        </p:nvGraphicFramePr>
        <p:xfrm>
          <a:off x="5029200" y="312724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Y[1]Y[0]\Y[2]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2"/>
                  </a:ext>
                </a:extLst>
              </a:tr>
            </a:tbl>
          </a:graphicData>
        </a:graphic>
      </p:graphicFrame>
      <p:sp>
        <p:nvSpPr>
          <p:cNvPr id="24" name="TextBox 23"/>
          <p:cNvSpPr txBox="1"/>
          <p:nvPr/>
        </p:nvSpPr>
        <p:spPr>
          <a:xfrm>
            <a:off x="5029200" y="399592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OF = 0</a:t>
            </a:r>
          </a:p>
        </p:txBody>
      </p:sp>
      <p:sp>
        <p:nvSpPr>
          <p:cNvPr id="25" name="Rectangle 24"/>
          <p:cNvSpPr/>
          <p:nvPr/>
        </p:nvSpPr>
        <p:spPr>
          <a:xfrm>
            <a:off x="274320" y="4370832"/>
            <a:ext cx="8595360" cy="457200"/>
          </a:xfrm>
          <a:prstGeom prst="rect">
            <a:avLst/>
          </a:prstGeom>
          <a:solidFill>
            <a:srgbClr val="F2F4FA"/>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4407408"/>
            <a:ext cx="8412480" cy="384048"/>
          </a:xfrm>
          <a:prstGeom prst="rect">
            <a:avLst/>
          </a:prstGeom>
          <a:noFill/>
        </p:spPr>
        <p:txBody>
          <a:bodyPr wrap="square" lIns="36576" tIns="18288" rIns="36576" bIns="18288" anchor="ctr">
            <a:spAutoFit/>
          </a:bodyPr>
          <a:lstStyle/>
          <a:p>
            <a:pPr algn="l"/>
            <a:r>
              <a:rPr sz="1150" b="1" i="0">
                <a:solidFill>
                  <a:srgbClr val="1E2761"/>
                </a:solidFill>
                <a:latin typeface="Consolas"/>
              </a:rPr>
              <a:t>D[3:0] = { 0,  Y[2]',  Y[1]',  Y[0]' }  =  { 0, ~Y[2:0] }       OF = 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10896" y="365760"/>
            <a:ext cx="8522208" cy="576072"/>
          </a:xfrm>
        </p:spPr>
        <p:txBody>
          <a:bodyPr wrap="square" lIns="18288" tIns="18288" rIns="18288" bIns="18288" anchor="ctr"/>
          <a:lstStyle/>
          <a:p>
            <a:pPr algn="l"/>
            <a:r>
              <a:rPr sz="2200" b="1">
                <a:solidFill>
                  <a:srgbClr val="1E2761"/>
                </a:solidFill>
                <a:latin typeface="Calibri"/>
              </a:rPr>
              <a:t>Path Average (S = 101)</a:t>
            </a:r>
          </a:p>
        </p:txBody>
      </p:sp>
      <p:sp>
        <p:nvSpPr>
          <p:cNvPr id="4" name="TextBox 3"/>
          <p:cNvSpPr txBox="1"/>
          <p:nvPr/>
        </p:nvSpPr>
        <p:spPr>
          <a:xfrm>
            <a:off x="310896" y="1005840"/>
            <a:ext cx="8522208" cy="256032"/>
          </a:xfrm>
          <a:prstGeom prst="rect">
            <a:avLst/>
          </a:prstGeom>
          <a:noFill/>
        </p:spPr>
        <p:txBody>
          <a:bodyPr wrap="square" lIns="36576" tIns="18288" rIns="36576" bIns="18288">
            <a:spAutoFit/>
          </a:bodyPr>
          <a:lstStyle/>
          <a:p>
            <a:r>
              <a:rPr sz="1050" b="0" i="1">
                <a:solidFill>
                  <a:srgbClr val="5C5C5C"/>
                </a:solidFill>
                <a:latin typeface="Calibri"/>
              </a:rPr>
              <a:t>Computes ⌊(G+Y)/2⌋ for sensor averaging. Max average is 7, so never overflows.</a:t>
            </a:r>
          </a:p>
        </p:txBody>
      </p:sp>
      <p:graphicFrame>
        <p:nvGraphicFramePr>
          <p:cNvPr id="5" name="Table 4"/>
          <p:cNvGraphicFramePr>
            <a:graphicFrameLocks noGrp="1"/>
          </p:cNvGraphicFramePr>
          <p:nvPr/>
        </p:nvGraphicFramePr>
        <p:xfrm>
          <a:off x="274320" y="1371600"/>
          <a:ext cx="2606040" cy="2240280"/>
        </p:xfrm>
        <a:graphic>
          <a:graphicData uri="http://schemas.openxmlformats.org/drawingml/2006/table">
            <a:tbl>
              <a:tblPr firstRow="1" bandRow="1">
                <a:tableStyleId>{5C22544A-7EE6-4342-B048-85BDC9FD1C3A}</a:tableStyleId>
              </a:tblPr>
              <a:tblGrid>
                <a:gridCol w="566928">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411480">
                  <a:extLst>
                    <a:ext uri="{9D8B030D-6E8A-4147-A177-3AD203B41FA5}">
                      <a16:colId xmlns:a16="http://schemas.microsoft.com/office/drawing/2014/main" val="20002"/>
                    </a:ext>
                  </a:extLst>
                </a:gridCol>
                <a:gridCol w="384048">
                  <a:extLst>
                    <a:ext uri="{9D8B030D-6E8A-4147-A177-3AD203B41FA5}">
                      <a16:colId xmlns:a16="http://schemas.microsoft.com/office/drawing/2014/main" val="20003"/>
                    </a:ext>
                  </a:extLst>
                </a:gridCol>
                <a:gridCol w="676656">
                  <a:extLst>
                    <a:ext uri="{9D8B030D-6E8A-4147-A177-3AD203B41FA5}">
                      <a16:colId xmlns:a16="http://schemas.microsoft.com/office/drawing/2014/main" val="20004"/>
                    </a:ext>
                  </a:extLst>
                </a:gridCol>
              </a:tblGrid>
              <a:tr h="280035">
                <a:tc>
                  <a:txBody>
                    <a:bodyPr/>
                    <a:lstStyle/>
                    <a:p>
                      <a:pPr algn="ctr"/>
                      <a:r>
                        <a:rPr sz="1000" b="1" i="0">
                          <a:solidFill>
                            <a:srgbClr val="FFFFFF"/>
                          </a:solidFill>
                          <a:latin typeface="Calibri"/>
                        </a:rPr>
                        <a:t>G[2:0]</a:t>
                      </a:r>
                    </a:p>
                  </a:txBody>
                  <a:tcPr>
                    <a:solidFill>
                      <a:srgbClr val="1E2761"/>
                    </a:solidFill>
                  </a:tcPr>
                </a:tc>
                <a:tc>
                  <a:txBody>
                    <a:bodyPr/>
                    <a:lstStyle/>
                    <a:p>
                      <a:pPr algn="ctr"/>
                      <a:r>
                        <a:rPr sz="1000" b="1" i="0">
                          <a:solidFill>
                            <a:srgbClr val="FFFFFF"/>
                          </a:solidFill>
                          <a:latin typeface="Calibri"/>
                        </a:rPr>
                        <a:t>Y[2:0]</a:t>
                      </a:r>
                    </a:p>
                  </a:txBody>
                  <a:tcPr>
                    <a:solidFill>
                      <a:srgbClr val="1E2761"/>
                    </a:solidFill>
                  </a:tcPr>
                </a:tc>
                <a:tc>
                  <a:txBody>
                    <a:bodyPr/>
                    <a:lstStyle/>
                    <a:p>
                      <a:pPr algn="ctr"/>
                      <a:r>
                        <a:rPr sz="1000" b="1" i="0">
                          <a:solidFill>
                            <a:srgbClr val="FFFFFF"/>
                          </a:solidFill>
                          <a:latin typeface="Calibri"/>
                        </a:rPr>
                        <a:t>G+Y</a:t>
                      </a:r>
                    </a:p>
                  </a:txBody>
                  <a:tcPr>
                    <a:solidFill>
                      <a:srgbClr val="1E2761"/>
                    </a:solidFill>
                  </a:tcPr>
                </a:tc>
                <a:tc>
                  <a:txBody>
                    <a:bodyPr/>
                    <a:lstStyle/>
                    <a:p>
                      <a:pPr algn="ctr"/>
                      <a:r>
                        <a:rPr sz="1000" b="1" i="0">
                          <a:solidFill>
                            <a:srgbClr val="FFFFFF"/>
                          </a:solidFill>
                          <a:latin typeface="Calibri"/>
                        </a:rPr>
                        <a:t>avg</a:t>
                      </a:r>
                    </a:p>
                  </a:txBody>
                  <a:tcPr>
                    <a:solidFill>
                      <a:srgbClr val="1E2761"/>
                    </a:solidFill>
                  </a:tcPr>
                </a:tc>
                <a:tc>
                  <a:txBody>
                    <a:bodyPr/>
                    <a:lstStyle/>
                    <a:p>
                      <a:pPr algn="ctr"/>
                      <a:r>
                        <a:rPr sz="1000" b="1" i="0">
                          <a:solidFill>
                            <a:srgbClr val="FFFFFF"/>
                          </a:solidFill>
                          <a:latin typeface="Calibri"/>
                        </a:rPr>
                        <a:t>D[3:0]</a:t>
                      </a:r>
                    </a:p>
                  </a:txBody>
                  <a:tcPr>
                    <a:solidFill>
                      <a:srgbClr val="1E2761"/>
                    </a:solidFill>
                  </a:tcPr>
                </a:tc>
                <a:extLst>
                  <a:ext uri="{0D108BD9-81ED-4DB2-BD59-A6C34878D82A}">
                    <a16:rowId xmlns:a16="http://schemas.microsoft.com/office/drawing/2014/main" val="10000"/>
                  </a:ext>
                </a:extLst>
              </a:tr>
              <a:tr h="280035">
                <a:tc>
                  <a:txBody>
                    <a:bodyPr/>
                    <a:lstStyle/>
                    <a:p>
                      <a:pPr algn="ctr"/>
                      <a:r>
                        <a:rPr sz="1000" b="0" i="0">
                          <a:solidFill>
                            <a:srgbClr val="21295C"/>
                          </a:solidFill>
                          <a:latin typeface="Consolas"/>
                        </a:rPr>
                        <a:t>000</a:t>
                      </a:r>
                    </a:p>
                  </a:txBody>
                  <a:tcPr>
                    <a:solidFill>
                      <a:srgbClr val="FFFFFF"/>
                    </a:solidFill>
                  </a:tcPr>
                </a:tc>
                <a:tc>
                  <a:txBody>
                    <a:bodyPr/>
                    <a:lstStyle/>
                    <a:p>
                      <a:pPr algn="ctr"/>
                      <a:r>
                        <a:rPr sz="1000" b="0" i="0">
                          <a:solidFill>
                            <a:srgbClr val="21295C"/>
                          </a:solidFill>
                          <a:latin typeface="Consolas"/>
                        </a:rPr>
                        <a:t>000</a:t>
                      </a:r>
                    </a:p>
                  </a:txBody>
                  <a:tcPr>
                    <a:solidFill>
                      <a:srgbClr val="FFFFFF"/>
                    </a:solidFill>
                  </a:tcPr>
                </a:tc>
                <a:tc>
                  <a:txBody>
                    <a:bodyPr/>
                    <a:lstStyle/>
                    <a:p>
                      <a:pPr algn="ctr"/>
                      <a:r>
                        <a:rPr sz="1000" b="0" i="0">
                          <a:solidFill>
                            <a:srgbClr val="21295C"/>
                          </a:solidFill>
                          <a:latin typeface="Consolas"/>
                        </a:rPr>
                        <a:t>0</a:t>
                      </a:r>
                    </a:p>
                  </a:txBody>
                  <a:tcPr>
                    <a:solidFill>
                      <a:srgbClr val="FFFFFF"/>
                    </a:solidFill>
                  </a:tcPr>
                </a:tc>
                <a:tc>
                  <a:txBody>
                    <a:bodyPr/>
                    <a:lstStyle/>
                    <a:p>
                      <a:pPr algn="ctr"/>
                      <a:r>
                        <a:rPr sz="1000" b="0" i="0">
                          <a:solidFill>
                            <a:srgbClr val="21295C"/>
                          </a:solidFill>
                          <a:latin typeface="Consolas"/>
                        </a:rPr>
                        <a:t>0</a:t>
                      </a:r>
                    </a:p>
                  </a:txBody>
                  <a:tcPr>
                    <a:solidFill>
                      <a:srgbClr val="FFFFFF"/>
                    </a:solidFill>
                  </a:tcPr>
                </a:tc>
                <a:tc>
                  <a:txBody>
                    <a:bodyPr/>
                    <a:lstStyle/>
                    <a:p>
                      <a:pPr algn="ctr"/>
                      <a:r>
                        <a:rPr sz="1000" b="0" i="0">
                          <a:solidFill>
                            <a:srgbClr val="21295C"/>
                          </a:solidFill>
                          <a:latin typeface="Consolas"/>
                        </a:rPr>
                        <a:t>0000</a:t>
                      </a:r>
                    </a:p>
                  </a:txBody>
                  <a:tcPr>
                    <a:solidFill>
                      <a:srgbClr val="FFFFFF"/>
                    </a:solidFill>
                  </a:tcPr>
                </a:tc>
                <a:extLst>
                  <a:ext uri="{0D108BD9-81ED-4DB2-BD59-A6C34878D82A}">
                    <a16:rowId xmlns:a16="http://schemas.microsoft.com/office/drawing/2014/main" val="10001"/>
                  </a:ext>
                </a:extLst>
              </a:tr>
              <a:tr h="280035">
                <a:tc>
                  <a:txBody>
                    <a:bodyPr/>
                    <a:lstStyle/>
                    <a:p>
                      <a:pPr algn="ctr"/>
                      <a:r>
                        <a:rPr sz="1000" b="0" i="0">
                          <a:solidFill>
                            <a:srgbClr val="21295C"/>
                          </a:solidFill>
                          <a:latin typeface="Consolas"/>
                        </a:rPr>
                        <a:t>001</a:t>
                      </a:r>
                    </a:p>
                  </a:txBody>
                  <a:tcPr>
                    <a:solidFill>
                      <a:srgbClr val="F2F4FA"/>
                    </a:solidFill>
                  </a:tcPr>
                </a:tc>
                <a:tc>
                  <a:txBody>
                    <a:bodyPr/>
                    <a:lstStyle/>
                    <a:p>
                      <a:pPr algn="ctr"/>
                      <a:r>
                        <a:rPr sz="1000" b="0" i="0">
                          <a:solidFill>
                            <a:srgbClr val="21295C"/>
                          </a:solidFill>
                          <a:latin typeface="Consolas"/>
                        </a:rPr>
                        <a:t>011</a:t>
                      </a:r>
                    </a:p>
                  </a:txBody>
                  <a:tcPr>
                    <a:solidFill>
                      <a:srgbClr val="F2F4FA"/>
                    </a:solidFill>
                  </a:tcPr>
                </a:tc>
                <a:tc>
                  <a:txBody>
                    <a:bodyPr/>
                    <a:lstStyle/>
                    <a:p>
                      <a:pPr algn="ctr"/>
                      <a:r>
                        <a:rPr sz="1000" b="0" i="0">
                          <a:solidFill>
                            <a:srgbClr val="21295C"/>
                          </a:solidFill>
                          <a:latin typeface="Consolas"/>
                        </a:rPr>
                        <a:t>4</a:t>
                      </a:r>
                    </a:p>
                  </a:txBody>
                  <a:tcPr>
                    <a:solidFill>
                      <a:srgbClr val="F2F4FA"/>
                    </a:solidFill>
                  </a:tcPr>
                </a:tc>
                <a:tc>
                  <a:txBody>
                    <a:bodyPr/>
                    <a:lstStyle/>
                    <a:p>
                      <a:pPr algn="ctr"/>
                      <a:r>
                        <a:rPr sz="1000" b="0" i="0">
                          <a:solidFill>
                            <a:srgbClr val="21295C"/>
                          </a:solidFill>
                          <a:latin typeface="Consolas"/>
                        </a:rPr>
                        <a:t>2</a:t>
                      </a:r>
                    </a:p>
                  </a:txBody>
                  <a:tcPr>
                    <a:solidFill>
                      <a:srgbClr val="F2F4FA"/>
                    </a:solidFill>
                  </a:tcPr>
                </a:tc>
                <a:tc>
                  <a:txBody>
                    <a:bodyPr/>
                    <a:lstStyle/>
                    <a:p>
                      <a:pPr algn="ctr"/>
                      <a:r>
                        <a:rPr sz="1000" b="0" i="0">
                          <a:solidFill>
                            <a:srgbClr val="21295C"/>
                          </a:solidFill>
                          <a:latin typeface="Consolas"/>
                        </a:rPr>
                        <a:t>0010</a:t>
                      </a:r>
                    </a:p>
                  </a:txBody>
                  <a:tcPr>
                    <a:solidFill>
                      <a:srgbClr val="F2F4FA"/>
                    </a:solidFill>
                  </a:tcPr>
                </a:tc>
                <a:extLst>
                  <a:ext uri="{0D108BD9-81ED-4DB2-BD59-A6C34878D82A}">
                    <a16:rowId xmlns:a16="http://schemas.microsoft.com/office/drawing/2014/main" val="10002"/>
                  </a:ext>
                </a:extLst>
              </a:tr>
              <a:tr h="280035">
                <a:tc>
                  <a:txBody>
                    <a:bodyPr/>
                    <a:lstStyle/>
                    <a:p>
                      <a:pPr algn="ctr"/>
                      <a:r>
                        <a:rPr sz="1000" b="0" i="0">
                          <a:solidFill>
                            <a:srgbClr val="21295C"/>
                          </a:solidFill>
                          <a:latin typeface="Consolas"/>
                        </a:rPr>
                        <a:t>010</a:t>
                      </a:r>
                    </a:p>
                  </a:txBody>
                  <a:tcPr>
                    <a:solidFill>
                      <a:srgbClr val="FFFFFF"/>
                    </a:solidFill>
                  </a:tcPr>
                </a:tc>
                <a:tc>
                  <a:txBody>
                    <a:bodyPr/>
                    <a:lstStyle/>
                    <a:p>
                      <a:pPr algn="ctr"/>
                      <a:r>
                        <a:rPr sz="1000" b="0" i="0">
                          <a:solidFill>
                            <a:srgbClr val="21295C"/>
                          </a:solidFill>
                          <a:latin typeface="Consolas"/>
                        </a:rPr>
                        <a:t>100</a:t>
                      </a:r>
                    </a:p>
                  </a:txBody>
                  <a:tcPr>
                    <a:solidFill>
                      <a:srgbClr val="FFFFFF"/>
                    </a:solidFill>
                  </a:tcPr>
                </a:tc>
                <a:tc>
                  <a:txBody>
                    <a:bodyPr/>
                    <a:lstStyle/>
                    <a:p>
                      <a:pPr algn="ctr"/>
                      <a:r>
                        <a:rPr sz="1000" b="0" i="0">
                          <a:solidFill>
                            <a:srgbClr val="21295C"/>
                          </a:solidFill>
                          <a:latin typeface="Consolas"/>
                        </a:rPr>
                        <a:t>6</a:t>
                      </a:r>
                    </a:p>
                  </a:txBody>
                  <a:tcPr>
                    <a:solidFill>
                      <a:srgbClr val="FFFFFF"/>
                    </a:solidFill>
                  </a:tcPr>
                </a:tc>
                <a:tc>
                  <a:txBody>
                    <a:bodyPr/>
                    <a:lstStyle/>
                    <a:p>
                      <a:pPr algn="ctr"/>
                      <a:r>
                        <a:rPr sz="1000" b="0" i="0">
                          <a:solidFill>
                            <a:srgbClr val="21295C"/>
                          </a:solidFill>
                          <a:latin typeface="Consolas"/>
                        </a:rPr>
                        <a:t>3</a:t>
                      </a:r>
                    </a:p>
                  </a:txBody>
                  <a:tcPr>
                    <a:solidFill>
                      <a:srgbClr val="FFFFFF"/>
                    </a:solidFill>
                  </a:tcPr>
                </a:tc>
                <a:tc>
                  <a:txBody>
                    <a:bodyPr/>
                    <a:lstStyle/>
                    <a:p>
                      <a:pPr algn="ctr"/>
                      <a:r>
                        <a:rPr sz="1000" b="0" i="0">
                          <a:solidFill>
                            <a:srgbClr val="21295C"/>
                          </a:solidFill>
                          <a:latin typeface="Consolas"/>
                        </a:rPr>
                        <a:t>0011</a:t>
                      </a:r>
                    </a:p>
                  </a:txBody>
                  <a:tcPr>
                    <a:solidFill>
                      <a:srgbClr val="FFFFFF"/>
                    </a:solidFill>
                  </a:tcPr>
                </a:tc>
                <a:extLst>
                  <a:ext uri="{0D108BD9-81ED-4DB2-BD59-A6C34878D82A}">
                    <a16:rowId xmlns:a16="http://schemas.microsoft.com/office/drawing/2014/main" val="10003"/>
                  </a:ext>
                </a:extLst>
              </a:tr>
              <a:tr h="280035">
                <a:tc>
                  <a:txBody>
                    <a:bodyPr/>
                    <a:lstStyle/>
                    <a:p>
                      <a:pPr algn="ctr"/>
                      <a:r>
                        <a:rPr sz="1000" b="0" i="0">
                          <a:solidFill>
                            <a:srgbClr val="21295C"/>
                          </a:solidFill>
                          <a:latin typeface="Consolas"/>
                        </a:rPr>
                        <a:t>011</a:t>
                      </a:r>
                    </a:p>
                  </a:txBody>
                  <a:tcPr>
                    <a:solidFill>
                      <a:srgbClr val="F2F4FA"/>
                    </a:solidFill>
                  </a:tcPr>
                </a:tc>
                <a:tc>
                  <a:txBody>
                    <a:bodyPr/>
                    <a:lstStyle/>
                    <a:p>
                      <a:pPr algn="ctr"/>
                      <a:r>
                        <a:rPr sz="1000" b="0" i="0">
                          <a:solidFill>
                            <a:srgbClr val="21295C"/>
                          </a:solidFill>
                          <a:latin typeface="Consolas"/>
                        </a:rPr>
                        <a:t>011</a:t>
                      </a:r>
                    </a:p>
                  </a:txBody>
                  <a:tcPr>
                    <a:solidFill>
                      <a:srgbClr val="F2F4FA"/>
                    </a:solidFill>
                  </a:tcPr>
                </a:tc>
                <a:tc>
                  <a:txBody>
                    <a:bodyPr/>
                    <a:lstStyle/>
                    <a:p>
                      <a:pPr algn="ctr"/>
                      <a:r>
                        <a:rPr sz="1000" b="0" i="0">
                          <a:solidFill>
                            <a:srgbClr val="21295C"/>
                          </a:solidFill>
                          <a:latin typeface="Consolas"/>
                        </a:rPr>
                        <a:t>6</a:t>
                      </a:r>
                    </a:p>
                  </a:txBody>
                  <a:tcPr>
                    <a:solidFill>
                      <a:srgbClr val="F2F4FA"/>
                    </a:solidFill>
                  </a:tcPr>
                </a:tc>
                <a:tc>
                  <a:txBody>
                    <a:bodyPr/>
                    <a:lstStyle/>
                    <a:p>
                      <a:pPr algn="ctr"/>
                      <a:r>
                        <a:rPr sz="1000" b="0" i="0">
                          <a:solidFill>
                            <a:srgbClr val="21295C"/>
                          </a:solidFill>
                          <a:latin typeface="Consolas"/>
                        </a:rPr>
                        <a:t>3</a:t>
                      </a:r>
                    </a:p>
                  </a:txBody>
                  <a:tcPr>
                    <a:solidFill>
                      <a:srgbClr val="F2F4FA"/>
                    </a:solidFill>
                  </a:tcPr>
                </a:tc>
                <a:tc>
                  <a:txBody>
                    <a:bodyPr/>
                    <a:lstStyle/>
                    <a:p>
                      <a:pPr algn="ctr"/>
                      <a:r>
                        <a:rPr sz="1000" b="0" i="0">
                          <a:solidFill>
                            <a:srgbClr val="21295C"/>
                          </a:solidFill>
                          <a:latin typeface="Consolas"/>
                        </a:rPr>
                        <a:t>0011</a:t>
                      </a:r>
                    </a:p>
                  </a:txBody>
                  <a:tcPr>
                    <a:solidFill>
                      <a:srgbClr val="F2F4FA"/>
                    </a:solidFill>
                  </a:tcPr>
                </a:tc>
                <a:extLst>
                  <a:ext uri="{0D108BD9-81ED-4DB2-BD59-A6C34878D82A}">
                    <a16:rowId xmlns:a16="http://schemas.microsoft.com/office/drawing/2014/main" val="10004"/>
                  </a:ext>
                </a:extLst>
              </a:tr>
              <a:tr h="280035">
                <a:tc>
                  <a:txBody>
                    <a:bodyPr/>
                    <a:lstStyle/>
                    <a:p>
                      <a:pPr algn="ctr"/>
                      <a:r>
                        <a:rPr sz="1000" b="0" i="0">
                          <a:solidFill>
                            <a:srgbClr val="21295C"/>
                          </a:solidFill>
                          <a:latin typeface="Consolas"/>
                        </a:rPr>
                        <a:t>100</a:t>
                      </a:r>
                    </a:p>
                  </a:txBody>
                  <a:tcPr>
                    <a:solidFill>
                      <a:srgbClr val="FFFFFF"/>
                    </a:solidFill>
                  </a:tcPr>
                </a:tc>
                <a:tc>
                  <a:txBody>
                    <a:bodyPr/>
                    <a:lstStyle/>
                    <a:p>
                      <a:pPr algn="ctr"/>
                      <a:r>
                        <a:rPr sz="1000" b="0" i="0">
                          <a:solidFill>
                            <a:srgbClr val="21295C"/>
                          </a:solidFill>
                          <a:latin typeface="Consolas"/>
                        </a:rPr>
                        <a:t>101</a:t>
                      </a:r>
                    </a:p>
                  </a:txBody>
                  <a:tcPr>
                    <a:solidFill>
                      <a:srgbClr val="FFFFFF"/>
                    </a:solidFill>
                  </a:tcPr>
                </a:tc>
                <a:tc>
                  <a:txBody>
                    <a:bodyPr/>
                    <a:lstStyle/>
                    <a:p>
                      <a:pPr algn="ctr"/>
                      <a:r>
                        <a:rPr sz="1000" b="0" i="0">
                          <a:solidFill>
                            <a:srgbClr val="21295C"/>
                          </a:solidFill>
                          <a:latin typeface="Consolas"/>
                        </a:rPr>
                        <a:t>9</a:t>
                      </a:r>
                    </a:p>
                  </a:txBody>
                  <a:tcPr>
                    <a:solidFill>
                      <a:srgbClr val="FFFFFF"/>
                    </a:solidFill>
                  </a:tcPr>
                </a:tc>
                <a:tc>
                  <a:txBody>
                    <a:bodyPr/>
                    <a:lstStyle/>
                    <a:p>
                      <a:pPr algn="ctr"/>
                      <a:r>
                        <a:rPr sz="1000" b="0" i="0">
                          <a:solidFill>
                            <a:srgbClr val="21295C"/>
                          </a:solidFill>
                          <a:latin typeface="Consolas"/>
                        </a:rPr>
                        <a:t>4</a:t>
                      </a:r>
                    </a:p>
                  </a:txBody>
                  <a:tcPr>
                    <a:solidFill>
                      <a:srgbClr val="FFFFFF"/>
                    </a:solidFill>
                  </a:tcPr>
                </a:tc>
                <a:tc>
                  <a:txBody>
                    <a:bodyPr/>
                    <a:lstStyle/>
                    <a:p>
                      <a:pPr algn="ctr"/>
                      <a:r>
                        <a:rPr sz="1000" b="0" i="0">
                          <a:solidFill>
                            <a:srgbClr val="21295C"/>
                          </a:solidFill>
                          <a:latin typeface="Consolas"/>
                        </a:rPr>
                        <a:t>0100</a:t>
                      </a:r>
                    </a:p>
                  </a:txBody>
                  <a:tcPr>
                    <a:solidFill>
                      <a:srgbClr val="FFFFFF"/>
                    </a:solidFill>
                  </a:tcPr>
                </a:tc>
                <a:extLst>
                  <a:ext uri="{0D108BD9-81ED-4DB2-BD59-A6C34878D82A}">
                    <a16:rowId xmlns:a16="http://schemas.microsoft.com/office/drawing/2014/main" val="10005"/>
                  </a:ext>
                </a:extLst>
              </a:tr>
              <a:tr h="280035">
                <a:tc>
                  <a:txBody>
                    <a:bodyPr/>
                    <a:lstStyle/>
                    <a:p>
                      <a:pPr algn="ctr"/>
                      <a:r>
                        <a:rPr sz="1000" b="0" i="0">
                          <a:solidFill>
                            <a:srgbClr val="21295C"/>
                          </a:solidFill>
                          <a:latin typeface="Consolas"/>
                        </a:rPr>
                        <a:t>110</a:t>
                      </a:r>
                    </a:p>
                  </a:txBody>
                  <a:tcPr>
                    <a:solidFill>
                      <a:srgbClr val="F2F4FA"/>
                    </a:solidFill>
                  </a:tcPr>
                </a:tc>
                <a:tc>
                  <a:txBody>
                    <a:bodyPr/>
                    <a:lstStyle/>
                    <a:p>
                      <a:pPr algn="ctr"/>
                      <a:r>
                        <a:rPr sz="1000" b="0" i="0">
                          <a:solidFill>
                            <a:srgbClr val="21295C"/>
                          </a:solidFill>
                          <a:latin typeface="Consolas"/>
                        </a:rPr>
                        <a:t>110</a:t>
                      </a:r>
                    </a:p>
                  </a:txBody>
                  <a:tcPr>
                    <a:solidFill>
                      <a:srgbClr val="F2F4FA"/>
                    </a:solidFill>
                  </a:tcPr>
                </a:tc>
                <a:tc>
                  <a:txBody>
                    <a:bodyPr/>
                    <a:lstStyle/>
                    <a:p>
                      <a:pPr algn="ctr"/>
                      <a:r>
                        <a:rPr sz="1000" b="0" i="0">
                          <a:solidFill>
                            <a:srgbClr val="21295C"/>
                          </a:solidFill>
                          <a:latin typeface="Consolas"/>
                        </a:rPr>
                        <a:t>12</a:t>
                      </a:r>
                    </a:p>
                  </a:txBody>
                  <a:tcPr>
                    <a:solidFill>
                      <a:srgbClr val="F2F4FA"/>
                    </a:solidFill>
                  </a:tcPr>
                </a:tc>
                <a:tc>
                  <a:txBody>
                    <a:bodyPr/>
                    <a:lstStyle/>
                    <a:p>
                      <a:pPr algn="ctr"/>
                      <a:r>
                        <a:rPr sz="1000" b="0" i="0">
                          <a:solidFill>
                            <a:srgbClr val="21295C"/>
                          </a:solidFill>
                          <a:latin typeface="Consolas"/>
                        </a:rPr>
                        <a:t>6</a:t>
                      </a:r>
                    </a:p>
                  </a:txBody>
                  <a:tcPr>
                    <a:solidFill>
                      <a:srgbClr val="F2F4FA"/>
                    </a:solidFill>
                  </a:tcPr>
                </a:tc>
                <a:tc>
                  <a:txBody>
                    <a:bodyPr/>
                    <a:lstStyle/>
                    <a:p>
                      <a:pPr algn="ctr"/>
                      <a:r>
                        <a:rPr sz="1000" b="0" i="0">
                          <a:solidFill>
                            <a:srgbClr val="21295C"/>
                          </a:solidFill>
                          <a:latin typeface="Consolas"/>
                        </a:rPr>
                        <a:t>0110</a:t>
                      </a:r>
                    </a:p>
                  </a:txBody>
                  <a:tcPr>
                    <a:solidFill>
                      <a:srgbClr val="F2F4FA"/>
                    </a:solidFill>
                  </a:tcPr>
                </a:tc>
                <a:extLst>
                  <a:ext uri="{0D108BD9-81ED-4DB2-BD59-A6C34878D82A}">
                    <a16:rowId xmlns:a16="http://schemas.microsoft.com/office/drawing/2014/main" val="10006"/>
                  </a:ext>
                </a:extLst>
              </a:tr>
              <a:tr h="280035">
                <a:tc>
                  <a:txBody>
                    <a:bodyPr/>
                    <a:lstStyle/>
                    <a:p>
                      <a:pPr algn="ctr"/>
                      <a:r>
                        <a:rPr sz="1000" b="0" i="0">
                          <a:solidFill>
                            <a:srgbClr val="21295C"/>
                          </a:solidFill>
                          <a:latin typeface="Consolas"/>
                        </a:rPr>
                        <a:t>111</a:t>
                      </a:r>
                    </a:p>
                  </a:txBody>
                  <a:tcPr>
                    <a:solidFill>
                      <a:srgbClr val="FFFFFF"/>
                    </a:solidFill>
                  </a:tcPr>
                </a:tc>
                <a:tc>
                  <a:txBody>
                    <a:bodyPr/>
                    <a:lstStyle/>
                    <a:p>
                      <a:pPr algn="ctr"/>
                      <a:r>
                        <a:rPr sz="1000" b="0" i="0">
                          <a:solidFill>
                            <a:srgbClr val="21295C"/>
                          </a:solidFill>
                          <a:latin typeface="Consolas"/>
                        </a:rPr>
                        <a:t>111</a:t>
                      </a:r>
                    </a:p>
                  </a:txBody>
                  <a:tcPr>
                    <a:solidFill>
                      <a:srgbClr val="FFFFFF"/>
                    </a:solidFill>
                  </a:tcPr>
                </a:tc>
                <a:tc>
                  <a:txBody>
                    <a:bodyPr/>
                    <a:lstStyle/>
                    <a:p>
                      <a:pPr algn="ctr"/>
                      <a:r>
                        <a:rPr sz="1000" b="0" i="0">
                          <a:solidFill>
                            <a:srgbClr val="21295C"/>
                          </a:solidFill>
                          <a:latin typeface="Consolas"/>
                        </a:rPr>
                        <a:t>14</a:t>
                      </a:r>
                    </a:p>
                  </a:txBody>
                  <a:tcPr>
                    <a:solidFill>
                      <a:srgbClr val="FFFFFF"/>
                    </a:solidFill>
                  </a:tcPr>
                </a:tc>
                <a:tc>
                  <a:txBody>
                    <a:bodyPr/>
                    <a:lstStyle/>
                    <a:p>
                      <a:pPr algn="ctr"/>
                      <a:r>
                        <a:rPr sz="1000" b="0" i="0">
                          <a:solidFill>
                            <a:srgbClr val="21295C"/>
                          </a:solidFill>
                          <a:latin typeface="Consolas"/>
                        </a:rPr>
                        <a:t>7</a:t>
                      </a:r>
                    </a:p>
                  </a:txBody>
                  <a:tcPr>
                    <a:solidFill>
                      <a:srgbClr val="FFFFFF"/>
                    </a:solidFill>
                  </a:tcPr>
                </a:tc>
                <a:tc>
                  <a:txBody>
                    <a:bodyPr/>
                    <a:lstStyle/>
                    <a:p>
                      <a:pPr algn="ctr"/>
                      <a:r>
                        <a:rPr sz="1000" b="0" i="0">
                          <a:solidFill>
                            <a:srgbClr val="21295C"/>
                          </a:solidFill>
                          <a:latin typeface="Consolas"/>
                        </a:rPr>
                        <a:t>0111</a:t>
                      </a:r>
                    </a:p>
                  </a:txBody>
                  <a:tcPr>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3017520" y="1371600"/>
            <a:ext cx="5852160" cy="256032"/>
          </a:xfrm>
          <a:prstGeom prst="rect">
            <a:avLst/>
          </a:prstGeom>
          <a:noFill/>
        </p:spPr>
        <p:txBody>
          <a:bodyPr wrap="square" lIns="36576" tIns="18288" rIns="36576" bIns="18288">
            <a:spAutoFit/>
          </a:bodyPr>
          <a:lstStyle/>
          <a:p>
            <a:r>
              <a:rPr sz="1100" b="1" i="0">
                <a:solidFill>
                  <a:srgbClr val="1E2761"/>
                </a:solidFill>
                <a:latin typeface="Calibri"/>
              </a:rPr>
              <a:t>Chapter 4 building block — 3-bit ripple-carry adder</a:t>
            </a:r>
          </a:p>
        </p:txBody>
      </p:sp>
      <p:sp>
        <p:nvSpPr>
          <p:cNvPr id="7" name="Rectangle 6"/>
          <p:cNvSpPr/>
          <p:nvPr/>
        </p:nvSpPr>
        <p:spPr>
          <a:xfrm>
            <a:off x="3520439" y="1737360"/>
            <a:ext cx="2011680" cy="1005840"/>
          </a:xfrm>
          <a:prstGeom prst="rect">
            <a:avLst/>
          </a:prstGeom>
          <a:solidFill>
            <a:srgbClr val="E8F1FF"/>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1E2761"/>
                </a:solidFill>
              </a:rPr>
              <a:t>3-bit Adder
(3 full-adders chained)</a:t>
            </a:r>
          </a:p>
        </p:txBody>
      </p:sp>
      <p:sp>
        <p:nvSpPr>
          <p:cNvPr id="8" name="TextBox 7"/>
          <p:cNvSpPr txBox="1"/>
          <p:nvPr/>
        </p:nvSpPr>
        <p:spPr>
          <a:xfrm>
            <a:off x="3063239" y="1920240"/>
            <a:ext cx="411480" cy="274320"/>
          </a:xfrm>
          <a:prstGeom prst="rect">
            <a:avLst/>
          </a:prstGeom>
          <a:noFill/>
        </p:spPr>
        <p:txBody>
          <a:bodyPr wrap="square" lIns="36576" tIns="18288" rIns="36576" bIns="18288">
            <a:spAutoFit/>
          </a:bodyPr>
          <a:lstStyle/>
          <a:p>
            <a:pPr algn="r"/>
            <a:r>
              <a:rPr sz="1200" b="1" i="0">
                <a:solidFill>
                  <a:srgbClr val="21295C"/>
                </a:solidFill>
                <a:latin typeface="Consolas"/>
              </a:rPr>
              <a:t>G</a:t>
            </a:r>
          </a:p>
        </p:txBody>
      </p:sp>
      <p:sp>
        <p:nvSpPr>
          <p:cNvPr id="9" name="TextBox 8"/>
          <p:cNvSpPr txBox="1"/>
          <p:nvPr/>
        </p:nvSpPr>
        <p:spPr>
          <a:xfrm>
            <a:off x="3063239" y="2304288"/>
            <a:ext cx="411480" cy="274320"/>
          </a:xfrm>
          <a:prstGeom prst="rect">
            <a:avLst/>
          </a:prstGeom>
          <a:noFill/>
        </p:spPr>
        <p:txBody>
          <a:bodyPr wrap="square" lIns="36576" tIns="18288" rIns="36576" bIns="18288">
            <a:spAutoFit/>
          </a:bodyPr>
          <a:lstStyle/>
          <a:p>
            <a:pPr algn="r"/>
            <a:r>
              <a:rPr sz="1200" b="1" i="0">
                <a:solidFill>
                  <a:srgbClr val="21295C"/>
                </a:solidFill>
                <a:latin typeface="Consolas"/>
              </a:rPr>
              <a:t>Y</a:t>
            </a:r>
          </a:p>
        </p:txBody>
      </p:sp>
      <p:sp>
        <p:nvSpPr>
          <p:cNvPr id="10" name="TextBox 9"/>
          <p:cNvSpPr txBox="1"/>
          <p:nvPr/>
        </p:nvSpPr>
        <p:spPr>
          <a:xfrm>
            <a:off x="5577840" y="2103120"/>
            <a:ext cx="1371600" cy="274320"/>
          </a:xfrm>
          <a:prstGeom prst="rect">
            <a:avLst/>
          </a:prstGeom>
          <a:noFill/>
        </p:spPr>
        <p:txBody>
          <a:bodyPr wrap="square" lIns="36576" tIns="18288" rIns="36576" bIns="18288">
            <a:spAutoFit/>
          </a:bodyPr>
          <a:lstStyle/>
          <a:p>
            <a:r>
              <a:rPr sz="1050" b="1" i="0">
                <a:solidFill>
                  <a:srgbClr val="21295C"/>
                </a:solidFill>
                <a:latin typeface="Consolas"/>
              </a:rPr>
              <a:t>sum[3:0]</a:t>
            </a:r>
          </a:p>
        </p:txBody>
      </p:sp>
      <p:sp>
        <p:nvSpPr>
          <p:cNvPr id="11" name="TextBox 10"/>
          <p:cNvSpPr txBox="1"/>
          <p:nvPr/>
        </p:nvSpPr>
        <p:spPr>
          <a:xfrm>
            <a:off x="3017520" y="2880360"/>
            <a:ext cx="5852160" cy="256032"/>
          </a:xfrm>
          <a:prstGeom prst="rect">
            <a:avLst/>
          </a:prstGeom>
          <a:noFill/>
        </p:spPr>
        <p:txBody>
          <a:bodyPr wrap="square" lIns="36576" tIns="18288" rIns="36576" bIns="18288">
            <a:spAutoFit/>
          </a:bodyPr>
          <a:lstStyle/>
          <a:p>
            <a:r>
              <a:rPr sz="1100" b="1" i="0">
                <a:solidFill>
                  <a:srgbClr val="1E2761"/>
                </a:solidFill>
                <a:latin typeface="Calibri"/>
              </a:rPr>
              <a:t>Right-shift by 1 (drops LSB) — pure wire reroute, no logic</a:t>
            </a:r>
          </a:p>
        </p:txBody>
      </p:sp>
      <p:graphicFrame>
        <p:nvGraphicFramePr>
          <p:cNvPr id="12" name="Table 11"/>
          <p:cNvGraphicFramePr>
            <a:graphicFrameLocks noGrp="1"/>
          </p:cNvGraphicFramePr>
          <p:nvPr>
            <p:extLst>
              <p:ext uri="{D42A27DB-BD31-4B8C-83A1-F6EECF244321}">
                <p14:modId xmlns:p14="http://schemas.microsoft.com/office/powerpoint/2010/main" val="3892756625"/>
              </p:ext>
            </p:extLst>
          </p:nvPr>
        </p:nvGraphicFramePr>
        <p:xfrm>
          <a:off x="3074707" y="3089148"/>
          <a:ext cx="4114800" cy="1328928"/>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365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256032">
                <a:tc>
                  <a:txBody>
                    <a:bodyPr/>
                    <a:lstStyle/>
                    <a:p>
                      <a:pPr algn="ctr"/>
                      <a:r>
                        <a:rPr sz="1000" b="1" i="0">
                          <a:solidFill>
                            <a:srgbClr val="1E2761"/>
                          </a:solidFill>
                          <a:latin typeface="Calibri"/>
                        </a:rPr>
                        <a:t>sum[3]</a:t>
                      </a:r>
                    </a:p>
                  </a:txBody>
                  <a:tcPr>
                    <a:solidFill>
                      <a:srgbClr val="E8EAF0"/>
                    </a:solidFill>
                  </a:tcPr>
                </a:tc>
                <a:tc>
                  <a:txBody>
                    <a:bodyPr/>
                    <a:lstStyle/>
                    <a:p>
                      <a:pPr algn="ctr"/>
                      <a:r>
                        <a:rPr sz="1000" b="1" i="0">
                          <a:solidFill>
                            <a:srgbClr val="1E2761"/>
                          </a:solidFill>
                          <a:latin typeface="Calibri"/>
                        </a:rPr>
                        <a:t>→</a:t>
                      </a:r>
                    </a:p>
                  </a:txBody>
                  <a:tcPr>
                    <a:solidFill>
                      <a:srgbClr val="E8EAF0"/>
                    </a:solidFill>
                  </a:tcPr>
                </a:tc>
                <a:tc>
                  <a:txBody>
                    <a:bodyPr/>
                    <a:lstStyle/>
                    <a:p>
                      <a:pPr algn="ctr"/>
                      <a:r>
                        <a:rPr sz="1000" b="1" i="0">
                          <a:solidFill>
                            <a:srgbClr val="1E2761"/>
                          </a:solidFill>
                          <a:latin typeface="Calibri"/>
                        </a:rPr>
                        <a:t>D[2]</a:t>
                      </a:r>
                    </a:p>
                  </a:txBody>
                  <a:tcPr>
                    <a:solidFill>
                      <a:srgbClr val="E8EAF0"/>
                    </a:solidFill>
                  </a:tcPr>
                </a:tc>
                <a:extLst>
                  <a:ext uri="{0D108BD9-81ED-4DB2-BD59-A6C34878D82A}">
                    <a16:rowId xmlns:a16="http://schemas.microsoft.com/office/drawing/2014/main" val="10000"/>
                  </a:ext>
                </a:extLst>
              </a:tr>
              <a:tr h="256032">
                <a:tc>
                  <a:txBody>
                    <a:bodyPr/>
                    <a:lstStyle/>
                    <a:p>
                      <a:pPr algn="ctr"/>
                      <a:r>
                        <a:rPr sz="1000" b="0" i="0">
                          <a:solidFill>
                            <a:srgbClr val="21295C"/>
                          </a:solidFill>
                          <a:latin typeface="Consolas"/>
                        </a:rPr>
                        <a:t>sum[2]</a:t>
                      </a:r>
                    </a:p>
                  </a:txBody>
                  <a:tcPr>
                    <a:solidFill>
                      <a:srgbClr val="FFFFFF"/>
                    </a:solidFill>
                  </a:tcPr>
                </a:tc>
                <a:tc>
                  <a:txBody>
                    <a:bodyPr/>
                    <a:lstStyle/>
                    <a:p>
                      <a:pPr algn="ctr"/>
                      <a:r>
                        <a:rPr sz="1000" b="0" i="0">
                          <a:solidFill>
                            <a:srgbClr val="21295C"/>
                          </a:solidFill>
                          <a:latin typeface="Calibri"/>
                        </a:rPr>
                        <a:t>→</a:t>
                      </a:r>
                    </a:p>
                  </a:txBody>
                  <a:tcPr>
                    <a:solidFill>
                      <a:srgbClr val="FFFFFF"/>
                    </a:solidFill>
                  </a:tcPr>
                </a:tc>
                <a:tc>
                  <a:txBody>
                    <a:bodyPr/>
                    <a:lstStyle/>
                    <a:p>
                      <a:pPr algn="ctr"/>
                      <a:r>
                        <a:rPr sz="1000" b="0" i="0">
                          <a:solidFill>
                            <a:srgbClr val="21295C"/>
                          </a:solidFill>
                          <a:latin typeface="Consolas"/>
                        </a:rPr>
                        <a:t>D[1]</a:t>
                      </a:r>
                    </a:p>
                  </a:txBody>
                  <a:tcPr>
                    <a:solidFill>
                      <a:srgbClr val="FFFFFF"/>
                    </a:solidFill>
                  </a:tcPr>
                </a:tc>
                <a:extLst>
                  <a:ext uri="{0D108BD9-81ED-4DB2-BD59-A6C34878D82A}">
                    <a16:rowId xmlns:a16="http://schemas.microsoft.com/office/drawing/2014/main" val="10001"/>
                  </a:ext>
                </a:extLst>
              </a:tr>
              <a:tr h="256032">
                <a:tc>
                  <a:txBody>
                    <a:bodyPr/>
                    <a:lstStyle/>
                    <a:p>
                      <a:pPr algn="ctr"/>
                      <a:r>
                        <a:rPr sz="1000" b="0" i="0">
                          <a:solidFill>
                            <a:srgbClr val="21295C"/>
                          </a:solidFill>
                          <a:latin typeface="Consolas"/>
                        </a:rPr>
                        <a:t>sum[1]</a:t>
                      </a:r>
                    </a:p>
                  </a:txBody>
                  <a:tcPr>
                    <a:solidFill>
                      <a:srgbClr val="FFFFFF"/>
                    </a:solidFill>
                  </a:tcPr>
                </a:tc>
                <a:tc>
                  <a:txBody>
                    <a:bodyPr/>
                    <a:lstStyle/>
                    <a:p>
                      <a:pPr algn="ctr"/>
                      <a:r>
                        <a:rPr sz="1000" b="0" i="0">
                          <a:solidFill>
                            <a:srgbClr val="21295C"/>
                          </a:solidFill>
                          <a:latin typeface="Calibri"/>
                        </a:rPr>
                        <a:t>→</a:t>
                      </a:r>
                    </a:p>
                  </a:txBody>
                  <a:tcPr>
                    <a:solidFill>
                      <a:srgbClr val="FFFFFF"/>
                    </a:solidFill>
                  </a:tcPr>
                </a:tc>
                <a:tc>
                  <a:txBody>
                    <a:bodyPr/>
                    <a:lstStyle/>
                    <a:p>
                      <a:pPr algn="ctr"/>
                      <a:r>
                        <a:rPr sz="1000" b="0" i="0">
                          <a:solidFill>
                            <a:srgbClr val="21295C"/>
                          </a:solidFill>
                          <a:latin typeface="Consolas"/>
                        </a:rPr>
                        <a:t>D[0]</a:t>
                      </a:r>
                    </a:p>
                  </a:txBody>
                  <a:tcPr>
                    <a:solidFill>
                      <a:srgbClr val="FFFFFF"/>
                    </a:solidFill>
                  </a:tcPr>
                </a:tc>
                <a:extLst>
                  <a:ext uri="{0D108BD9-81ED-4DB2-BD59-A6C34878D82A}">
                    <a16:rowId xmlns:a16="http://schemas.microsoft.com/office/drawing/2014/main" val="10002"/>
                  </a:ext>
                </a:extLst>
              </a:tr>
              <a:tr h="256032">
                <a:tc>
                  <a:txBody>
                    <a:bodyPr/>
                    <a:lstStyle/>
                    <a:p>
                      <a:pPr algn="ctr"/>
                      <a:r>
                        <a:rPr sz="1000" b="0" i="0">
                          <a:solidFill>
                            <a:srgbClr val="21295C"/>
                          </a:solidFill>
                          <a:latin typeface="Consolas"/>
                        </a:rPr>
                        <a:t>(sum[0])</a:t>
                      </a:r>
                    </a:p>
                  </a:txBody>
                  <a:tcPr>
                    <a:solidFill>
                      <a:srgbClr val="FFFFFF"/>
                    </a:solidFill>
                  </a:tcPr>
                </a:tc>
                <a:tc>
                  <a:txBody>
                    <a:bodyPr/>
                    <a:lstStyle/>
                    <a:p>
                      <a:pPr algn="ctr"/>
                      <a:r>
                        <a:rPr sz="1000" b="0" i="0">
                          <a:solidFill>
                            <a:srgbClr val="21295C"/>
                          </a:solidFill>
                          <a:latin typeface="Calibri"/>
                        </a:rPr>
                        <a:t>→</a:t>
                      </a:r>
                    </a:p>
                  </a:txBody>
                  <a:tcPr>
                    <a:solidFill>
                      <a:srgbClr val="FFFFFF"/>
                    </a:solidFill>
                  </a:tcPr>
                </a:tc>
                <a:tc>
                  <a:txBody>
                    <a:bodyPr/>
                    <a:lstStyle/>
                    <a:p>
                      <a:pPr algn="ctr"/>
                      <a:r>
                        <a:rPr sz="1000" b="0" i="0">
                          <a:solidFill>
                            <a:srgbClr val="21295C"/>
                          </a:solidFill>
                          <a:latin typeface="Consolas"/>
                        </a:rPr>
                        <a:t>discarded</a:t>
                      </a:r>
                    </a:p>
                  </a:txBody>
                  <a:tcPr>
                    <a:solidFill>
                      <a:srgbClr val="FFFFFF"/>
                    </a:solidFill>
                  </a:tcPr>
                </a:tc>
                <a:extLst>
                  <a:ext uri="{0D108BD9-81ED-4DB2-BD59-A6C34878D82A}">
                    <a16:rowId xmlns:a16="http://schemas.microsoft.com/office/drawing/2014/main" val="10003"/>
                  </a:ext>
                </a:extLst>
              </a:tr>
              <a:tr h="256032">
                <a:tc>
                  <a:txBody>
                    <a:bodyPr/>
                    <a:lstStyle/>
                    <a:p>
                      <a:pPr algn="ctr"/>
                      <a:endParaRPr/>
                    </a:p>
                  </a:txBody>
                  <a:tcPr>
                    <a:solidFill>
                      <a:srgbClr val="FFFFFF"/>
                    </a:solidFill>
                  </a:tcPr>
                </a:tc>
                <a:tc>
                  <a:txBody>
                    <a:bodyPr/>
                    <a:lstStyle/>
                    <a:p>
                      <a:pPr algn="ctr"/>
                      <a:endParaRPr/>
                    </a:p>
                  </a:txBody>
                  <a:tcPr>
                    <a:solidFill>
                      <a:srgbClr val="FFFFFF"/>
                    </a:solidFill>
                  </a:tcPr>
                </a:tc>
                <a:tc>
                  <a:txBody>
                    <a:bodyPr/>
                    <a:lstStyle/>
                    <a:p>
                      <a:pPr algn="ctr"/>
                      <a:r>
                        <a:rPr sz="1000" b="0" i="0" dirty="0">
                          <a:solidFill>
                            <a:srgbClr val="21295C"/>
                          </a:solidFill>
                          <a:latin typeface="Consolas"/>
                        </a:rPr>
                        <a:t>D[3] = 0,  OF = 0</a:t>
                      </a:r>
                    </a:p>
                  </a:txBody>
                  <a:tcPr>
                    <a:solidFill>
                      <a:srgbClr val="FFFFFF"/>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274320" y="4370832"/>
            <a:ext cx="8595360" cy="457200"/>
          </a:xfrm>
          <a:prstGeom prst="rect">
            <a:avLst/>
          </a:prstGeom>
          <a:solidFill>
            <a:srgbClr val="F2F4FA"/>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4407408"/>
            <a:ext cx="8412480" cy="384048"/>
          </a:xfrm>
          <a:prstGeom prst="rect">
            <a:avLst/>
          </a:prstGeom>
          <a:noFill/>
        </p:spPr>
        <p:txBody>
          <a:bodyPr wrap="square" lIns="36576" tIns="18288" rIns="36576" bIns="18288" anchor="ctr">
            <a:spAutoFit/>
          </a:bodyPr>
          <a:lstStyle/>
          <a:p>
            <a:pPr algn="l"/>
            <a:r>
              <a:rPr sz="1150" b="1" i="0">
                <a:solidFill>
                  <a:srgbClr val="1E2761"/>
                </a:solidFill>
                <a:latin typeface="Consolas"/>
              </a:rPr>
              <a:t>sum[3:0] = G + Y    D[3:0] = { 0, sum[3], sum[2], sum[1] }    OF = 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10896" y="365760"/>
            <a:ext cx="8522208" cy="576072"/>
          </a:xfrm>
        </p:spPr>
        <p:txBody>
          <a:bodyPr wrap="square" lIns="18288" tIns="18288" rIns="18288" bIns="18288" anchor="ctr"/>
          <a:lstStyle/>
          <a:p>
            <a:pPr algn="l"/>
            <a:r>
              <a:rPr sz="2200" b="1">
                <a:solidFill>
                  <a:srgbClr val="1E2761"/>
                </a:solidFill>
                <a:latin typeface="Calibri"/>
              </a:rPr>
              <a:t>Difference (S = 110)</a:t>
            </a:r>
          </a:p>
        </p:txBody>
      </p:sp>
      <p:sp>
        <p:nvSpPr>
          <p:cNvPr id="4" name="TextBox 3"/>
          <p:cNvSpPr txBox="1"/>
          <p:nvPr/>
        </p:nvSpPr>
        <p:spPr>
          <a:xfrm>
            <a:off x="310896" y="1005840"/>
            <a:ext cx="8522208" cy="256032"/>
          </a:xfrm>
          <a:prstGeom prst="rect">
            <a:avLst/>
          </a:prstGeom>
          <a:noFill/>
        </p:spPr>
        <p:txBody>
          <a:bodyPr wrap="square" lIns="36576" tIns="18288" rIns="36576" bIns="18288">
            <a:spAutoFit/>
          </a:bodyPr>
          <a:lstStyle/>
          <a:p>
            <a:r>
              <a:rPr sz="1050" b="0" i="1">
                <a:solidFill>
                  <a:srgbClr val="5C5C5C"/>
                </a:solidFill>
                <a:latin typeface="Calibri"/>
              </a:rPr>
              <a:t>Computes G − Y. When Y &gt; G, OF activates and display shows overflow.</a:t>
            </a:r>
          </a:p>
        </p:txBody>
      </p:sp>
      <p:graphicFrame>
        <p:nvGraphicFramePr>
          <p:cNvPr id="5" name="Table 4"/>
          <p:cNvGraphicFramePr>
            <a:graphicFrameLocks noGrp="1"/>
          </p:cNvGraphicFramePr>
          <p:nvPr/>
        </p:nvGraphicFramePr>
        <p:xfrm>
          <a:off x="274320" y="1371600"/>
          <a:ext cx="2606040" cy="2381250"/>
        </p:xfrm>
        <a:graphic>
          <a:graphicData uri="http://schemas.openxmlformats.org/drawingml/2006/table">
            <a:tbl>
              <a:tblPr firstRow="1" bandRow="1">
                <a:tableStyleId>{5C22544A-7EE6-4342-B048-85BDC9FD1C3A}</a:tableStyleId>
              </a:tblPr>
              <a:tblGrid>
                <a:gridCol w="566928">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66928">
                  <a:extLst>
                    <a:ext uri="{9D8B030D-6E8A-4147-A177-3AD203B41FA5}">
                      <a16:colId xmlns:a16="http://schemas.microsoft.com/office/drawing/2014/main" val="20003"/>
                    </a:ext>
                  </a:extLst>
                </a:gridCol>
                <a:gridCol w="310896">
                  <a:extLst>
                    <a:ext uri="{9D8B030D-6E8A-4147-A177-3AD203B41FA5}">
                      <a16:colId xmlns:a16="http://schemas.microsoft.com/office/drawing/2014/main" val="20004"/>
                    </a:ext>
                  </a:extLst>
                </a:gridCol>
              </a:tblGrid>
              <a:tr h="285750">
                <a:tc>
                  <a:txBody>
                    <a:bodyPr/>
                    <a:lstStyle/>
                    <a:p>
                      <a:pPr algn="ctr"/>
                      <a:r>
                        <a:rPr sz="950" b="1" i="0">
                          <a:solidFill>
                            <a:srgbClr val="FFFFFF"/>
                          </a:solidFill>
                          <a:latin typeface="Calibri"/>
                        </a:rPr>
                        <a:t>G[2:0]</a:t>
                      </a:r>
                    </a:p>
                  </a:txBody>
                  <a:tcPr>
                    <a:solidFill>
                      <a:srgbClr val="1E2761"/>
                    </a:solidFill>
                  </a:tcPr>
                </a:tc>
                <a:tc>
                  <a:txBody>
                    <a:bodyPr/>
                    <a:lstStyle/>
                    <a:p>
                      <a:pPr algn="ctr"/>
                      <a:r>
                        <a:rPr sz="950" b="1" i="0">
                          <a:solidFill>
                            <a:srgbClr val="FFFFFF"/>
                          </a:solidFill>
                          <a:latin typeface="Calibri"/>
                        </a:rPr>
                        <a:t>Y[2:0]</a:t>
                      </a:r>
                    </a:p>
                  </a:txBody>
                  <a:tcPr>
                    <a:solidFill>
                      <a:srgbClr val="1E2761"/>
                    </a:solidFill>
                  </a:tcPr>
                </a:tc>
                <a:tc>
                  <a:txBody>
                    <a:bodyPr/>
                    <a:lstStyle/>
                    <a:p>
                      <a:pPr algn="ctr"/>
                      <a:r>
                        <a:rPr sz="950" b="1" i="0">
                          <a:solidFill>
                            <a:srgbClr val="FFFFFF"/>
                          </a:solidFill>
                          <a:latin typeface="Calibri"/>
                        </a:rPr>
                        <a:t>Case</a:t>
                      </a:r>
                    </a:p>
                  </a:txBody>
                  <a:tcPr>
                    <a:solidFill>
                      <a:srgbClr val="1E2761"/>
                    </a:solidFill>
                  </a:tcPr>
                </a:tc>
                <a:tc>
                  <a:txBody>
                    <a:bodyPr/>
                    <a:lstStyle/>
                    <a:p>
                      <a:pPr algn="ctr"/>
                      <a:r>
                        <a:rPr sz="950" b="1" i="0">
                          <a:solidFill>
                            <a:srgbClr val="FFFFFF"/>
                          </a:solidFill>
                          <a:latin typeface="Calibri"/>
                        </a:rPr>
                        <a:t>D[3:0]</a:t>
                      </a:r>
                    </a:p>
                  </a:txBody>
                  <a:tcPr>
                    <a:solidFill>
                      <a:srgbClr val="1E2761"/>
                    </a:solidFill>
                  </a:tcPr>
                </a:tc>
                <a:tc>
                  <a:txBody>
                    <a:bodyPr/>
                    <a:lstStyle/>
                    <a:p>
                      <a:pPr algn="ctr"/>
                      <a:r>
                        <a:rPr sz="950" b="1" i="0">
                          <a:solidFill>
                            <a:srgbClr val="FFFFFF"/>
                          </a:solidFill>
                          <a:latin typeface="Calibri"/>
                        </a:rPr>
                        <a:t>OF</a:t>
                      </a:r>
                    </a:p>
                  </a:txBody>
                  <a:tcPr>
                    <a:solidFill>
                      <a:srgbClr val="1E2761"/>
                    </a:solidFill>
                  </a:tcPr>
                </a:tc>
                <a:extLst>
                  <a:ext uri="{0D108BD9-81ED-4DB2-BD59-A6C34878D82A}">
                    <a16:rowId xmlns:a16="http://schemas.microsoft.com/office/drawing/2014/main" val="10000"/>
                  </a:ext>
                </a:extLst>
              </a:tr>
              <a:tr h="285750">
                <a:tc>
                  <a:txBody>
                    <a:bodyPr/>
                    <a:lstStyle/>
                    <a:p>
                      <a:pPr algn="ctr"/>
                      <a:r>
                        <a:rPr sz="950" b="0" i="0">
                          <a:solidFill>
                            <a:srgbClr val="21295C"/>
                          </a:solidFill>
                          <a:latin typeface="Consolas"/>
                        </a:rPr>
                        <a:t>111</a:t>
                      </a:r>
                    </a:p>
                  </a:txBody>
                  <a:tcPr>
                    <a:solidFill>
                      <a:srgbClr val="FFFFFF"/>
                    </a:solidFill>
                  </a:tcPr>
                </a:tc>
                <a:tc>
                  <a:txBody>
                    <a:bodyPr/>
                    <a:lstStyle/>
                    <a:p>
                      <a:pPr algn="ctr"/>
                      <a:r>
                        <a:rPr sz="950" b="0" i="0">
                          <a:solidFill>
                            <a:srgbClr val="21295C"/>
                          </a:solidFill>
                          <a:latin typeface="Consolas"/>
                        </a:rPr>
                        <a:t>011</a:t>
                      </a:r>
                    </a:p>
                  </a:txBody>
                  <a:tcPr>
                    <a:solidFill>
                      <a:srgbClr val="FFFFFF"/>
                    </a:solidFill>
                  </a:tcPr>
                </a:tc>
                <a:tc>
                  <a:txBody>
                    <a:bodyPr/>
                    <a:lstStyle/>
                    <a:p>
                      <a:pPr algn="ctr"/>
                      <a:r>
                        <a:rPr sz="950" b="0" i="0">
                          <a:solidFill>
                            <a:srgbClr val="21295C"/>
                          </a:solidFill>
                          <a:latin typeface="Calibri"/>
                        </a:rPr>
                        <a:t>G &gt; Y</a:t>
                      </a:r>
                    </a:p>
                  </a:txBody>
                  <a:tcPr>
                    <a:solidFill>
                      <a:srgbClr val="FFFFFF"/>
                    </a:solidFill>
                  </a:tcPr>
                </a:tc>
                <a:tc>
                  <a:txBody>
                    <a:bodyPr/>
                    <a:lstStyle/>
                    <a:p>
                      <a:pPr algn="ctr"/>
                      <a:r>
                        <a:rPr sz="950" b="0" i="0">
                          <a:solidFill>
                            <a:srgbClr val="21295C"/>
                          </a:solidFill>
                          <a:latin typeface="Consolas"/>
                        </a:rPr>
                        <a:t>0100</a:t>
                      </a:r>
                    </a:p>
                  </a:txBody>
                  <a:tcPr>
                    <a:solidFill>
                      <a:srgbClr val="FFFFFF"/>
                    </a:solidFill>
                  </a:tcPr>
                </a:tc>
                <a:tc>
                  <a:txBody>
                    <a:bodyPr/>
                    <a:lstStyle/>
                    <a:p>
                      <a:pPr algn="ctr"/>
                      <a:r>
                        <a:rPr sz="950" b="0" i="0">
                          <a:solidFill>
                            <a:srgbClr val="21295C"/>
                          </a:solidFill>
                          <a:latin typeface="Consolas"/>
                        </a:rPr>
                        <a:t>0</a:t>
                      </a:r>
                    </a:p>
                  </a:txBody>
                  <a:tcPr>
                    <a:solidFill>
                      <a:srgbClr val="FFFFFF"/>
                    </a:solidFill>
                  </a:tcPr>
                </a:tc>
                <a:extLst>
                  <a:ext uri="{0D108BD9-81ED-4DB2-BD59-A6C34878D82A}">
                    <a16:rowId xmlns:a16="http://schemas.microsoft.com/office/drawing/2014/main" val="10001"/>
                  </a:ext>
                </a:extLst>
              </a:tr>
              <a:tr h="285750">
                <a:tc>
                  <a:txBody>
                    <a:bodyPr/>
                    <a:lstStyle/>
                    <a:p>
                      <a:pPr algn="ctr"/>
                      <a:r>
                        <a:rPr sz="950" b="0" i="0">
                          <a:solidFill>
                            <a:srgbClr val="21295C"/>
                          </a:solidFill>
                          <a:latin typeface="Consolas"/>
                        </a:rPr>
                        <a:t>101</a:t>
                      </a:r>
                    </a:p>
                  </a:txBody>
                  <a:tcPr>
                    <a:solidFill>
                      <a:srgbClr val="F2F4FA"/>
                    </a:solidFill>
                  </a:tcPr>
                </a:tc>
                <a:tc>
                  <a:txBody>
                    <a:bodyPr/>
                    <a:lstStyle/>
                    <a:p>
                      <a:pPr algn="ctr"/>
                      <a:r>
                        <a:rPr sz="950" b="0" i="0">
                          <a:solidFill>
                            <a:srgbClr val="21295C"/>
                          </a:solidFill>
                          <a:latin typeface="Consolas"/>
                        </a:rPr>
                        <a:t>010</a:t>
                      </a:r>
                    </a:p>
                  </a:txBody>
                  <a:tcPr>
                    <a:solidFill>
                      <a:srgbClr val="F2F4FA"/>
                    </a:solidFill>
                  </a:tcPr>
                </a:tc>
                <a:tc>
                  <a:txBody>
                    <a:bodyPr/>
                    <a:lstStyle/>
                    <a:p>
                      <a:pPr algn="ctr"/>
                      <a:r>
                        <a:rPr sz="950" b="0" i="0">
                          <a:solidFill>
                            <a:srgbClr val="21295C"/>
                          </a:solidFill>
                          <a:latin typeface="Calibri"/>
                        </a:rPr>
                        <a:t>G &gt; Y</a:t>
                      </a:r>
                    </a:p>
                  </a:txBody>
                  <a:tcPr>
                    <a:solidFill>
                      <a:srgbClr val="F2F4FA"/>
                    </a:solidFill>
                  </a:tcPr>
                </a:tc>
                <a:tc>
                  <a:txBody>
                    <a:bodyPr/>
                    <a:lstStyle/>
                    <a:p>
                      <a:pPr algn="ctr"/>
                      <a:r>
                        <a:rPr sz="950" b="0" i="0">
                          <a:solidFill>
                            <a:srgbClr val="21295C"/>
                          </a:solidFill>
                          <a:latin typeface="Consolas"/>
                        </a:rPr>
                        <a:t>0011</a:t>
                      </a:r>
                    </a:p>
                  </a:txBody>
                  <a:tcPr>
                    <a:solidFill>
                      <a:srgbClr val="F2F4FA"/>
                    </a:solidFill>
                  </a:tcPr>
                </a:tc>
                <a:tc>
                  <a:txBody>
                    <a:bodyPr/>
                    <a:lstStyle/>
                    <a:p>
                      <a:pPr algn="ctr"/>
                      <a:r>
                        <a:rPr sz="950" b="0" i="0">
                          <a:solidFill>
                            <a:srgbClr val="21295C"/>
                          </a:solidFill>
                          <a:latin typeface="Consolas"/>
                        </a:rPr>
                        <a:t>0</a:t>
                      </a:r>
                    </a:p>
                  </a:txBody>
                  <a:tcPr>
                    <a:solidFill>
                      <a:srgbClr val="F2F4FA"/>
                    </a:solidFill>
                  </a:tcPr>
                </a:tc>
                <a:extLst>
                  <a:ext uri="{0D108BD9-81ED-4DB2-BD59-A6C34878D82A}">
                    <a16:rowId xmlns:a16="http://schemas.microsoft.com/office/drawing/2014/main" val="10002"/>
                  </a:ext>
                </a:extLst>
              </a:tr>
              <a:tr h="285750">
                <a:tc>
                  <a:txBody>
                    <a:bodyPr/>
                    <a:lstStyle/>
                    <a:p>
                      <a:pPr algn="ctr"/>
                      <a:r>
                        <a:rPr sz="950" b="0" i="0">
                          <a:solidFill>
                            <a:srgbClr val="21295C"/>
                          </a:solidFill>
                          <a:latin typeface="Consolas"/>
                        </a:rPr>
                        <a:t>100</a:t>
                      </a:r>
                    </a:p>
                  </a:txBody>
                  <a:tcPr>
                    <a:solidFill>
                      <a:srgbClr val="FFFFFF"/>
                    </a:solidFill>
                  </a:tcPr>
                </a:tc>
                <a:tc>
                  <a:txBody>
                    <a:bodyPr/>
                    <a:lstStyle/>
                    <a:p>
                      <a:pPr algn="ctr"/>
                      <a:r>
                        <a:rPr sz="950" b="0" i="0">
                          <a:solidFill>
                            <a:srgbClr val="21295C"/>
                          </a:solidFill>
                          <a:latin typeface="Consolas"/>
                        </a:rPr>
                        <a:t>100</a:t>
                      </a:r>
                    </a:p>
                  </a:txBody>
                  <a:tcPr>
                    <a:solidFill>
                      <a:srgbClr val="FFFFFF"/>
                    </a:solidFill>
                  </a:tcPr>
                </a:tc>
                <a:tc>
                  <a:txBody>
                    <a:bodyPr/>
                    <a:lstStyle/>
                    <a:p>
                      <a:pPr algn="ctr"/>
                      <a:r>
                        <a:rPr sz="950" b="0" i="0">
                          <a:solidFill>
                            <a:srgbClr val="21295C"/>
                          </a:solidFill>
                          <a:latin typeface="Calibri"/>
                        </a:rPr>
                        <a:t>G = Y</a:t>
                      </a:r>
                    </a:p>
                  </a:txBody>
                  <a:tcPr>
                    <a:solidFill>
                      <a:srgbClr val="FFFFFF"/>
                    </a:solidFill>
                  </a:tcPr>
                </a:tc>
                <a:tc>
                  <a:txBody>
                    <a:bodyPr/>
                    <a:lstStyle/>
                    <a:p>
                      <a:pPr algn="ctr"/>
                      <a:r>
                        <a:rPr sz="950" b="0" i="0">
                          <a:solidFill>
                            <a:srgbClr val="21295C"/>
                          </a:solidFill>
                          <a:latin typeface="Consolas"/>
                        </a:rPr>
                        <a:t>0000</a:t>
                      </a:r>
                    </a:p>
                  </a:txBody>
                  <a:tcPr>
                    <a:solidFill>
                      <a:srgbClr val="FFFFFF"/>
                    </a:solidFill>
                  </a:tcPr>
                </a:tc>
                <a:tc>
                  <a:txBody>
                    <a:bodyPr/>
                    <a:lstStyle/>
                    <a:p>
                      <a:pPr algn="ctr"/>
                      <a:r>
                        <a:rPr sz="950" b="0" i="0">
                          <a:solidFill>
                            <a:srgbClr val="21295C"/>
                          </a:solidFill>
                          <a:latin typeface="Consolas"/>
                        </a:rPr>
                        <a:t>0</a:t>
                      </a:r>
                    </a:p>
                  </a:txBody>
                  <a:tcPr>
                    <a:solidFill>
                      <a:srgbClr val="FFFFFF"/>
                    </a:solidFill>
                  </a:tcPr>
                </a:tc>
                <a:extLst>
                  <a:ext uri="{0D108BD9-81ED-4DB2-BD59-A6C34878D82A}">
                    <a16:rowId xmlns:a16="http://schemas.microsoft.com/office/drawing/2014/main" val="10003"/>
                  </a:ext>
                </a:extLst>
              </a:tr>
              <a:tr h="285750">
                <a:tc>
                  <a:txBody>
                    <a:bodyPr/>
                    <a:lstStyle/>
                    <a:p>
                      <a:pPr algn="ctr"/>
                      <a:r>
                        <a:rPr sz="950" b="0" i="0">
                          <a:solidFill>
                            <a:srgbClr val="21295C"/>
                          </a:solidFill>
                          <a:latin typeface="Consolas"/>
                        </a:rPr>
                        <a:t>010</a:t>
                      </a:r>
                    </a:p>
                  </a:txBody>
                  <a:tcPr>
                    <a:solidFill>
                      <a:srgbClr val="F2F4FA"/>
                    </a:solidFill>
                  </a:tcPr>
                </a:tc>
                <a:tc>
                  <a:txBody>
                    <a:bodyPr/>
                    <a:lstStyle/>
                    <a:p>
                      <a:pPr algn="ctr"/>
                      <a:r>
                        <a:rPr sz="950" b="0" i="0">
                          <a:solidFill>
                            <a:srgbClr val="21295C"/>
                          </a:solidFill>
                          <a:latin typeface="Consolas"/>
                        </a:rPr>
                        <a:t>010</a:t>
                      </a:r>
                    </a:p>
                  </a:txBody>
                  <a:tcPr>
                    <a:solidFill>
                      <a:srgbClr val="F2F4FA"/>
                    </a:solidFill>
                  </a:tcPr>
                </a:tc>
                <a:tc>
                  <a:txBody>
                    <a:bodyPr/>
                    <a:lstStyle/>
                    <a:p>
                      <a:pPr algn="ctr"/>
                      <a:r>
                        <a:rPr sz="950" b="0" i="0">
                          <a:solidFill>
                            <a:srgbClr val="21295C"/>
                          </a:solidFill>
                          <a:latin typeface="Calibri"/>
                        </a:rPr>
                        <a:t>G = Y</a:t>
                      </a:r>
                    </a:p>
                  </a:txBody>
                  <a:tcPr>
                    <a:solidFill>
                      <a:srgbClr val="F2F4FA"/>
                    </a:solidFill>
                  </a:tcPr>
                </a:tc>
                <a:tc>
                  <a:txBody>
                    <a:bodyPr/>
                    <a:lstStyle/>
                    <a:p>
                      <a:pPr algn="ctr"/>
                      <a:r>
                        <a:rPr sz="950" b="0" i="0">
                          <a:solidFill>
                            <a:srgbClr val="21295C"/>
                          </a:solidFill>
                          <a:latin typeface="Consolas"/>
                        </a:rPr>
                        <a:t>0000</a:t>
                      </a:r>
                    </a:p>
                  </a:txBody>
                  <a:tcPr>
                    <a:solidFill>
                      <a:srgbClr val="F2F4FA"/>
                    </a:solidFill>
                  </a:tcPr>
                </a:tc>
                <a:tc>
                  <a:txBody>
                    <a:bodyPr/>
                    <a:lstStyle/>
                    <a:p>
                      <a:pPr algn="ctr"/>
                      <a:r>
                        <a:rPr sz="950" b="0" i="0">
                          <a:solidFill>
                            <a:srgbClr val="21295C"/>
                          </a:solidFill>
                          <a:latin typeface="Consolas"/>
                        </a:rPr>
                        <a:t>0</a:t>
                      </a:r>
                    </a:p>
                  </a:txBody>
                  <a:tcPr>
                    <a:solidFill>
                      <a:srgbClr val="F2F4FA"/>
                    </a:solidFill>
                  </a:tcPr>
                </a:tc>
                <a:extLst>
                  <a:ext uri="{0D108BD9-81ED-4DB2-BD59-A6C34878D82A}">
                    <a16:rowId xmlns:a16="http://schemas.microsoft.com/office/drawing/2014/main" val="10004"/>
                  </a:ext>
                </a:extLst>
              </a:tr>
              <a:tr h="285750">
                <a:tc>
                  <a:txBody>
                    <a:bodyPr/>
                    <a:lstStyle/>
                    <a:p>
                      <a:pPr algn="ctr"/>
                      <a:r>
                        <a:rPr sz="950" b="0" i="0">
                          <a:solidFill>
                            <a:srgbClr val="21295C"/>
                          </a:solidFill>
                          <a:latin typeface="Consolas"/>
                        </a:rPr>
                        <a:t>001</a:t>
                      </a:r>
                    </a:p>
                  </a:txBody>
                  <a:tcPr>
                    <a:solidFill>
                      <a:srgbClr val="FFFFFF"/>
                    </a:solidFill>
                  </a:tcPr>
                </a:tc>
                <a:tc>
                  <a:txBody>
                    <a:bodyPr/>
                    <a:lstStyle/>
                    <a:p>
                      <a:pPr algn="ctr"/>
                      <a:r>
                        <a:rPr sz="950" b="0" i="0">
                          <a:solidFill>
                            <a:srgbClr val="21295C"/>
                          </a:solidFill>
                          <a:latin typeface="Consolas"/>
                        </a:rPr>
                        <a:t>011</a:t>
                      </a:r>
                    </a:p>
                  </a:txBody>
                  <a:tcPr>
                    <a:solidFill>
                      <a:srgbClr val="FFFFFF"/>
                    </a:solidFill>
                  </a:tcPr>
                </a:tc>
                <a:tc>
                  <a:txBody>
                    <a:bodyPr/>
                    <a:lstStyle/>
                    <a:p>
                      <a:pPr algn="ctr"/>
                      <a:r>
                        <a:rPr sz="950" b="0" i="0">
                          <a:solidFill>
                            <a:srgbClr val="21295C"/>
                          </a:solidFill>
                          <a:latin typeface="Calibri"/>
                        </a:rPr>
                        <a:t>Y &gt; G</a:t>
                      </a:r>
                    </a:p>
                  </a:txBody>
                  <a:tcPr>
                    <a:solidFill>
                      <a:srgbClr val="FFFFFF"/>
                    </a:solidFill>
                  </a:tcPr>
                </a:tc>
                <a:tc>
                  <a:txBody>
                    <a:bodyPr/>
                    <a:lstStyle/>
                    <a:p>
                      <a:pPr algn="ctr"/>
                      <a:r>
                        <a:rPr sz="950" b="0" i="0">
                          <a:solidFill>
                            <a:srgbClr val="21295C"/>
                          </a:solidFill>
                          <a:latin typeface="Consolas"/>
                        </a:rPr>
                        <a:t>1100</a:t>
                      </a:r>
                    </a:p>
                  </a:txBody>
                  <a:tcPr>
                    <a:solidFill>
                      <a:srgbClr val="FFFFFF"/>
                    </a:solidFill>
                  </a:tcPr>
                </a:tc>
                <a:tc>
                  <a:txBody>
                    <a:bodyPr/>
                    <a:lstStyle/>
                    <a:p>
                      <a:pPr algn="ctr"/>
                      <a:r>
                        <a:rPr sz="950" b="0" i="0">
                          <a:solidFill>
                            <a:srgbClr val="21295C"/>
                          </a:solidFill>
                          <a:latin typeface="Consolas"/>
                        </a:rPr>
                        <a:t>1</a:t>
                      </a:r>
                    </a:p>
                  </a:txBody>
                  <a:tcPr>
                    <a:solidFill>
                      <a:srgbClr val="FFFFFF"/>
                    </a:solidFill>
                  </a:tcPr>
                </a:tc>
                <a:extLst>
                  <a:ext uri="{0D108BD9-81ED-4DB2-BD59-A6C34878D82A}">
                    <a16:rowId xmlns:a16="http://schemas.microsoft.com/office/drawing/2014/main" val="10005"/>
                  </a:ext>
                </a:extLst>
              </a:tr>
              <a:tr h="285750">
                <a:tc>
                  <a:txBody>
                    <a:bodyPr/>
                    <a:lstStyle/>
                    <a:p>
                      <a:pPr algn="ctr"/>
                      <a:r>
                        <a:rPr sz="950" b="0" i="0">
                          <a:solidFill>
                            <a:srgbClr val="21295C"/>
                          </a:solidFill>
                          <a:latin typeface="Consolas"/>
                        </a:rPr>
                        <a:t>010</a:t>
                      </a:r>
                    </a:p>
                  </a:txBody>
                  <a:tcPr>
                    <a:solidFill>
                      <a:srgbClr val="F2F4FA"/>
                    </a:solidFill>
                  </a:tcPr>
                </a:tc>
                <a:tc>
                  <a:txBody>
                    <a:bodyPr/>
                    <a:lstStyle/>
                    <a:p>
                      <a:pPr algn="ctr"/>
                      <a:r>
                        <a:rPr sz="950" b="0" i="0">
                          <a:solidFill>
                            <a:srgbClr val="21295C"/>
                          </a:solidFill>
                          <a:latin typeface="Consolas"/>
                        </a:rPr>
                        <a:t>110</a:t>
                      </a:r>
                    </a:p>
                  </a:txBody>
                  <a:tcPr>
                    <a:solidFill>
                      <a:srgbClr val="F2F4FA"/>
                    </a:solidFill>
                  </a:tcPr>
                </a:tc>
                <a:tc>
                  <a:txBody>
                    <a:bodyPr/>
                    <a:lstStyle/>
                    <a:p>
                      <a:pPr algn="ctr"/>
                      <a:r>
                        <a:rPr sz="950" b="0" i="0">
                          <a:solidFill>
                            <a:srgbClr val="21295C"/>
                          </a:solidFill>
                          <a:latin typeface="Calibri"/>
                        </a:rPr>
                        <a:t>Y &gt; G</a:t>
                      </a:r>
                    </a:p>
                  </a:txBody>
                  <a:tcPr>
                    <a:solidFill>
                      <a:srgbClr val="F2F4FA"/>
                    </a:solidFill>
                  </a:tcPr>
                </a:tc>
                <a:tc>
                  <a:txBody>
                    <a:bodyPr/>
                    <a:lstStyle/>
                    <a:p>
                      <a:pPr algn="ctr"/>
                      <a:r>
                        <a:rPr sz="950" b="0" i="0">
                          <a:solidFill>
                            <a:srgbClr val="21295C"/>
                          </a:solidFill>
                          <a:latin typeface="Consolas"/>
                        </a:rPr>
                        <a:t>1100</a:t>
                      </a:r>
                    </a:p>
                  </a:txBody>
                  <a:tcPr>
                    <a:solidFill>
                      <a:srgbClr val="F2F4FA"/>
                    </a:solidFill>
                  </a:tcPr>
                </a:tc>
                <a:tc>
                  <a:txBody>
                    <a:bodyPr/>
                    <a:lstStyle/>
                    <a:p>
                      <a:pPr algn="ctr"/>
                      <a:r>
                        <a:rPr sz="950" b="0" i="0">
                          <a:solidFill>
                            <a:srgbClr val="21295C"/>
                          </a:solidFill>
                          <a:latin typeface="Consolas"/>
                        </a:rPr>
                        <a:t>1</a:t>
                      </a:r>
                    </a:p>
                  </a:txBody>
                  <a:tcPr>
                    <a:solidFill>
                      <a:srgbClr val="F2F4FA"/>
                    </a:solidFill>
                  </a:tcPr>
                </a:tc>
                <a:extLst>
                  <a:ext uri="{0D108BD9-81ED-4DB2-BD59-A6C34878D82A}">
                    <a16:rowId xmlns:a16="http://schemas.microsoft.com/office/drawing/2014/main" val="10006"/>
                  </a:ext>
                </a:extLst>
              </a:tr>
              <a:tr h="285750">
                <a:tc>
                  <a:txBody>
                    <a:bodyPr/>
                    <a:lstStyle/>
                    <a:p>
                      <a:pPr algn="ctr"/>
                      <a:r>
                        <a:rPr sz="950" b="0" i="0">
                          <a:solidFill>
                            <a:srgbClr val="21295C"/>
                          </a:solidFill>
                          <a:latin typeface="Consolas"/>
                        </a:rPr>
                        <a:t>000</a:t>
                      </a:r>
                    </a:p>
                  </a:txBody>
                  <a:tcPr>
                    <a:solidFill>
                      <a:srgbClr val="FFFFFF"/>
                    </a:solidFill>
                  </a:tcPr>
                </a:tc>
                <a:tc>
                  <a:txBody>
                    <a:bodyPr/>
                    <a:lstStyle/>
                    <a:p>
                      <a:pPr algn="ctr"/>
                      <a:r>
                        <a:rPr sz="950" b="0" i="0">
                          <a:solidFill>
                            <a:srgbClr val="21295C"/>
                          </a:solidFill>
                          <a:latin typeface="Consolas"/>
                        </a:rPr>
                        <a:t>111</a:t>
                      </a:r>
                    </a:p>
                  </a:txBody>
                  <a:tcPr>
                    <a:solidFill>
                      <a:srgbClr val="FFFFFF"/>
                    </a:solidFill>
                  </a:tcPr>
                </a:tc>
                <a:tc>
                  <a:txBody>
                    <a:bodyPr/>
                    <a:lstStyle/>
                    <a:p>
                      <a:pPr algn="ctr"/>
                      <a:r>
                        <a:rPr sz="950" b="0" i="0">
                          <a:solidFill>
                            <a:srgbClr val="21295C"/>
                          </a:solidFill>
                          <a:latin typeface="Calibri"/>
                        </a:rPr>
                        <a:t>Y &gt; G</a:t>
                      </a:r>
                    </a:p>
                  </a:txBody>
                  <a:tcPr>
                    <a:solidFill>
                      <a:srgbClr val="FFFFFF"/>
                    </a:solidFill>
                  </a:tcPr>
                </a:tc>
                <a:tc>
                  <a:txBody>
                    <a:bodyPr/>
                    <a:lstStyle/>
                    <a:p>
                      <a:pPr algn="ctr"/>
                      <a:r>
                        <a:rPr sz="950" b="0" i="0">
                          <a:solidFill>
                            <a:srgbClr val="21295C"/>
                          </a:solidFill>
                          <a:latin typeface="Consolas"/>
                        </a:rPr>
                        <a:t>1100</a:t>
                      </a:r>
                    </a:p>
                  </a:txBody>
                  <a:tcPr>
                    <a:solidFill>
                      <a:srgbClr val="FFFFFF"/>
                    </a:solidFill>
                  </a:tcPr>
                </a:tc>
                <a:tc>
                  <a:txBody>
                    <a:bodyPr/>
                    <a:lstStyle/>
                    <a:p>
                      <a:pPr algn="ctr"/>
                      <a:r>
                        <a:rPr sz="950" b="0" i="0">
                          <a:solidFill>
                            <a:srgbClr val="21295C"/>
                          </a:solidFill>
                          <a:latin typeface="Consolas"/>
                        </a:rPr>
                        <a:t>1</a:t>
                      </a:r>
                    </a:p>
                  </a:txBody>
                  <a:tcPr>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3017520" y="1371600"/>
            <a:ext cx="5852160" cy="274320"/>
          </a:xfrm>
          <a:prstGeom prst="rect">
            <a:avLst/>
          </a:prstGeom>
          <a:noFill/>
        </p:spPr>
        <p:txBody>
          <a:bodyPr wrap="square" lIns="36576" tIns="18288" rIns="36576" bIns="18288">
            <a:spAutoFit/>
          </a:bodyPr>
          <a:lstStyle/>
          <a:p>
            <a:r>
              <a:rPr sz="1100" b="1" i="0">
                <a:solidFill>
                  <a:srgbClr val="1E2761"/>
                </a:solidFill>
                <a:latin typeface="Calibri"/>
              </a:rPr>
              <a:t>Chapter 4 building blocks — magnitude comparator + 3-bit subtractor</a:t>
            </a:r>
          </a:p>
        </p:txBody>
      </p:sp>
      <p:sp>
        <p:nvSpPr>
          <p:cNvPr id="7" name="Rectangle 6"/>
          <p:cNvSpPr/>
          <p:nvPr/>
        </p:nvSpPr>
        <p:spPr>
          <a:xfrm>
            <a:off x="3108960" y="1691640"/>
            <a:ext cx="2194560" cy="777240"/>
          </a:xfrm>
          <a:prstGeom prst="rect">
            <a:avLst/>
          </a:prstGeom>
          <a:solidFill>
            <a:srgbClr val="E8F1FF"/>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1E2761"/>
                </a:solidFill>
              </a:rPr>
              <a:t>3-bit Magnitude
Comparator</a:t>
            </a:r>
          </a:p>
        </p:txBody>
      </p:sp>
      <p:sp>
        <p:nvSpPr>
          <p:cNvPr id="8" name="TextBox 7"/>
          <p:cNvSpPr txBox="1"/>
          <p:nvPr/>
        </p:nvSpPr>
        <p:spPr>
          <a:xfrm>
            <a:off x="5349240" y="1947672"/>
            <a:ext cx="1463040" cy="274320"/>
          </a:xfrm>
          <a:prstGeom prst="rect">
            <a:avLst/>
          </a:prstGeom>
          <a:noFill/>
        </p:spPr>
        <p:txBody>
          <a:bodyPr wrap="square" lIns="36576" tIns="18288" rIns="36576" bIns="18288">
            <a:spAutoFit/>
          </a:bodyPr>
          <a:lstStyle/>
          <a:p>
            <a:r>
              <a:rPr sz="1000" b="1" i="0">
                <a:solidFill>
                  <a:srgbClr val="C82C2C"/>
                </a:solidFill>
                <a:latin typeface="Consolas"/>
              </a:rPr>
              <a:t>OF = (Y &gt; G)</a:t>
            </a:r>
          </a:p>
        </p:txBody>
      </p:sp>
      <p:sp>
        <p:nvSpPr>
          <p:cNvPr id="9" name="Rectangle 8"/>
          <p:cNvSpPr/>
          <p:nvPr/>
        </p:nvSpPr>
        <p:spPr>
          <a:xfrm>
            <a:off x="3108960" y="2560320"/>
            <a:ext cx="2194560" cy="777240"/>
          </a:xfrm>
          <a:prstGeom prst="rect">
            <a:avLst/>
          </a:prstGeom>
          <a:solidFill>
            <a:srgbClr val="E8F1FF"/>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1E2761"/>
                </a:solidFill>
              </a:rPr>
              <a:t>3-bit Subtractor
(G − Y)</a:t>
            </a:r>
          </a:p>
        </p:txBody>
      </p:sp>
      <p:sp>
        <p:nvSpPr>
          <p:cNvPr id="10" name="TextBox 9"/>
          <p:cNvSpPr txBox="1"/>
          <p:nvPr/>
        </p:nvSpPr>
        <p:spPr>
          <a:xfrm>
            <a:off x="5349240" y="2816352"/>
            <a:ext cx="1463040" cy="274320"/>
          </a:xfrm>
          <a:prstGeom prst="rect">
            <a:avLst/>
          </a:prstGeom>
          <a:noFill/>
        </p:spPr>
        <p:txBody>
          <a:bodyPr wrap="square" lIns="36576" tIns="18288" rIns="36576" bIns="18288">
            <a:spAutoFit/>
          </a:bodyPr>
          <a:lstStyle/>
          <a:p>
            <a:r>
              <a:rPr sz="1000" b="1" i="0">
                <a:solidFill>
                  <a:srgbClr val="21295C"/>
                </a:solidFill>
                <a:latin typeface="Consolas"/>
              </a:rPr>
              <a:t>diff[2:0] = G−Y</a:t>
            </a:r>
          </a:p>
        </p:txBody>
      </p:sp>
      <p:sp>
        <p:nvSpPr>
          <p:cNvPr id="11" name="TextBox 10"/>
          <p:cNvSpPr txBox="1"/>
          <p:nvPr/>
        </p:nvSpPr>
        <p:spPr>
          <a:xfrm>
            <a:off x="3017520" y="3429000"/>
            <a:ext cx="5852160" cy="274320"/>
          </a:xfrm>
          <a:prstGeom prst="rect">
            <a:avLst/>
          </a:prstGeom>
          <a:noFill/>
        </p:spPr>
        <p:txBody>
          <a:bodyPr wrap="square" lIns="36576" tIns="18288" rIns="36576" bIns="18288">
            <a:spAutoFit/>
          </a:bodyPr>
          <a:lstStyle/>
          <a:p>
            <a:r>
              <a:rPr sz="1100" b="1" i="0">
                <a:solidFill>
                  <a:srgbClr val="1E2761"/>
                </a:solidFill>
                <a:latin typeface="Calibri"/>
              </a:rPr>
              <a:t>Output mux on OF flag</a:t>
            </a:r>
          </a:p>
        </p:txBody>
      </p:sp>
      <p:sp>
        <p:nvSpPr>
          <p:cNvPr id="12" name="TextBox 11"/>
          <p:cNvSpPr txBox="1"/>
          <p:nvPr/>
        </p:nvSpPr>
        <p:spPr>
          <a:xfrm>
            <a:off x="3017520" y="3685032"/>
            <a:ext cx="5852160" cy="1005840"/>
          </a:xfrm>
          <a:prstGeom prst="rect">
            <a:avLst/>
          </a:prstGeom>
          <a:noFill/>
        </p:spPr>
        <p:txBody>
          <a:bodyPr wrap="square" lIns="36576" tIns="18288" rIns="36576" bIns="18288">
            <a:spAutoFit/>
          </a:bodyPr>
          <a:lstStyle/>
          <a:p>
            <a:r>
              <a:rPr sz="1050" b="0" i="0" dirty="0">
                <a:solidFill>
                  <a:srgbClr val="21295C"/>
                </a:solidFill>
                <a:latin typeface="Consolas"/>
              </a:rPr>
              <a:t>D[3] = OF                   D[2] = OF + diff[2]</a:t>
            </a:r>
          </a:p>
          <a:p>
            <a:r>
              <a:rPr sz="1050" b="0" i="0" dirty="0">
                <a:solidFill>
                  <a:srgbClr val="21295C"/>
                </a:solidFill>
                <a:latin typeface="Consolas"/>
              </a:rPr>
              <a:t>D[1] = </a:t>
            </a:r>
            <a:r>
              <a:rPr sz="1050" b="0" i="0" dirty="0" err="1">
                <a:solidFill>
                  <a:srgbClr val="21295C"/>
                </a:solidFill>
                <a:latin typeface="Consolas"/>
              </a:rPr>
              <a:t>OF'·diff</a:t>
            </a:r>
            <a:r>
              <a:rPr sz="1050" b="0" i="0" dirty="0">
                <a:solidFill>
                  <a:srgbClr val="21295C"/>
                </a:solidFill>
                <a:latin typeface="Consolas"/>
              </a:rPr>
              <a:t>[1]          D[0] = </a:t>
            </a:r>
            <a:r>
              <a:rPr sz="1050" b="0" i="0" dirty="0" err="1">
                <a:solidFill>
                  <a:srgbClr val="21295C"/>
                </a:solidFill>
                <a:latin typeface="Consolas"/>
              </a:rPr>
              <a:t>OF'·diff</a:t>
            </a:r>
            <a:r>
              <a:rPr sz="1050" b="0" i="0" dirty="0">
                <a:solidFill>
                  <a:srgbClr val="21295C"/>
                </a:solidFill>
                <a:latin typeface="Consolas"/>
              </a:rPr>
              <a:t>[0]</a:t>
            </a:r>
          </a:p>
          <a:p>
            <a:r>
              <a:rPr sz="1000" b="0" i="1" dirty="0">
                <a:solidFill>
                  <a:srgbClr val="5C5C5C"/>
                </a:solidFill>
                <a:latin typeface="Calibri"/>
              </a:rPr>
              <a:t>When OF = 1: D = 1100 (overflow)</a:t>
            </a:r>
          </a:p>
          <a:p>
            <a:r>
              <a:rPr sz="1000" b="0" i="1" dirty="0">
                <a:solidFill>
                  <a:srgbClr val="5C5C5C"/>
                </a:solidFill>
                <a:latin typeface="Calibri"/>
              </a:rPr>
              <a:t>When OF = 0: D = { 0, diff[2:0] }</a:t>
            </a:r>
          </a:p>
        </p:txBody>
      </p:sp>
      <p:sp>
        <p:nvSpPr>
          <p:cNvPr id="13" name="Rectangle 12"/>
          <p:cNvSpPr/>
          <p:nvPr/>
        </p:nvSpPr>
        <p:spPr>
          <a:xfrm>
            <a:off x="274320" y="4370832"/>
            <a:ext cx="8595360" cy="457200"/>
          </a:xfrm>
          <a:prstGeom prst="rect">
            <a:avLst/>
          </a:prstGeom>
          <a:solidFill>
            <a:srgbClr val="F2F4FA"/>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4407408"/>
            <a:ext cx="8412480" cy="384048"/>
          </a:xfrm>
          <a:prstGeom prst="rect">
            <a:avLst/>
          </a:prstGeom>
          <a:noFill/>
        </p:spPr>
        <p:txBody>
          <a:bodyPr wrap="square" lIns="36576" tIns="18288" rIns="36576" bIns="18288" anchor="ctr">
            <a:spAutoFit/>
          </a:bodyPr>
          <a:lstStyle/>
          <a:p>
            <a:pPr algn="l"/>
            <a:r>
              <a:rPr sz="1150" b="1" i="0">
                <a:solidFill>
                  <a:srgbClr val="1E2761"/>
                </a:solidFill>
                <a:latin typeface="Consolas"/>
              </a:rPr>
              <a:t>OF = (Y &gt; G)    diff[2:0] = G − Y    D[3:0] = OF ? 1100 : { 0, diff[2:0]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10896" y="365760"/>
            <a:ext cx="8522208" cy="576072"/>
          </a:xfrm>
        </p:spPr>
        <p:txBody>
          <a:bodyPr wrap="square" lIns="18288" tIns="18288" rIns="18288" bIns="18288" anchor="ctr"/>
          <a:lstStyle/>
          <a:p>
            <a:pPr algn="l"/>
            <a:r>
              <a:rPr sz="2200" b="1">
                <a:solidFill>
                  <a:srgbClr val="1E2761"/>
                </a:solidFill>
                <a:latin typeface="Calibri"/>
              </a:rPr>
              <a:t>System Off (S = 111)</a:t>
            </a:r>
          </a:p>
        </p:txBody>
      </p:sp>
      <p:sp>
        <p:nvSpPr>
          <p:cNvPr id="4" name="TextBox 3"/>
          <p:cNvSpPr txBox="1"/>
          <p:nvPr/>
        </p:nvSpPr>
        <p:spPr>
          <a:xfrm>
            <a:off x="310896" y="1005840"/>
            <a:ext cx="8522208" cy="256032"/>
          </a:xfrm>
          <a:prstGeom prst="rect">
            <a:avLst/>
          </a:prstGeom>
          <a:noFill/>
        </p:spPr>
        <p:txBody>
          <a:bodyPr wrap="square" lIns="36576" tIns="18288" rIns="36576" bIns="18288">
            <a:spAutoFit/>
          </a:bodyPr>
          <a:lstStyle/>
          <a:p>
            <a:r>
              <a:rPr sz="1050" b="0" i="1">
                <a:solidFill>
                  <a:srgbClr val="5C5C5C"/>
                </a:solidFill>
                <a:latin typeface="Calibri"/>
              </a:rPr>
              <a:t>Disables sensors and blanks the display. All outputs are constants, independent of G and Y.</a:t>
            </a:r>
          </a:p>
        </p:txBody>
      </p:sp>
      <p:graphicFrame>
        <p:nvGraphicFramePr>
          <p:cNvPr id="5" name="Table 4"/>
          <p:cNvGraphicFramePr>
            <a:graphicFrameLocks noGrp="1"/>
          </p:cNvGraphicFramePr>
          <p:nvPr/>
        </p:nvGraphicFramePr>
        <p:xfrm>
          <a:off x="274320" y="1371600"/>
          <a:ext cx="2743200" cy="77724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36576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65760">
                <a:tc>
                  <a:txBody>
                    <a:bodyPr/>
                    <a:lstStyle/>
                    <a:p>
                      <a:pPr algn="ctr"/>
                      <a:r>
                        <a:rPr sz="1050" b="1" i="0">
                          <a:solidFill>
                            <a:srgbClr val="FFFFFF"/>
                          </a:solidFill>
                          <a:latin typeface="Calibri"/>
                        </a:rPr>
                        <a:t>Inputs</a:t>
                      </a:r>
                    </a:p>
                  </a:txBody>
                  <a:tcPr>
                    <a:solidFill>
                      <a:srgbClr val="1E2761"/>
                    </a:solidFill>
                  </a:tcPr>
                </a:tc>
                <a:tc>
                  <a:txBody>
                    <a:bodyPr/>
                    <a:lstStyle/>
                    <a:p>
                      <a:pPr algn="ctr"/>
                      <a:r>
                        <a:rPr sz="1050" b="1" i="0">
                          <a:solidFill>
                            <a:srgbClr val="FFFFFF"/>
                          </a:solidFill>
                          <a:latin typeface="Calibri"/>
                        </a:rPr>
                        <a:t>D[3:0]</a:t>
                      </a:r>
                    </a:p>
                  </a:txBody>
                  <a:tcPr>
                    <a:solidFill>
                      <a:srgbClr val="1E2761"/>
                    </a:solidFill>
                  </a:tcPr>
                </a:tc>
                <a:tc>
                  <a:txBody>
                    <a:bodyPr/>
                    <a:lstStyle/>
                    <a:p>
                      <a:pPr algn="ctr"/>
                      <a:r>
                        <a:rPr sz="1050" b="1" i="0">
                          <a:solidFill>
                            <a:srgbClr val="FFFFFF"/>
                          </a:solidFill>
                          <a:latin typeface="Calibri"/>
                        </a:rPr>
                        <a:t>OF</a:t>
                      </a:r>
                    </a:p>
                  </a:txBody>
                  <a:tcPr>
                    <a:solidFill>
                      <a:srgbClr val="1E2761"/>
                    </a:solidFill>
                  </a:tcPr>
                </a:tc>
                <a:tc>
                  <a:txBody>
                    <a:bodyPr/>
                    <a:lstStyle/>
                    <a:p>
                      <a:pPr algn="ctr"/>
                      <a:r>
                        <a:rPr sz="1050" b="1" i="0">
                          <a:solidFill>
                            <a:srgbClr val="FFFFFF"/>
                          </a:solidFill>
                          <a:latin typeface="Calibri"/>
                        </a:rPr>
                        <a:t>7-seg display</a:t>
                      </a:r>
                    </a:p>
                  </a:txBody>
                  <a:tcPr>
                    <a:solidFill>
                      <a:srgbClr val="1E2761"/>
                    </a:solidFill>
                  </a:tcPr>
                </a:tc>
                <a:extLst>
                  <a:ext uri="{0D108BD9-81ED-4DB2-BD59-A6C34878D82A}">
                    <a16:rowId xmlns:a16="http://schemas.microsoft.com/office/drawing/2014/main" val="10000"/>
                  </a:ext>
                </a:extLst>
              </a:tr>
              <a:tr h="365760">
                <a:tc>
                  <a:txBody>
                    <a:bodyPr/>
                    <a:lstStyle/>
                    <a:p>
                      <a:pPr algn="ctr"/>
                      <a:r>
                        <a:rPr sz="1050" b="0" i="0" dirty="0">
                          <a:solidFill>
                            <a:srgbClr val="21295C"/>
                          </a:solidFill>
                          <a:latin typeface="Calibri"/>
                        </a:rPr>
                        <a:t>G, Y don't care</a:t>
                      </a:r>
                    </a:p>
                  </a:txBody>
                  <a:tcPr>
                    <a:solidFill>
                      <a:srgbClr val="FFFFFF"/>
                    </a:solidFill>
                  </a:tcPr>
                </a:tc>
                <a:tc>
                  <a:txBody>
                    <a:bodyPr/>
                    <a:lstStyle/>
                    <a:p>
                      <a:pPr algn="ctr"/>
                      <a:r>
                        <a:rPr sz="1050" b="0" i="0">
                          <a:solidFill>
                            <a:srgbClr val="21295C"/>
                          </a:solidFill>
                          <a:latin typeface="Consolas"/>
                        </a:rPr>
                        <a:t>1011</a:t>
                      </a:r>
                    </a:p>
                  </a:txBody>
                  <a:tcPr>
                    <a:solidFill>
                      <a:srgbClr val="FFFFFF"/>
                    </a:solidFill>
                  </a:tcPr>
                </a:tc>
                <a:tc>
                  <a:txBody>
                    <a:bodyPr/>
                    <a:lstStyle/>
                    <a:p>
                      <a:pPr algn="ctr"/>
                      <a:r>
                        <a:rPr sz="1050" b="0" i="0">
                          <a:solidFill>
                            <a:srgbClr val="21295C"/>
                          </a:solidFill>
                          <a:latin typeface="Consolas"/>
                        </a:rPr>
                        <a:t>0</a:t>
                      </a:r>
                    </a:p>
                  </a:txBody>
                  <a:tcPr>
                    <a:solidFill>
                      <a:srgbClr val="FFFFFF"/>
                    </a:solidFill>
                  </a:tcPr>
                </a:tc>
                <a:tc>
                  <a:txBody>
                    <a:bodyPr/>
                    <a:lstStyle/>
                    <a:p>
                      <a:pPr algn="ctr"/>
                      <a:r>
                        <a:rPr sz="1050" b="0" i="0" dirty="0">
                          <a:solidFill>
                            <a:srgbClr val="21295C"/>
                          </a:solidFill>
                          <a:latin typeface="Calibri"/>
                        </a:rPr>
                        <a:t>blank</a:t>
                      </a:r>
                    </a:p>
                  </a:txBody>
                  <a:tcPr>
                    <a:solidFill>
                      <a:srgbClr val="FFFFFF"/>
                    </a:solidFill>
                  </a:tcPr>
                </a:tc>
                <a:extLst>
                  <a:ext uri="{0D108BD9-81ED-4DB2-BD59-A6C34878D82A}">
                    <a16:rowId xmlns:a16="http://schemas.microsoft.com/office/drawing/2014/main" val="10001"/>
                  </a:ext>
                </a:extLst>
              </a:tr>
            </a:tbl>
          </a:graphicData>
        </a:graphic>
      </p:graphicFrame>
      <p:sp>
        <p:nvSpPr>
          <p:cNvPr id="6" name="TextBox 5"/>
          <p:cNvSpPr txBox="1"/>
          <p:nvPr/>
        </p:nvSpPr>
        <p:spPr>
          <a:xfrm>
            <a:off x="274320" y="2240280"/>
            <a:ext cx="2606040" cy="2103120"/>
          </a:xfrm>
          <a:prstGeom prst="rect">
            <a:avLst/>
          </a:prstGeom>
          <a:noFill/>
        </p:spPr>
        <p:txBody>
          <a:bodyPr wrap="square" lIns="36576" tIns="18288" rIns="36576" bIns="18288">
            <a:spAutoFit/>
          </a:bodyPr>
          <a:lstStyle/>
          <a:p>
            <a:pPr>
              <a:spcAft>
                <a:spcPts val="400"/>
              </a:spcAft>
            </a:pPr>
            <a:r>
              <a:rPr sz="1100" b="1" i="0">
                <a:solidFill>
                  <a:srgbClr val="1E2761"/>
                </a:solidFill>
                <a:latin typeface="Calibri"/>
              </a:rPr>
              <a:t>Why this code</a:t>
            </a:r>
          </a:p>
          <a:p>
            <a:pPr>
              <a:spcAft>
                <a:spcPts val="800"/>
              </a:spcAft>
            </a:pPr>
            <a:r>
              <a:rPr sz="1000" b="0" i="0">
                <a:solidFill>
                  <a:srgbClr val="21295C"/>
                </a:solidFill>
                <a:latin typeface="Calibri"/>
              </a:rPr>
              <a:t>Encoding 1011 is reserved for "blank" in our display map. The 7-segment decoder maps 1011 to all segments off.</a:t>
            </a:r>
          </a:p>
          <a:p>
            <a:pPr>
              <a:spcAft>
                <a:spcPts val="400"/>
              </a:spcAft>
            </a:pPr>
            <a:r>
              <a:rPr sz="1100" b="1" i="0">
                <a:solidFill>
                  <a:srgbClr val="1E2761"/>
                </a:solidFill>
                <a:latin typeface="Calibri"/>
              </a:rPr>
              <a:t>K-maps for constants</a:t>
            </a:r>
          </a:p>
          <a:p>
            <a:r>
              <a:rPr sz="1000" b="0" i="0">
                <a:solidFill>
                  <a:srgbClr val="21295C"/>
                </a:solidFill>
                <a:latin typeface="Calibri"/>
              </a:rPr>
              <a:t>Each output is a constant function of the inputs. The K-map for a constant has all cells filled with the same value. This is the trivial limit of the SOP method — no minterms means output 0; all minterms means output 1.</a:t>
            </a:r>
          </a:p>
        </p:txBody>
      </p:sp>
      <p:sp>
        <p:nvSpPr>
          <p:cNvPr id="7" name="TextBox 6"/>
          <p:cNvSpPr txBox="1"/>
          <p:nvPr/>
        </p:nvSpPr>
        <p:spPr>
          <a:xfrm>
            <a:off x="301752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D[3]</a:t>
            </a:r>
          </a:p>
        </p:txBody>
      </p:sp>
      <p:graphicFrame>
        <p:nvGraphicFramePr>
          <p:cNvPr id="8" name="Table 7"/>
          <p:cNvGraphicFramePr>
            <a:graphicFrameLocks noGrp="1"/>
          </p:cNvGraphicFramePr>
          <p:nvPr/>
        </p:nvGraphicFramePr>
        <p:xfrm>
          <a:off x="301752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2"/>
                  </a:ext>
                </a:extLst>
              </a:tr>
            </a:tbl>
          </a:graphicData>
        </a:graphic>
      </p:graphicFrame>
      <p:sp>
        <p:nvSpPr>
          <p:cNvPr id="9" name="Rounded Rectangle 8"/>
          <p:cNvSpPr/>
          <p:nvPr/>
        </p:nvSpPr>
        <p:spPr>
          <a:xfrm>
            <a:off x="3511296" y="1871321"/>
            <a:ext cx="1170432" cy="621792"/>
          </a:xfrm>
          <a:prstGeom prst="roundRect">
            <a:avLst>
              <a:gd name="adj" fmla="val 45000"/>
            </a:avLst>
          </a:prstGeom>
          <a:noFill/>
          <a:ln w="28575">
            <a:solidFill>
              <a:srgbClr val="C82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1752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D[3] = 1</a:t>
            </a:r>
          </a:p>
        </p:txBody>
      </p:sp>
      <p:sp>
        <p:nvSpPr>
          <p:cNvPr id="11" name="TextBox 10"/>
          <p:cNvSpPr txBox="1"/>
          <p:nvPr/>
        </p:nvSpPr>
        <p:spPr>
          <a:xfrm>
            <a:off x="502920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D[2]</a:t>
            </a:r>
          </a:p>
        </p:txBody>
      </p:sp>
      <p:graphicFrame>
        <p:nvGraphicFramePr>
          <p:cNvPr id="12" name="Table 11"/>
          <p:cNvGraphicFramePr>
            <a:graphicFrameLocks noGrp="1"/>
          </p:cNvGraphicFramePr>
          <p:nvPr/>
        </p:nvGraphicFramePr>
        <p:xfrm>
          <a:off x="502920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2"/>
                  </a:ext>
                </a:extLst>
              </a:tr>
            </a:tbl>
          </a:graphicData>
        </a:graphic>
      </p:graphicFrame>
      <p:sp>
        <p:nvSpPr>
          <p:cNvPr id="13" name="TextBox 12"/>
          <p:cNvSpPr txBox="1"/>
          <p:nvPr/>
        </p:nvSpPr>
        <p:spPr>
          <a:xfrm>
            <a:off x="502920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D[2] = 0</a:t>
            </a:r>
          </a:p>
        </p:txBody>
      </p:sp>
      <p:sp>
        <p:nvSpPr>
          <p:cNvPr id="14" name="TextBox 13"/>
          <p:cNvSpPr txBox="1"/>
          <p:nvPr/>
        </p:nvSpPr>
        <p:spPr>
          <a:xfrm>
            <a:off x="7040880" y="1371600"/>
            <a:ext cx="1719072" cy="182880"/>
          </a:xfrm>
          <a:prstGeom prst="rect">
            <a:avLst/>
          </a:prstGeom>
          <a:noFill/>
        </p:spPr>
        <p:txBody>
          <a:bodyPr wrap="none" lIns="0" tIns="0" rIns="0" bIns="0">
            <a:spAutoFit/>
          </a:bodyPr>
          <a:lstStyle/>
          <a:p>
            <a:pPr algn="l"/>
            <a:r>
              <a:rPr sz="1000" b="1">
                <a:solidFill>
                  <a:srgbClr val="1E2761"/>
                </a:solidFill>
                <a:latin typeface="Calibri"/>
              </a:rPr>
              <a:t>K-map for D[1]</a:t>
            </a:r>
          </a:p>
        </p:txBody>
      </p:sp>
      <p:graphicFrame>
        <p:nvGraphicFramePr>
          <p:cNvPr id="15" name="Table 14"/>
          <p:cNvGraphicFramePr>
            <a:graphicFrameLocks noGrp="1"/>
          </p:cNvGraphicFramePr>
          <p:nvPr/>
        </p:nvGraphicFramePr>
        <p:xfrm>
          <a:off x="7040880" y="157276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2"/>
                  </a:ext>
                </a:extLst>
              </a:tr>
            </a:tbl>
          </a:graphicData>
        </a:graphic>
      </p:graphicFrame>
      <p:sp>
        <p:nvSpPr>
          <p:cNvPr id="16" name="Rounded Rectangle 15"/>
          <p:cNvSpPr/>
          <p:nvPr/>
        </p:nvSpPr>
        <p:spPr>
          <a:xfrm>
            <a:off x="7534655" y="1886712"/>
            <a:ext cx="1170432" cy="621792"/>
          </a:xfrm>
          <a:prstGeom prst="roundRect">
            <a:avLst>
              <a:gd name="adj" fmla="val 45000"/>
            </a:avLst>
          </a:prstGeom>
          <a:noFill/>
          <a:ln w="2857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40880" y="244144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D[1] = 1</a:t>
            </a:r>
          </a:p>
        </p:txBody>
      </p:sp>
      <p:sp>
        <p:nvSpPr>
          <p:cNvPr id="18" name="TextBox 17"/>
          <p:cNvSpPr txBox="1"/>
          <p:nvPr/>
        </p:nvSpPr>
        <p:spPr>
          <a:xfrm>
            <a:off x="3017520" y="2926080"/>
            <a:ext cx="1719072" cy="182880"/>
          </a:xfrm>
          <a:prstGeom prst="rect">
            <a:avLst/>
          </a:prstGeom>
          <a:noFill/>
        </p:spPr>
        <p:txBody>
          <a:bodyPr wrap="none" lIns="0" tIns="0" rIns="0" bIns="0">
            <a:spAutoFit/>
          </a:bodyPr>
          <a:lstStyle/>
          <a:p>
            <a:pPr algn="l"/>
            <a:r>
              <a:rPr sz="1000" b="1">
                <a:solidFill>
                  <a:srgbClr val="1E2761"/>
                </a:solidFill>
                <a:latin typeface="Calibri"/>
              </a:rPr>
              <a:t>K-map for D[0]</a:t>
            </a:r>
          </a:p>
        </p:txBody>
      </p:sp>
      <p:graphicFrame>
        <p:nvGraphicFramePr>
          <p:cNvPr id="19" name="Table 18"/>
          <p:cNvGraphicFramePr>
            <a:graphicFrameLocks noGrp="1"/>
          </p:cNvGraphicFramePr>
          <p:nvPr/>
        </p:nvGraphicFramePr>
        <p:xfrm>
          <a:off x="3017520" y="312724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a:solidFill>
                            <a:srgbClr val="21295C"/>
                          </a:solidFill>
                          <a:latin typeface="Consolas"/>
                        </a:rPr>
                        <a:t>1</a:t>
                      </a:r>
                    </a:p>
                  </a:txBody>
                  <a:tcPr>
                    <a:solidFill>
                      <a:srgbClr val="E8F1FF"/>
                    </a:solidFill>
                  </a:tcPr>
                </a:tc>
                <a:tc>
                  <a:txBody>
                    <a:bodyPr/>
                    <a:lstStyle/>
                    <a:p>
                      <a:pPr algn="ctr"/>
                      <a:r>
                        <a:rPr sz="900" b="1" i="0" dirty="0">
                          <a:solidFill>
                            <a:srgbClr val="21295C"/>
                          </a:solidFill>
                          <a:latin typeface="Consolas"/>
                        </a:rPr>
                        <a:t>1</a:t>
                      </a:r>
                    </a:p>
                  </a:txBody>
                  <a:tcPr>
                    <a:solidFill>
                      <a:srgbClr val="E8F1FF"/>
                    </a:solidFill>
                  </a:tcPr>
                </a:tc>
                <a:extLst>
                  <a:ext uri="{0D108BD9-81ED-4DB2-BD59-A6C34878D82A}">
                    <a16:rowId xmlns:a16="http://schemas.microsoft.com/office/drawing/2014/main" val="10002"/>
                  </a:ext>
                </a:extLst>
              </a:tr>
            </a:tbl>
          </a:graphicData>
        </a:graphic>
      </p:graphicFrame>
      <p:sp>
        <p:nvSpPr>
          <p:cNvPr id="20" name="Rounded Rectangle 19"/>
          <p:cNvSpPr/>
          <p:nvPr/>
        </p:nvSpPr>
        <p:spPr>
          <a:xfrm>
            <a:off x="3529585" y="3433572"/>
            <a:ext cx="1170432" cy="621792"/>
          </a:xfrm>
          <a:prstGeom prst="roundRect">
            <a:avLst>
              <a:gd name="adj" fmla="val 45000"/>
            </a:avLst>
          </a:prstGeom>
          <a:noFill/>
          <a:ln w="28575">
            <a:solidFill>
              <a:srgbClr val="6A2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017520" y="399592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D[0] = 1</a:t>
            </a:r>
          </a:p>
        </p:txBody>
      </p:sp>
      <p:sp>
        <p:nvSpPr>
          <p:cNvPr id="22" name="TextBox 21"/>
          <p:cNvSpPr txBox="1"/>
          <p:nvPr/>
        </p:nvSpPr>
        <p:spPr>
          <a:xfrm>
            <a:off x="5029200" y="2926080"/>
            <a:ext cx="1719072" cy="182880"/>
          </a:xfrm>
          <a:prstGeom prst="rect">
            <a:avLst/>
          </a:prstGeom>
          <a:noFill/>
        </p:spPr>
        <p:txBody>
          <a:bodyPr wrap="none" lIns="0" tIns="0" rIns="0" bIns="0">
            <a:spAutoFit/>
          </a:bodyPr>
          <a:lstStyle/>
          <a:p>
            <a:pPr algn="l"/>
            <a:r>
              <a:rPr sz="1000" b="1">
                <a:solidFill>
                  <a:srgbClr val="1E2761"/>
                </a:solidFill>
                <a:latin typeface="Calibri"/>
              </a:rPr>
              <a:t>K-map for OF</a:t>
            </a:r>
          </a:p>
        </p:txBody>
      </p:sp>
      <p:graphicFrame>
        <p:nvGraphicFramePr>
          <p:cNvPr id="23" name="Table 22"/>
          <p:cNvGraphicFramePr>
            <a:graphicFrameLocks noGrp="1"/>
          </p:cNvGraphicFramePr>
          <p:nvPr/>
        </p:nvGraphicFramePr>
        <p:xfrm>
          <a:off x="5029200" y="3127248"/>
          <a:ext cx="1627632" cy="88392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274320">
                  <a:extLst>
                    <a:ext uri="{9D8B030D-6E8A-4147-A177-3AD203B41FA5}">
                      <a16:colId xmlns:a16="http://schemas.microsoft.com/office/drawing/2014/main" val="20003"/>
                    </a:ext>
                  </a:extLst>
                </a:gridCol>
                <a:gridCol w="274320">
                  <a:extLst>
                    <a:ext uri="{9D8B030D-6E8A-4147-A177-3AD203B41FA5}">
                      <a16:colId xmlns:a16="http://schemas.microsoft.com/office/drawing/2014/main" val="20004"/>
                    </a:ext>
                  </a:extLst>
                </a:gridCol>
              </a:tblGrid>
              <a:tr h="274320">
                <a:tc>
                  <a:txBody>
                    <a:bodyPr/>
                    <a:lstStyle/>
                    <a:p>
                      <a:pPr algn="ctr"/>
                      <a:r>
                        <a:rPr sz="800" b="1">
                          <a:solidFill>
                            <a:srgbClr val="1E2761"/>
                          </a:solidFill>
                          <a:latin typeface="Calibri"/>
                        </a:rPr>
                        <a:t>G[1]G[0]\G[2]</a:t>
                      </a:r>
                    </a:p>
                  </a:txBody>
                  <a:tcPr>
                    <a:solidFill>
                      <a:srgbClr val="E8EAF0"/>
                    </a:solidFill>
                  </a:tcPr>
                </a:tc>
                <a:tc>
                  <a:txBody>
                    <a:bodyPr/>
                    <a:lstStyle/>
                    <a:p>
                      <a:pPr algn="ctr"/>
                      <a:r>
                        <a:rPr sz="800" b="1" i="0">
                          <a:solidFill>
                            <a:srgbClr val="1E2761"/>
                          </a:solidFill>
                          <a:latin typeface="Consolas"/>
                        </a:rPr>
                        <a:t>00</a:t>
                      </a:r>
                    </a:p>
                  </a:txBody>
                  <a:tcPr>
                    <a:solidFill>
                      <a:srgbClr val="E8EAF0"/>
                    </a:solidFill>
                  </a:tcPr>
                </a:tc>
                <a:tc>
                  <a:txBody>
                    <a:bodyPr/>
                    <a:lstStyle/>
                    <a:p>
                      <a:pPr algn="ctr"/>
                      <a:r>
                        <a:rPr sz="800" b="1" i="0">
                          <a:solidFill>
                            <a:srgbClr val="1E2761"/>
                          </a:solidFill>
                          <a:latin typeface="Consolas"/>
                        </a:rPr>
                        <a:t>01</a:t>
                      </a:r>
                    </a:p>
                  </a:txBody>
                  <a:tcPr>
                    <a:solidFill>
                      <a:srgbClr val="E8EAF0"/>
                    </a:solidFill>
                  </a:tcPr>
                </a:tc>
                <a:tc>
                  <a:txBody>
                    <a:bodyPr/>
                    <a:lstStyle/>
                    <a:p>
                      <a:pPr algn="ctr"/>
                      <a:r>
                        <a:rPr sz="800" b="1" i="0">
                          <a:solidFill>
                            <a:srgbClr val="1E2761"/>
                          </a:solidFill>
                          <a:latin typeface="Consolas"/>
                        </a:rPr>
                        <a:t>11</a:t>
                      </a:r>
                    </a:p>
                  </a:txBody>
                  <a:tcPr>
                    <a:solidFill>
                      <a:srgbClr val="E8EAF0"/>
                    </a:solidFill>
                  </a:tcPr>
                </a:tc>
                <a:tc>
                  <a:txBody>
                    <a:bodyPr/>
                    <a:lstStyle/>
                    <a:p>
                      <a:pPr algn="ctr"/>
                      <a:r>
                        <a:rPr sz="800" b="1" i="0">
                          <a:solidFill>
                            <a:srgbClr val="1E2761"/>
                          </a:solidFill>
                          <a:latin typeface="Consolas"/>
                        </a:rPr>
                        <a:t>10</a:t>
                      </a:r>
                    </a:p>
                  </a:txBody>
                  <a:tcPr>
                    <a:solidFill>
                      <a:srgbClr val="E8EAF0"/>
                    </a:solidFill>
                  </a:tcPr>
                </a:tc>
                <a:extLst>
                  <a:ext uri="{0D108BD9-81ED-4DB2-BD59-A6C34878D82A}">
                    <a16:rowId xmlns:a16="http://schemas.microsoft.com/office/drawing/2014/main" val="10000"/>
                  </a:ext>
                </a:extLst>
              </a:tr>
              <a:tr h="274320">
                <a:tc>
                  <a:txBody>
                    <a:bodyPr/>
                    <a:lstStyle/>
                    <a:p>
                      <a:pPr algn="ctr"/>
                      <a:r>
                        <a:rPr sz="800" b="1" i="0">
                          <a:solidFill>
                            <a:srgbClr val="1E2761"/>
                          </a:solidFill>
                          <a:latin typeface="Consolas"/>
                        </a:rPr>
                        <a:t>0</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00" b="1" i="0">
                          <a:solidFill>
                            <a:srgbClr val="1E2761"/>
                          </a:solidFill>
                          <a:latin typeface="Consolas"/>
                        </a:rPr>
                        <a:t>1</a:t>
                      </a:r>
                    </a:p>
                  </a:txBody>
                  <a:tcPr>
                    <a:solidFill>
                      <a:srgbClr val="E8EAF0"/>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tc>
                  <a:txBody>
                    <a:bodyPr/>
                    <a:lstStyle/>
                    <a:p>
                      <a:pPr algn="ctr"/>
                      <a:r>
                        <a:rPr sz="900" b="0" i="0">
                          <a:solidFill>
                            <a:srgbClr val="5C5C5C"/>
                          </a:solidFill>
                          <a:latin typeface="Consolas"/>
                        </a:rPr>
                        <a:t>0</a:t>
                      </a:r>
                    </a:p>
                  </a:txBody>
                  <a:tcPr>
                    <a:solidFill>
                      <a:srgbClr val="FFFFFF"/>
                    </a:solidFill>
                  </a:tcPr>
                </a:tc>
                <a:extLst>
                  <a:ext uri="{0D108BD9-81ED-4DB2-BD59-A6C34878D82A}">
                    <a16:rowId xmlns:a16="http://schemas.microsoft.com/office/drawing/2014/main" val="10002"/>
                  </a:ext>
                </a:extLst>
              </a:tr>
            </a:tbl>
          </a:graphicData>
        </a:graphic>
      </p:graphicFrame>
      <p:sp>
        <p:nvSpPr>
          <p:cNvPr id="24" name="TextBox 23"/>
          <p:cNvSpPr txBox="1"/>
          <p:nvPr/>
        </p:nvSpPr>
        <p:spPr>
          <a:xfrm>
            <a:off x="5029200" y="3995928"/>
            <a:ext cx="2084831" cy="365760"/>
          </a:xfrm>
          <a:prstGeom prst="rect">
            <a:avLst/>
          </a:prstGeom>
          <a:noFill/>
        </p:spPr>
        <p:txBody>
          <a:bodyPr wrap="square" lIns="36576" tIns="18288" rIns="36576" bIns="18288">
            <a:spAutoFit/>
          </a:bodyPr>
          <a:lstStyle/>
          <a:p>
            <a:pPr algn="l"/>
            <a:r>
              <a:rPr sz="1000" b="1" i="0">
                <a:solidFill>
                  <a:srgbClr val="21295C"/>
                </a:solidFill>
                <a:latin typeface="Consolas"/>
              </a:rPr>
              <a:t>OF   = 0</a:t>
            </a:r>
          </a:p>
        </p:txBody>
      </p:sp>
      <p:sp>
        <p:nvSpPr>
          <p:cNvPr id="25" name="Rectangle 24"/>
          <p:cNvSpPr/>
          <p:nvPr/>
        </p:nvSpPr>
        <p:spPr>
          <a:xfrm>
            <a:off x="274320" y="4370832"/>
            <a:ext cx="8595360" cy="457200"/>
          </a:xfrm>
          <a:prstGeom prst="rect">
            <a:avLst/>
          </a:prstGeom>
          <a:solidFill>
            <a:srgbClr val="F2F4FA"/>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4407408"/>
            <a:ext cx="8412480" cy="384048"/>
          </a:xfrm>
          <a:prstGeom prst="rect">
            <a:avLst/>
          </a:prstGeom>
          <a:noFill/>
        </p:spPr>
        <p:txBody>
          <a:bodyPr wrap="square" lIns="36576" tIns="18288" rIns="36576" bIns="18288" anchor="ctr">
            <a:spAutoFit/>
          </a:bodyPr>
          <a:lstStyle/>
          <a:p>
            <a:pPr algn="l"/>
            <a:r>
              <a:rPr sz="1150" b="1" i="0">
                <a:solidFill>
                  <a:srgbClr val="1E2761"/>
                </a:solidFill>
                <a:latin typeface="Consolas"/>
              </a:rPr>
              <a:t>D[3:0] = 1011 (blank)     OF = 0     [outputs are constants, independent of G, 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sz="2400" b="1" dirty="0">
                <a:solidFill>
                  <a:srgbClr val="1E2761"/>
                </a:solidFill>
                <a:latin typeface="Calibri"/>
              </a:rPr>
              <a:t>Verilog Implementation</a:t>
            </a:r>
          </a:p>
        </p:txBody>
      </p:sp>
      <p:sp>
        <p:nvSpPr>
          <p:cNvPr id="4" name="TextBox 3"/>
          <p:cNvSpPr txBox="1"/>
          <p:nvPr/>
        </p:nvSpPr>
        <p:spPr>
          <a:xfrm>
            <a:off x="320040" y="1078992"/>
            <a:ext cx="8503920" cy="411480"/>
          </a:xfrm>
          <a:prstGeom prst="rect">
            <a:avLst/>
          </a:prstGeom>
          <a:noFill/>
          <a:ln>
            <a:noFill/>
          </a:ln>
        </p:spPr>
        <p:txBody>
          <a:bodyPr wrap="square" lIns="45720" tIns="27432" rIns="45720" bIns="27432" anchor="t">
            <a:spAutoFit/>
          </a:bodyPr>
          <a:lstStyle/>
          <a:p>
            <a:pPr algn="l"/>
            <a:r>
              <a:rPr sz="1050" b="0" i="1">
                <a:solidFill>
                  <a:srgbClr val="333333"/>
                </a:solidFill>
                <a:latin typeface="Calibri"/>
              </a:rPr>
              <a:t>Three modules synthesized in Quartus. Top module wires the system I/O. Robotic Sensor Processing implements the 8 operations via a case statement on S[2:0]. The 7-Segment Decoder maps each 4-bit display code to active-LOW segment outputs.</a:t>
            </a:r>
          </a:p>
        </p:txBody>
      </p:sp>
      <p:sp>
        <p:nvSpPr>
          <p:cNvPr id="5" name="Rectangle 4"/>
          <p:cNvSpPr/>
          <p:nvPr/>
        </p:nvSpPr>
        <p:spPr>
          <a:xfrm>
            <a:off x="320040" y="1691640"/>
            <a:ext cx="2743200" cy="3017520"/>
          </a:xfrm>
          <a:prstGeom prst="rect">
            <a:avLst/>
          </a:prstGeom>
          <a:solidFill>
            <a:srgbClr val="F0F2F7"/>
          </a:solidFill>
          <a:ln w="15875">
            <a:solidFill>
              <a:srgbClr val="B0B8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1E2761"/>
                </a:solidFill>
                <a:latin typeface="Calibri"/>
              </a:rPr>
              <a:t>Top Module: System I/O</a:t>
            </a:r>
          </a:p>
        </p:txBody>
      </p:sp>
      <p:sp>
        <p:nvSpPr>
          <p:cNvPr id="6" name="Rectangle 5"/>
          <p:cNvSpPr/>
          <p:nvPr/>
        </p:nvSpPr>
        <p:spPr>
          <a:xfrm>
            <a:off x="3154680" y="1691640"/>
            <a:ext cx="2743200" cy="3017520"/>
          </a:xfrm>
          <a:prstGeom prst="rect">
            <a:avLst/>
          </a:prstGeom>
          <a:solidFill>
            <a:srgbClr val="F0F2F7"/>
          </a:solidFill>
          <a:ln w="15875">
            <a:solidFill>
              <a:srgbClr val="B0B8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1E2761"/>
                </a:solidFill>
                <a:latin typeface="Calibri"/>
              </a:rPr>
              <a:t>Robotic Sensor Processing</a:t>
            </a:r>
          </a:p>
        </p:txBody>
      </p:sp>
      <p:sp>
        <p:nvSpPr>
          <p:cNvPr id="7" name="Rectangle 6"/>
          <p:cNvSpPr/>
          <p:nvPr/>
        </p:nvSpPr>
        <p:spPr>
          <a:xfrm>
            <a:off x="5989320" y="1691640"/>
            <a:ext cx="2743200" cy="3017520"/>
          </a:xfrm>
          <a:prstGeom prst="rect">
            <a:avLst/>
          </a:prstGeom>
          <a:solidFill>
            <a:srgbClr val="F0F2F7"/>
          </a:solidFill>
          <a:ln w="15875">
            <a:solidFill>
              <a:srgbClr val="B0B8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1E2761"/>
                </a:solidFill>
                <a:latin typeface="Calibri"/>
              </a:rPr>
              <a:t>7-Segment Decoder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sz="2800" b="1">
                <a:solidFill>
                  <a:srgbClr val="1E2761"/>
                </a:solidFill>
                <a:latin typeface="Calibri"/>
              </a:rPr>
              <a:t>Conclusion</a:t>
            </a:r>
          </a:p>
        </p:txBody>
      </p:sp>
      <p:sp>
        <p:nvSpPr>
          <p:cNvPr id="4" name="TextBox 3"/>
          <p:cNvSpPr txBox="1"/>
          <p:nvPr/>
        </p:nvSpPr>
        <p:spPr>
          <a:xfrm>
            <a:off x="320040" y="1188720"/>
            <a:ext cx="4114800" cy="320040"/>
          </a:xfrm>
          <a:prstGeom prst="rect">
            <a:avLst/>
          </a:prstGeom>
          <a:noFill/>
          <a:ln>
            <a:noFill/>
          </a:ln>
        </p:spPr>
        <p:txBody>
          <a:bodyPr wrap="square" lIns="45720" tIns="27432" rIns="45720" bIns="27432" anchor="t">
            <a:spAutoFit/>
          </a:bodyPr>
          <a:lstStyle/>
          <a:p>
            <a:pPr algn="l"/>
            <a:r>
              <a:rPr sz="1600" b="1" i="0">
                <a:solidFill>
                  <a:srgbClr val="1E2761"/>
                </a:solidFill>
                <a:latin typeface="Calibri"/>
              </a:rPr>
              <a:t>Summary</a:t>
            </a:r>
          </a:p>
        </p:txBody>
      </p:sp>
      <p:sp>
        <p:nvSpPr>
          <p:cNvPr id="5" name="TextBox 4"/>
          <p:cNvSpPr txBox="1"/>
          <p:nvPr/>
        </p:nvSpPr>
        <p:spPr>
          <a:xfrm>
            <a:off x="320040" y="1554480"/>
            <a:ext cx="4114800" cy="3200400"/>
          </a:xfrm>
          <a:prstGeom prst="rect">
            <a:avLst/>
          </a:prstGeom>
          <a:noFill/>
          <a:ln>
            <a:noFill/>
          </a:ln>
        </p:spPr>
        <p:txBody>
          <a:bodyPr wrap="square" lIns="45720" tIns="27432" rIns="45720" bIns="27432" anchor="t">
            <a:spAutoFit/>
          </a:bodyPr>
          <a:lstStyle/>
          <a:p>
            <a:pPr algn="l">
              <a:spcAft>
                <a:spcPts val="1000"/>
              </a:spcAft>
            </a:pPr>
            <a:r>
              <a:rPr sz="1200" b="0" i="0">
                <a:solidFill>
                  <a:srgbClr val="333333"/>
                </a:solidFill>
                <a:latin typeface="Calibri"/>
              </a:rPr>
              <a:t>We designed a Digital Robotic Sensor Processor on FPGA that supports 8 sensor-driven operations and detects out-of-range results with an overflow LED.</a:t>
            </a:r>
          </a:p>
          <a:p>
            <a:pPr algn="l">
              <a:spcAft>
                <a:spcPts val="1000"/>
              </a:spcAft>
            </a:pPr>
            <a:r>
              <a:rPr sz="1200" b="0" i="0">
                <a:solidFill>
                  <a:srgbClr val="333333"/>
                </a:solidFill>
                <a:latin typeface="Calibri"/>
              </a:rPr>
              <a:t>The system takes two 3-bit sensors and a 3-bit selector, computes the chosen function, and drives a 7-segment display plus the overflow indicator.</a:t>
            </a:r>
          </a:p>
          <a:p>
            <a:pPr algn="l"/>
            <a:r>
              <a:rPr sz="1200" b="0" i="0">
                <a:solidFill>
                  <a:srgbClr val="333333"/>
                </a:solidFill>
                <a:latin typeface="Calibri"/>
              </a:rPr>
              <a:t>Five of the eight operations can overflow; the other three (compare, clearance, average) always stay in range by design.</a:t>
            </a:r>
          </a:p>
        </p:txBody>
      </p:sp>
      <p:sp>
        <p:nvSpPr>
          <p:cNvPr id="6" name="TextBox 5"/>
          <p:cNvSpPr txBox="1"/>
          <p:nvPr/>
        </p:nvSpPr>
        <p:spPr>
          <a:xfrm>
            <a:off x="4663440" y="1188720"/>
            <a:ext cx="4160520" cy="320040"/>
          </a:xfrm>
          <a:prstGeom prst="rect">
            <a:avLst/>
          </a:prstGeom>
          <a:noFill/>
          <a:ln>
            <a:noFill/>
          </a:ln>
        </p:spPr>
        <p:txBody>
          <a:bodyPr wrap="square" lIns="45720" tIns="27432" rIns="45720" bIns="27432" anchor="t">
            <a:spAutoFit/>
          </a:bodyPr>
          <a:lstStyle/>
          <a:p>
            <a:pPr algn="l"/>
            <a:r>
              <a:rPr sz="1600" b="1" i="0">
                <a:solidFill>
                  <a:srgbClr val="1E2761"/>
                </a:solidFill>
                <a:latin typeface="Calibri"/>
              </a:rPr>
              <a:t>Achievements</a:t>
            </a:r>
          </a:p>
        </p:txBody>
      </p:sp>
      <p:sp>
        <p:nvSpPr>
          <p:cNvPr id="7" name="TextBox 6"/>
          <p:cNvSpPr txBox="1"/>
          <p:nvPr/>
        </p:nvSpPr>
        <p:spPr>
          <a:xfrm>
            <a:off x="4663440" y="1554480"/>
            <a:ext cx="4160520" cy="3246120"/>
          </a:xfrm>
          <a:prstGeom prst="rect">
            <a:avLst/>
          </a:prstGeom>
          <a:noFill/>
          <a:ln>
            <a:noFill/>
          </a:ln>
        </p:spPr>
        <p:txBody>
          <a:bodyPr wrap="square" lIns="45720" tIns="27432" rIns="45720" bIns="27432" anchor="t">
            <a:spAutoFit/>
          </a:bodyPr>
          <a:lstStyle/>
          <a:p>
            <a:pPr algn="l">
              <a:spcAft>
                <a:spcPts val="200"/>
              </a:spcAft>
            </a:pPr>
            <a:r>
              <a:rPr sz="1200" b="1" i="0" dirty="0">
                <a:solidFill>
                  <a:srgbClr val="1E2761"/>
                </a:solidFill>
                <a:latin typeface="Calibri"/>
              </a:rPr>
              <a:t>Truth tables and K-maps</a:t>
            </a:r>
          </a:p>
          <a:p>
            <a:pPr algn="l">
              <a:spcAft>
                <a:spcPts val="800"/>
              </a:spcAft>
            </a:pPr>
            <a:r>
              <a:rPr sz="1100" b="0" i="0" dirty="0">
                <a:solidFill>
                  <a:srgbClr val="333333"/>
                </a:solidFill>
                <a:latin typeface="Calibri"/>
              </a:rPr>
              <a:t>Derived for all 8 functions; SOP/POS forms documented.</a:t>
            </a:r>
          </a:p>
          <a:p>
            <a:pPr algn="l">
              <a:spcAft>
                <a:spcPts val="200"/>
              </a:spcAft>
            </a:pPr>
            <a:r>
              <a:rPr sz="1200" b="1" i="0" dirty="0">
                <a:solidFill>
                  <a:srgbClr val="1E2761"/>
                </a:solidFill>
                <a:latin typeface="Calibri"/>
              </a:rPr>
              <a:t>Simplified Boolean and arithmetic equations</a:t>
            </a:r>
          </a:p>
          <a:p>
            <a:pPr algn="l">
              <a:spcAft>
                <a:spcPts val="800"/>
              </a:spcAft>
            </a:pPr>
            <a:r>
              <a:rPr sz="1100" b="0" i="0" dirty="0">
                <a:solidFill>
                  <a:srgbClr val="333333"/>
                </a:solidFill>
                <a:latin typeface="Calibri"/>
              </a:rPr>
              <a:t>Expressed each output bit in its minimal form.</a:t>
            </a:r>
          </a:p>
          <a:p>
            <a:pPr algn="l">
              <a:spcAft>
                <a:spcPts val="200"/>
              </a:spcAft>
            </a:pPr>
            <a:r>
              <a:rPr sz="1200" b="1" i="0" dirty="0">
                <a:solidFill>
                  <a:srgbClr val="1E2761"/>
                </a:solidFill>
                <a:latin typeface="Calibri"/>
              </a:rPr>
              <a:t>Three-module Verilog HDL</a:t>
            </a:r>
          </a:p>
          <a:p>
            <a:pPr algn="l">
              <a:spcAft>
                <a:spcPts val="800"/>
              </a:spcAft>
            </a:pPr>
            <a:r>
              <a:rPr sz="1100" b="0" i="0" dirty="0">
                <a:solidFill>
                  <a:srgbClr val="333333"/>
                </a:solidFill>
                <a:latin typeface="Calibri"/>
              </a:rPr>
              <a:t>Top module, Robotic Sensor Processing, 7-Segment Decoder.</a:t>
            </a:r>
          </a:p>
          <a:p>
            <a:pPr algn="l">
              <a:spcAft>
                <a:spcPts val="200"/>
              </a:spcAft>
            </a:pPr>
            <a:r>
              <a:rPr sz="1200" b="1" i="0" dirty="0">
                <a:solidFill>
                  <a:srgbClr val="1E2761"/>
                </a:solidFill>
                <a:latin typeface="Calibri"/>
              </a:rPr>
              <a:t>Custom 7-segment encoding</a:t>
            </a:r>
          </a:p>
          <a:p>
            <a:pPr algn="l">
              <a:spcAft>
                <a:spcPts val="800"/>
              </a:spcAft>
            </a:pPr>
            <a:r>
              <a:rPr sz="1100" b="0" i="0" dirty="0">
                <a:solidFill>
                  <a:srgbClr val="333333"/>
                </a:solidFill>
                <a:latin typeface="Calibri"/>
              </a:rPr>
              <a:t>Digits 0–7 plus "E", "U", "=", and blank states.</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8369</TotalTime>
  <Words>5154</Words>
  <Application>Microsoft Office PowerPoint</Application>
  <PresentationFormat>On-screen Show (16:9)</PresentationFormat>
  <Paragraphs>938</Paragraphs>
  <Slides>15</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Century Gothic</vt:lpstr>
      <vt:lpstr>Calibri</vt:lpstr>
      <vt:lpstr>幼圆</vt:lpstr>
      <vt:lpstr>Red Hat Display</vt:lpstr>
      <vt:lpstr>Arial</vt:lpstr>
      <vt:lpstr>Consolas</vt:lpstr>
      <vt:lpstr>Simple Light</vt:lpstr>
      <vt:lpstr>Digital Robotic Sensor on FPGA</vt:lpstr>
      <vt:lpstr>PowerPoint Presentation</vt:lpstr>
      <vt:lpstr>Problem Statement and Design Assumptions</vt:lpstr>
      <vt:lpstr>System Block Diagram</vt:lpstr>
      <vt:lpstr>Function Table for the 8 Operations</vt:lpstr>
      <vt:lpstr>Motor Speed (S = 000)</vt:lpstr>
      <vt:lpstr>Turning Angle (S = 001)</vt:lpstr>
      <vt:lpstr>Sensor Compare (S = 010)</vt:lpstr>
      <vt:lpstr>Forward Adjust (S = 011)</vt:lpstr>
      <vt:lpstr>Clearance (S = 100)</vt:lpstr>
      <vt:lpstr>Path Average (S = 101)</vt:lpstr>
      <vt:lpstr>Difference (S = 110)</vt:lpstr>
      <vt:lpstr>System Off (S = 111)</vt:lpstr>
      <vt:lpstr>Verilog Implementation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TITTLE</dc:title>
  <dc:creator>Taha Beyrouthy</dc:creator>
  <cp:lastModifiedBy>Yousef AlAbdulrazzaq</cp:lastModifiedBy>
  <cp:revision>89</cp:revision>
  <dcterms:modified xsi:type="dcterms:W3CDTF">2026-04-29T10:06:42Z</dcterms:modified>
</cp:coreProperties>
</file>