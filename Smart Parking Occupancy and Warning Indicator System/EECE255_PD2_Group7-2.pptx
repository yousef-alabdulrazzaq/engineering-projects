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6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61" r:id="rId3"/>
    <p:sldId id="263" r:id="rId4"/>
    <p:sldId id="264" r:id="rId5"/>
    <p:sldId id="265" r:id="rId6"/>
    <p:sldId id="266" r:id="rId7"/>
    <p:sldId id="268" r:id="rId8"/>
    <p:sldId id="272" r:id="rId9"/>
    <p:sldId id="273" r:id="rId10"/>
    <p:sldId id="274" r:id="rId11"/>
    <p:sldId id="270" r:id="rId12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642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87" y="0"/>
            <a:ext cx="10684573" cy="755550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260"/>
            <a:ext cx="9624060" cy="1209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56E122-FFC9-6E5A-855D-2B51F714890B}"/>
              </a:ext>
            </a:extLst>
          </p:cNvPr>
          <p:cNvSpPr txBox="1"/>
          <p:nvPr/>
        </p:nvSpPr>
        <p:spPr>
          <a:xfrm>
            <a:off x="1714500" y="1934755"/>
            <a:ext cx="6858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1" dirty="0"/>
              <a:t>Smart Parking Occupancy and Warning Indicator System</a:t>
            </a:r>
            <a:endParaRPr lang="en-US" sz="1800" dirty="0"/>
          </a:p>
          <a:p>
            <a:pPr algn="ctr"/>
            <a:endParaRPr lang="en-US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36AFF6-39B3-E2F5-0658-AAE8C8925DCD}"/>
              </a:ext>
            </a:extLst>
          </p:cNvPr>
          <p:cNvSpPr txBox="1"/>
          <p:nvPr/>
        </p:nvSpPr>
        <p:spPr>
          <a:xfrm>
            <a:off x="2372360" y="907365"/>
            <a:ext cx="53454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2000"/>
              </a:spcAft>
              <a:buNone/>
            </a:pPr>
            <a:r>
              <a:rPr lang="en-US" sz="1800" dirty="0">
                <a:solidFill>
                  <a:srgbClr val="595959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College of Engineering and Technology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9BA5E-A5D6-9E59-D70F-D0B890A2810A}"/>
              </a:ext>
            </a:extLst>
          </p:cNvPr>
          <p:cNvSpPr txBox="1"/>
          <p:nvPr/>
        </p:nvSpPr>
        <p:spPr>
          <a:xfrm>
            <a:off x="2374900" y="577850"/>
            <a:ext cx="54168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cap="all" dirty="0"/>
              <a:t>AMERICAN UNIVERSITY OF THE MIDDLE EAST</a:t>
            </a:r>
            <a:endParaRPr lang="en-US" sz="1800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48DA95-6489-7029-5D77-3904DAECD631}"/>
              </a:ext>
            </a:extLst>
          </p:cNvPr>
          <p:cNvSpPr txBox="1"/>
          <p:nvPr/>
        </p:nvSpPr>
        <p:spPr>
          <a:xfrm>
            <a:off x="3975100" y="1340940"/>
            <a:ext cx="20954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PD2 Presentation</a:t>
            </a:r>
            <a:endParaRPr lang="en-US" sz="1800" dirty="0"/>
          </a:p>
          <a:p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8E984D8-BE90-1296-B402-1B3D7A0A38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700865"/>
              </p:ext>
            </p:extLst>
          </p:nvPr>
        </p:nvGraphicFramePr>
        <p:xfrm>
          <a:off x="850900" y="2727055"/>
          <a:ext cx="8763000" cy="40075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197606181"/>
                    </a:ext>
                  </a:extLst>
                </a:gridCol>
                <a:gridCol w="6248400">
                  <a:extLst>
                    <a:ext uri="{9D8B030D-6E8A-4147-A177-3AD203B41FA5}">
                      <a16:colId xmlns:a16="http://schemas.microsoft.com/office/drawing/2014/main" val="896458829"/>
                    </a:ext>
                  </a:extLst>
                </a:gridCol>
              </a:tblGrid>
              <a:tr h="797829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Course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 EECE 255 - Introduction to Electronic Analysis and Design </a:t>
                      </a:r>
                    </a:p>
                    <a:p>
                      <a:pPr marL="0" marR="0">
                        <a:buNone/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extLst>
                  <a:ext uri="{0D108BD9-81ED-4DB2-BD59-A6C34878D82A}">
                    <a16:rowId xmlns:a16="http://schemas.microsoft.com/office/drawing/2014/main" val="881783049"/>
                  </a:ext>
                </a:extLst>
              </a:tr>
              <a:tr h="37317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Group Number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7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extLst>
                  <a:ext uri="{0D108BD9-81ED-4DB2-BD59-A6C34878D82A}">
                    <a16:rowId xmlns:a16="http://schemas.microsoft.com/office/drawing/2014/main" val="2570602307"/>
                  </a:ext>
                </a:extLst>
              </a:tr>
              <a:tr h="797829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Student Names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Yousef </a:t>
                      </a:r>
                      <a:r>
                        <a:rPr lang="en-US" sz="1600" dirty="0" err="1">
                          <a:effectLst/>
                        </a:rPr>
                        <a:t>AlAbdulrazzaq</a:t>
                      </a:r>
                      <a:endParaRPr lang="en-US" sz="1600" dirty="0">
                        <a:effectLst/>
                      </a:endParaRPr>
                    </a:p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Jamal AlEleawah</a:t>
                      </a:r>
                    </a:p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Salem </a:t>
                      </a:r>
                      <a:r>
                        <a:rPr lang="en-US" sz="1600" dirty="0" err="1">
                          <a:effectLst/>
                        </a:rPr>
                        <a:t>AlDammaj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extLst>
                  <a:ext uri="{0D108BD9-81ED-4DB2-BD59-A6C34878D82A}">
                    <a16:rowId xmlns:a16="http://schemas.microsoft.com/office/drawing/2014/main" val="3643276227"/>
                  </a:ext>
                </a:extLst>
              </a:tr>
              <a:tr h="797829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Student IDs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75018</a:t>
                      </a:r>
                    </a:p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10094770</a:t>
                      </a:r>
                    </a:p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10092588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extLst>
                  <a:ext uri="{0D108BD9-81ED-4DB2-BD59-A6C34878D82A}">
                    <a16:rowId xmlns:a16="http://schemas.microsoft.com/office/drawing/2014/main" val="789976260"/>
                  </a:ext>
                </a:extLst>
              </a:tr>
              <a:tr h="37317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Supervisor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Dr. Mohammad Al-</a:t>
                      </a:r>
                      <a:r>
                        <a:rPr lang="en-US" sz="1600" dirty="0" err="1">
                          <a:effectLst/>
                        </a:rPr>
                        <a:t>Rabayah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extLst>
                  <a:ext uri="{0D108BD9-81ED-4DB2-BD59-A6C34878D82A}">
                    <a16:rowId xmlns:a16="http://schemas.microsoft.com/office/drawing/2014/main" val="3824268706"/>
                  </a:ext>
                </a:extLst>
              </a:tr>
              <a:tr h="37317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Submission Date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05 05 2026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extLst>
                  <a:ext uri="{0D108BD9-81ED-4DB2-BD59-A6C34878D82A}">
                    <a16:rowId xmlns:a16="http://schemas.microsoft.com/office/drawing/2014/main" val="645915778"/>
                  </a:ext>
                </a:extLst>
              </a:tr>
              <a:tr h="37317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Academic Year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Spring 2026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extLst>
                  <a:ext uri="{0D108BD9-81ED-4DB2-BD59-A6C34878D82A}">
                    <a16:rowId xmlns:a16="http://schemas.microsoft.com/office/drawing/2014/main" val="17663490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7FF438-54E3-00B3-6D56-D070F3E41330}"/>
              </a:ext>
            </a:extLst>
          </p:cNvPr>
          <p:cNvSpPr txBox="1"/>
          <p:nvPr/>
        </p:nvSpPr>
        <p:spPr>
          <a:xfrm>
            <a:off x="241300" y="785201"/>
            <a:ext cx="2786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Project summary: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BBEA9C-7C5E-20DA-FE7E-69432E91F1A5}"/>
              </a:ext>
            </a:extLst>
          </p:cNvPr>
          <p:cNvSpPr txBox="1"/>
          <p:nvPr/>
        </p:nvSpPr>
        <p:spPr>
          <a:xfrm>
            <a:off x="241300" y="1538416"/>
            <a:ext cx="3595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the project aims to achieve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F12643-DFDD-3EA0-1F40-3998DDB2E001}"/>
              </a:ext>
            </a:extLst>
          </p:cNvPr>
          <p:cNvSpPr txBox="1"/>
          <p:nvPr/>
        </p:nvSpPr>
        <p:spPr>
          <a:xfrm>
            <a:off x="1384300" y="2482850"/>
            <a:ext cx="731520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	With city population increasing demanding larger and taller residential and commercial buildings, the need for efficient parking management is becoming more challenging. A lack of well-designed parking spaces often leads to congestion and long waiting times, and inefficient space utilization increases costs for developers requiring more land.</a:t>
            </a:r>
          </a:p>
          <a:p>
            <a:endParaRPr lang="en-US" dirty="0"/>
          </a:p>
          <a:p>
            <a:endParaRPr lang="en-US" sz="1800" dirty="0"/>
          </a:p>
          <a:p>
            <a:r>
              <a:rPr lang="en-US" dirty="0"/>
              <a:t>	</a:t>
            </a:r>
            <a:r>
              <a:rPr lang="en-US" sz="1800" dirty="0"/>
              <a:t>This project aims to solve these challenges by designing a smart parking occupancy and warning indicator system using only discrete electronic components. Through the use of analog infrared sensors parking space availability will be displayed via color-coded LEDs, with the addition of a buzzer alarm when a vehicle occupies a spot for longer than the allotted time.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  <a:p>
            <a:endParaRPr lang="en-US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297FC0E-0151-AF72-1D9A-BD37E7805A79}"/>
              </a:ext>
            </a:extLst>
          </p:cNvPr>
          <p:cNvSpPr/>
          <p:nvPr/>
        </p:nvSpPr>
        <p:spPr>
          <a:xfrm>
            <a:off x="1003300" y="2029183"/>
            <a:ext cx="822960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14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4">
            <a:extLst>
              <a:ext uri="{FF2B5EF4-FFF2-40B4-BE49-F238E27FC236}">
                <a16:creationId xmlns:a16="http://schemas.microsoft.com/office/drawing/2014/main" id="{04D357AD-AC4D-9AC9-3D93-9F38710A6719}"/>
              </a:ext>
            </a:extLst>
          </p:cNvPr>
          <p:cNvSpPr/>
          <p:nvPr/>
        </p:nvSpPr>
        <p:spPr>
          <a:xfrm>
            <a:off x="421640" y="2415941"/>
            <a:ext cx="8412480" cy="111556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A47D007F-8AC3-0FEB-63C3-44528642D910}"/>
              </a:ext>
            </a:extLst>
          </p:cNvPr>
          <p:cNvSpPr/>
          <p:nvPr/>
        </p:nvSpPr>
        <p:spPr>
          <a:xfrm>
            <a:off x="426720" y="2470805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 — Microcontroller-Based (Arduino Uno)</a:t>
            </a:r>
            <a:endParaRPr lang="en-US" sz="1400" dirty="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36483B3A-0899-DC68-6690-388D3426B407}"/>
              </a:ext>
            </a:extLst>
          </p:cNvPr>
          <p:cNvSpPr/>
          <p:nvPr/>
        </p:nvSpPr>
        <p:spPr>
          <a:xfrm>
            <a:off x="7005320" y="2470805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ELIMINATED</a:t>
            </a:r>
            <a:endParaRPr lang="en-US" sz="1100" dirty="0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2ABF073D-E796-F2A1-BB53-36EADAEADA0D}"/>
              </a:ext>
            </a:extLst>
          </p:cNvPr>
          <p:cNvSpPr/>
          <p:nvPr/>
        </p:nvSpPr>
        <p:spPr>
          <a:xfrm>
            <a:off x="604520" y="2745125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an Arduino Uno with digital I/O, a software timer (millis()), and NMOS transistor output stages for the LEDs and buzzer. While simple to implement and flexible, this solution is explicitly prohibited by the project constraints — microcontrollers are not permitted at any stage.</a:t>
            </a:r>
            <a:endParaRPr lang="en-US" sz="1200" dirty="0"/>
          </a:p>
        </p:txBody>
      </p:sp>
      <p:sp>
        <p:nvSpPr>
          <p:cNvPr id="7" name="Shape 9">
            <a:extLst>
              <a:ext uri="{FF2B5EF4-FFF2-40B4-BE49-F238E27FC236}">
                <a16:creationId xmlns:a16="http://schemas.microsoft.com/office/drawing/2014/main" id="{20BA08E3-354B-13F8-64DB-68AA6A00B38E}"/>
              </a:ext>
            </a:extLst>
          </p:cNvPr>
          <p:cNvSpPr/>
          <p:nvPr/>
        </p:nvSpPr>
        <p:spPr>
          <a:xfrm>
            <a:off x="419100" y="3996583"/>
            <a:ext cx="8412480" cy="111556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4A9DFDF8-7CCD-FBAF-FB02-AB4B588B5397}"/>
              </a:ext>
            </a:extLst>
          </p:cNvPr>
          <p:cNvSpPr/>
          <p:nvPr/>
        </p:nvSpPr>
        <p:spPr>
          <a:xfrm>
            <a:off x="436880" y="4072783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B — Fully Discrete (SELECTED ★)</a:t>
            </a:r>
            <a:endParaRPr lang="en-US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5ADD20D2-1B65-34CB-BBDF-B8D006B04711}"/>
              </a:ext>
            </a:extLst>
          </p:cNvPr>
          <p:cNvSpPr/>
          <p:nvPr/>
        </p:nvSpPr>
        <p:spPr>
          <a:xfrm>
            <a:off x="7010400" y="4054495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SELECTED — 460 / 500</a:t>
            </a:r>
            <a:endParaRPr lang="en-US" sz="1100" dirty="0"/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6DB91C6A-36D2-045E-26BA-264253C4A507}"/>
              </a:ext>
            </a:extLst>
          </p:cNvPr>
          <p:cNvSpPr/>
          <p:nvPr/>
        </p:nvSpPr>
        <p:spPr>
          <a:xfrm>
            <a:off x="609600" y="4328815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UA741 op-amp Schmitt trigger (U3) + NPN BJT T10 for sensor buffering and Green LED drive + RC timer (R=100kΩ, C=100µF, τ=10s) + discrete CMOS AND gate (T1, T2, T11, T12) + N-MOSFET driver T13. Fully compliant with all five engineering requirements.</a:t>
            </a:r>
            <a:endParaRPr lang="en-US" sz="12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054AED0-8E4F-CC4B-F14C-C64A8B64E32D}"/>
              </a:ext>
            </a:extLst>
          </p:cNvPr>
          <p:cNvSpPr/>
          <p:nvPr/>
        </p:nvSpPr>
        <p:spPr>
          <a:xfrm>
            <a:off x="426720" y="5596930"/>
            <a:ext cx="8412480" cy="111556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81096B6D-46F7-D781-9F61-D31CCB40590C}"/>
              </a:ext>
            </a:extLst>
          </p:cNvPr>
          <p:cNvSpPr/>
          <p:nvPr/>
        </p:nvSpPr>
        <p:spPr>
          <a:xfrm>
            <a:off x="452120" y="5634629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C — 555 Timer IC-Based</a:t>
            </a:r>
            <a:endParaRPr lang="en-US" sz="1400" dirty="0"/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5A92A45C-65DA-95E5-C231-F4F95052B351}"/>
              </a:ext>
            </a:extLst>
          </p:cNvPr>
          <p:cNvSpPr/>
          <p:nvPr/>
        </p:nvSpPr>
        <p:spPr>
          <a:xfrm>
            <a:off x="7025640" y="5625485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8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Not selected — 410 / 500</a:t>
            </a:r>
            <a:endParaRPr lang="en-US" sz="1100" dirty="0"/>
          </a:p>
        </p:txBody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B31C9C8F-9F31-85B0-D8E6-DDF8C6FF451B}"/>
              </a:ext>
            </a:extLst>
          </p:cNvPr>
          <p:cNvSpPr/>
          <p:nvPr/>
        </p:nvSpPr>
        <p:spPr>
          <a:xfrm>
            <a:off x="624840" y="5899805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555 timer in monostable mode triggered by the comparator output, with NPN BJT drivers for LEDs and buzzer. Technically viable and simpler to time precisely, but relies on a dedicated timer IC rather than a fundamental RC circuit and comparator combination as required.</a:t>
            </a:r>
            <a:endParaRPr 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1990EE-F1D9-DFC3-CEA8-6D528BFC141B}"/>
              </a:ext>
            </a:extLst>
          </p:cNvPr>
          <p:cNvSpPr txBox="1"/>
          <p:nvPr/>
        </p:nvSpPr>
        <p:spPr>
          <a:xfrm>
            <a:off x="419100" y="875137"/>
            <a:ext cx="3363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Alternative Solutions:</a:t>
            </a:r>
          </a:p>
        </p:txBody>
      </p:sp>
    </p:spTree>
    <p:extLst>
      <p:ext uri="{BB962C8B-B14F-4D97-AF65-F5344CB8AC3E}">
        <p14:creationId xmlns:p14="http://schemas.microsoft.com/office/powerpoint/2010/main" val="817507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855259AA-92AA-2C75-F9B5-E5F0C3331E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948584"/>
              </p:ext>
            </p:extLst>
          </p:nvPr>
        </p:nvGraphicFramePr>
        <p:xfrm>
          <a:off x="469900" y="1644650"/>
          <a:ext cx="9525001" cy="4623815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1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9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605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 / 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Sol. A — Arduino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Sol. B — Fully Discrete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Sol. C — 555 Timer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5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(30%)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× 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× 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5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(25%)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× 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× 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5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(15%)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× 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× 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5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 (20%)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× 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× 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05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Environmental (10%)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×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×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05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460 ★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1571AAB-D5C8-9B3A-0295-1774333F7D32}"/>
              </a:ext>
            </a:extLst>
          </p:cNvPr>
          <p:cNvSpPr txBox="1"/>
          <p:nvPr/>
        </p:nvSpPr>
        <p:spPr>
          <a:xfrm>
            <a:off x="4888230" y="332232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6C05C8-266D-F590-3144-3A0C4F680116}"/>
              </a:ext>
            </a:extLst>
          </p:cNvPr>
          <p:cNvSpPr txBox="1"/>
          <p:nvPr/>
        </p:nvSpPr>
        <p:spPr>
          <a:xfrm>
            <a:off x="393700" y="730250"/>
            <a:ext cx="2561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Decision Matrix:</a:t>
            </a: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86450355-E4AA-F935-E445-876F6B981368}"/>
              </a:ext>
            </a:extLst>
          </p:cNvPr>
          <p:cNvSpPr/>
          <p:nvPr/>
        </p:nvSpPr>
        <p:spPr>
          <a:xfrm>
            <a:off x="1026160" y="665251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Solution B selected — highest score (460/500) and fully compliant with all project constraints.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976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4">
            <a:extLst>
              <a:ext uri="{FF2B5EF4-FFF2-40B4-BE49-F238E27FC236}">
                <a16:creationId xmlns:a16="http://schemas.microsoft.com/office/drawing/2014/main" id="{C195DCFB-DB02-223D-3CAA-F3C93BAA97D7}"/>
              </a:ext>
            </a:extLst>
          </p:cNvPr>
          <p:cNvSpPr/>
          <p:nvPr/>
        </p:nvSpPr>
        <p:spPr>
          <a:xfrm>
            <a:off x="469900" y="2178050"/>
            <a:ext cx="8412480" cy="115214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B152EEAB-78DD-C6B3-F022-B492FA0BC937}"/>
              </a:ext>
            </a:extLst>
          </p:cNvPr>
          <p:cNvSpPr/>
          <p:nvPr/>
        </p:nvSpPr>
        <p:spPr>
          <a:xfrm>
            <a:off x="652780" y="224205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— Sensor Stage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D3FDBCBE-0C4D-114F-F2B1-03D3A91E3E7F}"/>
              </a:ext>
            </a:extLst>
          </p:cNvPr>
          <p:cNvSpPr/>
          <p:nvPr/>
        </p:nvSpPr>
        <p:spPr>
          <a:xfrm>
            <a:off x="652780" y="254381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analog IR sensor mounted at each parking bay. When no vehicle is present the sensor output is HIGH (~9V). When a vehicle is detected the output drops LOW (~0V). A voltage divider (R3=10kΩ) conditions the signal before passing it to the processing stage.</a:t>
            </a:r>
            <a:endParaRPr lang="en-US" sz="1200" dirty="0"/>
          </a:p>
        </p:txBody>
      </p:sp>
      <p:sp>
        <p:nvSpPr>
          <p:cNvPr id="6" name="Shape 8">
            <a:extLst>
              <a:ext uri="{FF2B5EF4-FFF2-40B4-BE49-F238E27FC236}">
                <a16:creationId xmlns:a16="http://schemas.microsoft.com/office/drawing/2014/main" id="{957B2F41-454A-7B9B-10F1-62B00421F953}"/>
              </a:ext>
            </a:extLst>
          </p:cNvPr>
          <p:cNvSpPr/>
          <p:nvPr/>
        </p:nvSpPr>
        <p:spPr>
          <a:xfrm>
            <a:off x="469900" y="3669157"/>
            <a:ext cx="8412480" cy="115214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A182A55F-5890-1505-7076-B6E7EF99C743}"/>
              </a:ext>
            </a:extLst>
          </p:cNvPr>
          <p:cNvSpPr/>
          <p:nvPr/>
        </p:nvSpPr>
        <p:spPr>
          <a:xfrm>
            <a:off x="652780" y="373316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— Signal Conditioning &amp; Logic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20D6D8EA-C18D-AB84-A1E0-4909A7DA4E13}"/>
              </a:ext>
            </a:extLst>
          </p:cNvPr>
          <p:cNvSpPr/>
          <p:nvPr/>
        </p:nvSpPr>
        <p:spPr>
          <a:xfrm>
            <a:off x="652780" y="4034917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NPN BJT T10 (R16=R17=1kΩ) inverts the sensor signal and drives the Green LED.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UA741 Schmitt Trigger (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Vref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=1.184V, hysteresis ΔV=15mV) converts the analog signal to a clean digital HIGH/LOW.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RC Timer (R=100kΩ, C=100µF, τ=10s) measures occupancy duration — its output goes HIGH once Vcap reaches 5.67V.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CMOS AND Gate (T1, T2, T11, T12) combines the Schmitt trigger output and the RC timer output.</a:t>
            </a:r>
            <a:endParaRPr lang="en-US" sz="1200" dirty="0"/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7D523800-03E2-67B9-2A25-6A72030E9874}"/>
              </a:ext>
            </a:extLst>
          </p:cNvPr>
          <p:cNvSpPr/>
          <p:nvPr/>
        </p:nvSpPr>
        <p:spPr>
          <a:xfrm>
            <a:off x="469900" y="5160264"/>
            <a:ext cx="8412480" cy="115214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684CC040-46F0-DD88-0E63-A26CF53C17EE}"/>
              </a:ext>
            </a:extLst>
          </p:cNvPr>
          <p:cNvSpPr/>
          <p:nvPr/>
        </p:nvSpPr>
        <p:spPr>
          <a:xfrm>
            <a:off x="652780" y="52242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Indicators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662ADB20-2D08-495F-BA3E-EEEFA9C762BA}"/>
              </a:ext>
            </a:extLst>
          </p:cNvPr>
          <p:cNvSpPr/>
          <p:nvPr/>
        </p:nvSpPr>
        <p:spPr>
          <a:xfrm>
            <a:off x="652780" y="5526024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LED ON → space is free (comparator LOW, BJT T10 saturated).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LED ON → vehicle detected (comparator HIGH, MOSFET driver active, IRED=7mA).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ON → vehicle overstay &gt; 10s (AND gate output HIGH, N-MOSFET T13 switches buzzer). A flyback diode (1N4148) protects T13 from inductive kickback.</a:t>
            </a:r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6B4172-91AB-1AD6-2654-B3F78B5F31D5}"/>
              </a:ext>
            </a:extLst>
          </p:cNvPr>
          <p:cNvSpPr txBox="1"/>
          <p:nvPr/>
        </p:nvSpPr>
        <p:spPr>
          <a:xfrm>
            <a:off x="375920" y="806450"/>
            <a:ext cx="665919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Explanation — Input, Processing &amp; Output:</a:t>
            </a:r>
            <a:endParaRPr lang="en-US" sz="2400" b="1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211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56EEDE-00F6-A3E4-4C0E-76D74B0763C7}"/>
              </a:ext>
            </a:extLst>
          </p:cNvPr>
          <p:cNvSpPr txBox="1"/>
          <p:nvPr/>
        </p:nvSpPr>
        <p:spPr>
          <a:xfrm>
            <a:off x="469900" y="882650"/>
            <a:ext cx="393248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Diagram of the System:</a:t>
            </a:r>
            <a:endParaRPr lang="en-US" sz="24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E3E111-8C25-EA93-BA93-0BBE1A557B68}"/>
              </a:ext>
            </a:extLst>
          </p:cNvPr>
          <p:cNvSpPr/>
          <p:nvPr/>
        </p:nvSpPr>
        <p:spPr>
          <a:xfrm>
            <a:off x="1420867" y="1465845"/>
            <a:ext cx="7467599" cy="579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6CBE91-2054-D201-03E0-7EA566D53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700" y="1568450"/>
            <a:ext cx="7258154" cy="556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454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6">
            <a:extLst>
              <a:ext uri="{FF2B5EF4-FFF2-40B4-BE49-F238E27FC236}">
                <a16:creationId xmlns:a16="http://schemas.microsoft.com/office/drawing/2014/main" id="{F50387B9-C4A1-E192-1532-79286B50D562}"/>
              </a:ext>
            </a:extLst>
          </p:cNvPr>
          <p:cNvSpPr/>
          <p:nvPr/>
        </p:nvSpPr>
        <p:spPr>
          <a:xfrm>
            <a:off x="439338" y="154581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1 — No Vehicle Detected</a:t>
            </a:r>
            <a:endParaRPr lang="en-US" sz="1400" dirty="0"/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F77D4417-110C-CE76-F079-A9D9617FBDCE}"/>
              </a:ext>
            </a:extLst>
          </p:cNvPr>
          <p:cNvSpPr/>
          <p:nvPr/>
        </p:nvSpPr>
        <p:spPr>
          <a:xfrm>
            <a:off x="439338" y="185501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LED: 2.31V (ON)  |  Red LED: 0V (OFF)  |  Buzzer: 0V (OFF)</a:t>
            </a:r>
            <a:endParaRPr lang="en-US" sz="1200" dirty="0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BE86BF48-C9E8-CF4F-9D42-D77B558FADE5}"/>
              </a:ext>
            </a:extLst>
          </p:cNvPr>
          <p:cNvSpPr/>
          <p:nvPr/>
        </p:nvSpPr>
        <p:spPr>
          <a:xfrm>
            <a:off x="439338" y="2182506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output LOW → RC timer not charging → AND gate output LOW → Buzzer OFF. Green LED driven HIGH through T10.</a:t>
            </a:r>
            <a:endParaRPr 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6FB7177-A772-022E-6FCB-EAE93CB9C195}"/>
              </a:ext>
            </a:extLst>
          </p:cNvPr>
          <p:cNvSpPr txBox="1"/>
          <p:nvPr/>
        </p:nvSpPr>
        <p:spPr>
          <a:xfrm>
            <a:off x="469900" y="764286"/>
            <a:ext cx="434125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Results — </a:t>
            </a:r>
            <a:r>
              <a:rPr lang="en-US" sz="24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TinkerCad</a:t>
            </a: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24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E4B4F9-1A7E-AE85-D1A7-FD67EA912F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700" y="2844943"/>
            <a:ext cx="7543800" cy="399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756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3">
            <a:extLst>
              <a:ext uri="{FF2B5EF4-FFF2-40B4-BE49-F238E27FC236}">
                <a16:creationId xmlns:a16="http://schemas.microsoft.com/office/drawing/2014/main" id="{C5F8F0E2-EC5A-7C04-9106-EE8672174DB1}"/>
              </a:ext>
            </a:extLst>
          </p:cNvPr>
          <p:cNvSpPr/>
          <p:nvPr/>
        </p:nvSpPr>
        <p:spPr>
          <a:xfrm>
            <a:off x="261511" y="146469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2 — Vehicle Detected, Within Time Limit (&lt; 10s)</a:t>
            </a:r>
            <a:endParaRPr lang="en-US" sz="1400" dirty="0"/>
          </a:p>
        </p:txBody>
      </p:sp>
      <p:sp>
        <p:nvSpPr>
          <p:cNvPr id="6" name="Text 16">
            <a:extLst>
              <a:ext uri="{FF2B5EF4-FFF2-40B4-BE49-F238E27FC236}">
                <a16:creationId xmlns:a16="http://schemas.microsoft.com/office/drawing/2014/main" id="{BA3994BB-3426-F1E2-A4D1-F895CDF9BACD}"/>
              </a:ext>
            </a:extLst>
          </p:cNvPr>
          <p:cNvSpPr/>
          <p:nvPr/>
        </p:nvSpPr>
        <p:spPr>
          <a:xfrm>
            <a:off x="261511" y="177891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LED: 7.46V (ON)  |  Green LED: 7.27mV (OFF)  |  Buzzer: 0V (OFF)</a:t>
            </a:r>
            <a:endParaRPr lang="en-US" sz="1200" dirty="0"/>
          </a:p>
        </p:txBody>
      </p:sp>
      <p:sp>
        <p:nvSpPr>
          <p:cNvPr id="7" name="Text 17">
            <a:extLst>
              <a:ext uri="{FF2B5EF4-FFF2-40B4-BE49-F238E27FC236}">
                <a16:creationId xmlns:a16="http://schemas.microsoft.com/office/drawing/2014/main" id="{4BA5C0B3-A26A-B679-9F53-6C30ED23F4C2}"/>
              </a:ext>
            </a:extLst>
          </p:cNvPr>
          <p:cNvSpPr/>
          <p:nvPr/>
        </p:nvSpPr>
        <p:spPr>
          <a:xfrm>
            <a:off x="261511" y="2123917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HIGH → Red LED ON. RC capacitor still charging → timer output LOW → AND gate stays LOW → Buzzer OFF.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8DDF11-019D-8CF2-42B0-7678322FE1FC}"/>
              </a:ext>
            </a:extLst>
          </p:cNvPr>
          <p:cNvSpPr txBox="1"/>
          <p:nvPr/>
        </p:nvSpPr>
        <p:spPr>
          <a:xfrm>
            <a:off x="261511" y="764286"/>
            <a:ext cx="475803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Results (2) — </a:t>
            </a:r>
            <a:r>
              <a:rPr lang="en-US" sz="24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TinkerCad</a:t>
            </a: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24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38C745-C63D-5660-5ABA-51D99D3ECF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0" y="2711450"/>
            <a:ext cx="7722761" cy="417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342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0">
            <a:extLst>
              <a:ext uri="{FF2B5EF4-FFF2-40B4-BE49-F238E27FC236}">
                <a16:creationId xmlns:a16="http://schemas.microsoft.com/office/drawing/2014/main" id="{F7674EAD-8298-CBD3-C2E3-070DF1A44A4A}"/>
              </a:ext>
            </a:extLst>
          </p:cNvPr>
          <p:cNvSpPr/>
          <p:nvPr/>
        </p:nvSpPr>
        <p:spPr>
          <a:xfrm>
            <a:off x="469900" y="150295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3 — Vehicle Detected, Overstay (&gt; 10s)</a:t>
            </a:r>
            <a:endParaRPr lang="en-US" sz="1400" dirty="0"/>
          </a:p>
        </p:txBody>
      </p:sp>
      <p:sp>
        <p:nvSpPr>
          <p:cNvPr id="5" name="Text 23">
            <a:extLst>
              <a:ext uri="{FF2B5EF4-FFF2-40B4-BE49-F238E27FC236}">
                <a16:creationId xmlns:a16="http://schemas.microsoft.com/office/drawing/2014/main" id="{4D0B9548-D967-B5D6-DE2B-F71772EDA2E2}"/>
              </a:ext>
            </a:extLst>
          </p:cNvPr>
          <p:cNvSpPr/>
          <p:nvPr/>
        </p:nvSpPr>
        <p:spPr>
          <a:xfrm>
            <a:off x="472215" y="1868011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LED: 7.46V (ON)  |  Green LED: OFF  |  Buzzer: 2.01V (ON, audible)</a:t>
            </a:r>
            <a:endParaRPr lang="en-US" sz="1200" dirty="0"/>
          </a:p>
        </p:txBody>
      </p:sp>
      <p:sp>
        <p:nvSpPr>
          <p:cNvPr id="6" name="Text 24">
            <a:extLst>
              <a:ext uri="{FF2B5EF4-FFF2-40B4-BE49-F238E27FC236}">
                <a16:creationId xmlns:a16="http://schemas.microsoft.com/office/drawing/2014/main" id="{079BC95B-B85F-E4FD-9750-1439CFD3273B}"/>
              </a:ext>
            </a:extLst>
          </p:cNvPr>
          <p:cNvSpPr/>
          <p:nvPr/>
        </p:nvSpPr>
        <p:spPr>
          <a:xfrm>
            <a:off x="490404" y="224596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10s: Vcap=5.67V → timer HIGH. AND gate: both inputs HIGH → output HIGH → T13 ON → Buzzer activated. Matches truth table row 4.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E0FDD2-CA05-233E-DDF3-5D917BF1DF82}"/>
              </a:ext>
            </a:extLst>
          </p:cNvPr>
          <p:cNvSpPr txBox="1"/>
          <p:nvPr/>
        </p:nvSpPr>
        <p:spPr>
          <a:xfrm>
            <a:off x="261511" y="764286"/>
            <a:ext cx="475803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Results (3) — </a:t>
            </a:r>
            <a:r>
              <a:rPr lang="en-US" sz="24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TinkerCad</a:t>
            </a: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24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7F6DB9-85E1-4E49-2B60-AC0D7DB13F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0" y="2940050"/>
            <a:ext cx="7543800" cy="406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934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A3AFEB-7783-F351-6AF8-1895C1B35733}"/>
              </a:ext>
            </a:extLst>
          </p:cNvPr>
          <p:cNvSpPr txBox="1"/>
          <p:nvPr/>
        </p:nvSpPr>
        <p:spPr>
          <a:xfrm>
            <a:off x="622300" y="1187450"/>
            <a:ext cx="22172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Circuit Photo: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CBD386-B7E8-3930-CAD8-56BC3964B3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00" y="2254250"/>
            <a:ext cx="9697648" cy="433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461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4">
            <a:extLst>
              <a:ext uri="{FF2B5EF4-FFF2-40B4-BE49-F238E27FC236}">
                <a16:creationId xmlns:a16="http://schemas.microsoft.com/office/drawing/2014/main" id="{98D7224C-1E6E-EE03-FE57-FDA8F5B1D13F}"/>
              </a:ext>
            </a:extLst>
          </p:cNvPr>
          <p:cNvSpPr/>
          <p:nvPr/>
        </p:nvSpPr>
        <p:spPr>
          <a:xfrm>
            <a:off x="698500" y="2330450"/>
            <a:ext cx="8412480" cy="84124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23816424-878A-72E2-4583-ED4D44F10541}"/>
              </a:ext>
            </a:extLst>
          </p:cNvPr>
          <p:cNvSpPr/>
          <p:nvPr/>
        </p:nvSpPr>
        <p:spPr>
          <a:xfrm>
            <a:off x="881380" y="238531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Process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00F8D632-F802-B17B-8B0A-0BF07C489AC8}"/>
              </a:ext>
            </a:extLst>
          </p:cNvPr>
          <p:cNvSpPr/>
          <p:nvPr/>
        </p:nvSpPr>
        <p:spPr>
          <a:xfrm>
            <a:off x="881380" y="2641346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functional blocks were identified and designed independently: 9V power supply + 5V regulator, NPN BJT inverter, UA741 Schmitt trigger (Vref=1.184V, ΔV=15mV), RC timer (τ=10s), discrete CMOS AND gate, and N-MOSFET output driver. All blocks were designed using a block methodology and validated individually.</a:t>
            </a:r>
            <a:endParaRPr lang="en-US" sz="1200" dirty="0"/>
          </a:p>
        </p:txBody>
      </p:sp>
      <p:sp>
        <p:nvSpPr>
          <p:cNvPr id="6" name="Shape 8">
            <a:extLst>
              <a:ext uri="{FF2B5EF4-FFF2-40B4-BE49-F238E27FC236}">
                <a16:creationId xmlns:a16="http://schemas.microsoft.com/office/drawing/2014/main" id="{ACB9D486-9C3F-AE21-B717-992EABB2901E}"/>
              </a:ext>
            </a:extLst>
          </p:cNvPr>
          <p:cNvSpPr/>
          <p:nvPr/>
        </p:nvSpPr>
        <p:spPr>
          <a:xfrm>
            <a:off x="698500" y="3524885"/>
            <a:ext cx="84124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C1FA0945-01EC-3A5B-5C99-007FD5A5AF28}"/>
              </a:ext>
            </a:extLst>
          </p:cNvPr>
          <p:cNvSpPr/>
          <p:nvPr/>
        </p:nvSpPr>
        <p:spPr>
          <a:xfrm>
            <a:off x="881380" y="3579749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Outcome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BCE1D9F2-3200-75BD-C161-AE6C55CAD2E7}"/>
              </a:ext>
            </a:extLst>
          </p:cNvPr>
          <p:cNvSpPr/>
          <p:nvPr/>
        </p:nvSpPr>
        <p:spPr>
          <a:xfrm>
            <a:off x="881380" y="3835781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solutions were evaluated. Solution B (fully discrete) was selected with a weighted score of 460/500 — the highest. Solution A (Arduino, 240/500) was disqualified for using a microcontroller. Solution C (555 Timer, 410/500) was viable but relied on a dedicated timer IC rather than a fundamental RC circuit.</a:t>
            </a:r>
            <a:endParaRPr lang="en-US" sz="1200" dirty="0"/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58173B52-E802-85BF-5090-1AD117A2DEA0}"/>
              </a:ext>
            </a:extLst>
          </p:cNvPr>
          <p:cNvSpPr/>
          <p:nvPr/>
        </p:nvSpPr>
        <p:spPr>
          <a:xfrm>
            <a:off x="698500" y="4719320"/>
            <a:ext cx="8412480" cy="84124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2A45E655-4989-B19A-3E7A-2A5EB4B89FC6}"/>
              </a:ext>
            </a:extLst>
          </p:cNvPr>
          <p:cNvSpPr/>
          <p:nvPr/>
        </p:nvSpPr>
        <p:spPr>
          <a:xfrm>
            <a:off x="881380" y="477418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DA93BE5A-F03B-B9D6-6F70-660AEAF1182E}"/>
              </a:ext>
            </a:extLst>
          </p:cNvPr>
          <p:cNvSpPr/>
          <p:nvPr/>
        </p:nvSpPr>
        <p:spPr>
          <a:xfrm>
            <a:off x="881380" y="5030216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engineering requirements were met. Three TinkerCad simulation test cases confirmed correct operation: Green LED ON (no vehicle), Red LED ON (vehicle ≤10s), and Buzzer + Red LED ON (vehicle &gt;10s, Vcap=5.67V).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25340B-7B51-9398-C5EB-D270FA5A67C8}"/>
              </a:ext>
            </a:extLst>
          </p:cNvPr>
          <p:cNvSpPr txBox="1"/>
          <p:nvPr/>
        </p:nvSpPr>
        <p:spPr>
          <a:xfrm>
            <a:off x="698500" y="1158547"/>
            <a:ext cx="35894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Summary &amp; Outcomes:</a:t>
            </a:r>
          </a:p>
        </p:txBody>
      </p:sp>
      <p:sp>
        <p:nvSpPr>
          <p:cNvPr id="3" name="Shape 12">
            <a:extLst>
              <a:ext uri="{FF2B5EF4-FFF2-40B4-BE49-F238E27FC236}">
                <a16:creationId xmlns:a16="http://schemas.microsoft.com/office/drawing/2014/main" id="{AF95722D-C9C2-045D-3C9C-E4F5DC209BB8}"/>
              </a:ext>
            </a:extLst>
          </p:cNvPr>
          <p:cNvSpPr/>
          <p:nvPr/>
        </p:nvSpPr>
        <p:spPr>
          <a:xfrm>
            <a:off x="698500" y="5913755"/>
            <a:ext cx="8412480" cy="84124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14">
            <a:extLst>
              <a:ext uri="{FF2B5EF4-FFF2-40B4-BE49-F238E27FC236}">
                <a16:creationId xmlns:a16="http://schemas.microsoft.com/office/drawing/2014/main" id="{78C29968-9424-EBCA-B209-092B50ADB3F2}"/>
              </a:ext>
            </a:extLst>
          </p:cNvPr>
          <p:cNvSpPr/>
          <p:nvPr/>
        </p:nvSpPr>
        <p:spPr>
          <a:xfrm>
            <a:off x="881380" y="5968619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F9EB9449-5013-85BB-3312-EB3BA0F46CBF}"/>
              </a:ext>
            </a:extLst>
          </p:cNvPr>
          <p:cNvSpPr/>
          <p:nvPr/>
        </p:nvSpPr>
        <p:spPr>
          <a:xfrm>
            <a:off x="881380" y="6196281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RC timer circuit to 1 hour instead of 10 seconds and connect the circuit with a display to show the total number of free parking spots.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59666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326</TotalTime>
  <Words>1178</Words>
  <Application>Microsoft Office PowerPoint</Application>
  <PresentationFormat>Custom</PresentationFormat>
  <Paragraphs>124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Maen Takruri</dc:creator>
  <cp:lastModifiedBy>Jamal H A AlEleawah</cp:lastModifiedBy>
  <cp:revision>18</cp:revision>
  <dcterms:created xsi:type="dcterms:W3CDTF">2021-12-23T21:15:47Z</dcterms:created>
  <dcterms:modified xsi:type="dcterms:W3CDTF">2026-05-05T10:57:56Z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2022-01-10T00:00:00Z</vt:filetime>
  </property>
  <property fmtid="{D5CDD505-2E9C-101B-9397-08002B2CF9AE}" pid="3" name="LastSaved">
    <vt:filetime>2022-01-10T00:00:00Z</vt:filetime>
  </property>
</Properties>
</file>