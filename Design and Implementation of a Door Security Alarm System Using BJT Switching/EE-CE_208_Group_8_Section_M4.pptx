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364" r:id="rId3"/>
    <p:sldId id="371" r:id="rId4"/>
    <p:sldId id="352" r:id="rId5"/>
    <p:sldId id="353" r:id="rId6"/>
    <p:sldId id="367" r:id="rId7"/>
    <p:sldId id="354" r:id="rId8"/>
    <p:sldId id="355" r:id="rId9"/>
    <p:sldId id="356" r:id="rId10"/>
    <p:sldId id="372" r:id="rId11"/>
    <p:sldId id="373" r:id="rId12"/>
    <p:sldId id="359" r:id="rId13"/>
    <p:sldId id="358" r:id="rId14"/>
    <p:sldId id="362" r:id="rId15"/>
    <p:sldId id="363" r:id="rId16"/>
    <p:sldId id="35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228"/>
    <a:srgbClr val="6A1011"/>
    <a:srgbClr val="000066"/>
    <a:srgbClr val="0000FF"/>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5097" autoAdjust="0"/>
  </p:normalViewPr>
  <p:slideViewPr>
    <p:cSldViewPr snapToGrid="0">
      <p:cViewPr varScale="1">
        <p:scale>
          <a:sx n="158" d="100"/>
          <a:sy n="158" d="100"/>
        </p:scale>
        <p:origin x="150" y="300"/>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EE9BE8-1735-41D3-975C-7B88023006BC}" type="doc">
      <dgm:prSet loTypeId="urn:microsoft.com/office/officeart/2005/8/layout/vList5" loCatId="list" qsTypeId="urn:microsoft.com/office/officeart/2005/8/quickstyle/3d2" qsCatId="3D" csTypeId="urn:microsoft.com/office/officeart/2005/8/colors/colorful3" csCatId="colorful" phldr="1"/>
      <dgm:spPr/>
      <dgm:t>
        <a:bodyPr/>
        <a:lstStyle/>
        <a:p>
          <a:endParaRPr lang="en-US"/>
        </a:p>
      </dgm:t>
    </dgm:pt>
    <dgm:pt modelId="{CC4D19A4-84CD-407A-8F68-550485964FD9}">
      <dgm:prSet/>
      <dgm:spPr/>
      <dgm:t>
        <a:bodyPr/>
        <a:lstStyle/>
        <a:p>
          <a:r>
            <a:rPr lang="en-US" b="1" dirty="0"/>
            <a:t>Project Description</a:t>
          </a:r>
          <a:endParaRPr lang="en-US" dirty="0"/>
        </a:p>
      </dgm:t>
    </dgm:pt>
    <dgm:pt modelId="{E9DD15E5-641C-4645-9D02-FE12208E000A}" type="parTrans" cxnId="{4B28A797-ACA8-416F-8669-40C4185C48EA}">
      <dgm:prSet/>
      <dgm:spPr/>
      <dgm:t>
        <a:bodyPr/>
        <a:lstStyle/>
        <a:p>
          <a:endParaRPr lang="en-US"/>
        </a:p>
      </dgm:t>
    </dgm:pt>
    <dgm:pt modelId="{1F0A2164-1FBC-4CE0-8B5F-7115B506243C}" type="sibTrans" cxnId="{4B28A797-ACA8-416F-8669-40C4185C48EA}">
      <dgm:prSet/>
      <dgm:spPr/>
      <dgm:t>
        <a:bodyPr/>
        <a:lstStyle/>
        <a:p>
          <a:endParaRPr lang="en-US"/>
        </a:p>
      </dgm:t>
    </dgm:pt>
    <dgm:pt modelId="{13F61BAA-9085-43F1-9DE2-9DF2C5C7C697}">
      <dgm:prSet/>
      <dgm:spPr/>
      <dgm:t>
        <a:bodyPr/>
        <a:lstStyle/>
        <a:p>
          <a:r>
            <a:rPr lang="en-US" b="0" dirty="0"/>
            <a:t>The system is designed to monitor the state of a door using a magnetic reed switch.
When the door is closed, the magnet keeps the reed switch open, and the alarm remains OFF.
</a:t>
          </a:r>
          <a:r>
            <a:rPr lang="en-US" dirty="0"/>
            <a:t>When the door is opened, the magnet moves away, the reed switch </a:t>
          </a:r>
          <a:r>
            <a:rPr lang="en-US" b="0" dirty="0"/>
            <a:t>closes</a:t>
          </a:r>
          <a:r>
            <a:rPr lang="en-US" dirty="0"/>
            <a:t>, activating the alarm</a:t>
          </a:r>
          <a:r>
            <a:rPr lang="en-US" b="0" dirty="0"/>
            <a:t>.
This behavior ensures immediate detection of unauthorized access.</a:t>
          </a:r>
        </a:p>
      </dgm:t>
    </dgm:pt>
    <dgm:pt modelId="{72422E7A-1BC5-4A4A-BE32-214B98F48A66}" type="parTrans" cxnId="{B428EA72-D89D-4289-B158-382B7C613EF1}">
      <dgm:prSet/>
      <dgm:spPr/>
      <dgm:t>
        <a:bodyPr/>
        <a:lstStyle/>
        <a:p>
          <a:endParaRPr lang="en-US"/>
        </a:p>
      </dgm:t>
    </dgm:pt>
    <dgm:pt modelId="{012EE47A-DE4B-47FC-A704-CD0D1A8BD085}" type="sibTrans" cxnId="{B428EA72-D89D-4289-B158-382B7C613EF1}">
      <dgm:prSet/>
      <dgm:spPr/>
      <dgm:t>
        <a:bodyPr/>
        <a:lstStyle/>
        <a:p>
          <a:endParaRPr lang="en-US"/>
        </a:p>
      </dgm:t>
    </dgm:pt>
    <dgm:pt modelId="{2EBEDE4B-1612-4DA0-960B-BAC8E3BA8297}">
      <dgm:prSet/>
      <dgm:spPr/>
      <dgm:t>
        <a:bodyPr/>
        <a:lstStyle/>
        <a:p>
          <a:r>
            <a:rPr lang="en-US" b="1" dirty="0"/>
            <a:t>Applications</a:t>
          </a:r>
          <a:endParaRPr lang="en-US" dirty="0"/>
        </a:p>
      </dgm:t>
    </dgm:pt>
    <dgm:pt modelId="{AC049708-A924-47C5-918D-6A1E126171A3}" type="parTrans" cxnId="{C8449DA0-5287-49B4-A8B3-B88F30D4FEED}">
      <dgm:prSet/>
      <dgm:spPr/>
      <dgm:t>
        <a:bodyPr/>
        <a:lstStyle/>
        <a:p>
          <a:endParaRPr lang="en-US"/>
        </a:p>
      </dgm:t>
    </dgm:pt>
    <dgm:pt modelId="{869F3C32-F8E4-4A0B-98C0-5C997D8323B8}" type="sibTrans" cxnId="{C8449DA0-5287-49B4-A8B3-B88F30D4FEED}">
      <dgm:prSet/>
      <dgm:spPr/>
      <dgm:t>
        <a:bodyPr/>
        <a:lstStyle/>
        <a:p>
          <a:endParaRPr lang="en-US"/>
        </a:p>
      </dgm:t>
    </dgm:pt>
    <dgm:pt modelId="{AA27B23C-4EEB-44FA-A472-EA078AD25B06}">
      <dgm:prSet/>
      <dgm:spPr/>
      <dgm:t>
        <a:bodyPr/>
        <a:lstStyle/>
        <a:p>
          <a:r>
            <a:rPr lang="en-US" dirty="0"/>
            <a:t>Residential security systems for doors and windows
Office and commercial building access monitoring
Storage rooms and restricted areas protection
Basic intrusion detection systems
Integration into smart home security solutions</a:t>
          </a:r>
        </a:p>
      </dgm:t>
    </dgm:pt>
    <dgm:pt modelId="{31AC8BBA-BACD-4D86-B7ED-D97DE8497C7A}" type="parTrans" cxnId="{569E8626-D4F1-472D-B061-41C656416F15}">
      <dgm:prSet/>
      <dgm:spPr/>
      <dgm:t>
        <a:bodyPr/>
        <a:lstStyle/>
        <a:p>
          <a:endParaRPr lang="en-US"/>
        </a:p>
      </dgm:t>
    </dgm:pt>
    <dgm:pt modelId="{BD2A2301-B58F-4903-A03E-EE5F0D3708E1}" type="sibTrans" cxnId="{569E8626-D4F1-472D-B061-41C656416F15}">
      <dgm:prSet/>
      <dgm:spPr/>
      <dgm:t>
        <a:bodyPr/>
        <a:lstStyle/>
        <a:p>
          <a:endParaRPr lang="en-US"/>
        </a:p>
      </dgm:t>
    </dgm:pt>
    <dgm:pt modelId="{BE76E640-61DC-4F57-A3EE-4BBD9EC0644F}" type="pres">
      <dgm:prSet presAssocID="{66EE9BE8-1735-41D3-975C-7B88023006BC}" presName="Name0" presStyleCnt="0">
        <dgm:presLayoutVars>
          <dgm:dir/>
          <dgm:animLvl val="lvl"/>
          <dgm:resizeHandles val="exact"/>
        </dgm:presLayoutVars>
      </dgm:prSet>
      <dgm:spPr/>
    </dgm:pt>
    <dgm:pt modelId="{0715AAE6-E7E0-453C-928B-72035F070922}" type="pres">
      <dgm:prSet presAssocID="{CC4D19A4-84CD-407A-8F68-550485964FD9}" presName="linNode" presStyleCnt="0"/>
      <dgm:spPr/>
    </dgm:pt>
    <dgm:pt modelId="{42D15FFE-CDA4-4FB6-BDBF-996A069DD281}" type="pres">
      <dgm:prSet presAssocID="{CC4D19A4-84CD-407A-8F68-550485964FD9}" presName="parentText" presStyleLbl="node1" presStyleIdx="0" presStyleCnt="2">
        <dgm:presLayoutVars>
          <dgm:chMax val="1"/>
          <dgm:bulletEnabled val="1"/>
        </dgm:presLayoutVars>
      </dgm:prSet>
      <dgm:spPr/>
    </dgm:pt>
    <dgm:pt modelId="{CFA6EE09-6C2D-4597-8C22-F6043DF1CBA7}" type="pres">
      <dgm:prSet presAssocID="{CC4D19A4-84CD-407A-8F68-550485964FD9}" presName="descendantText" presStyleLbl="alignAccFollowNode1" presStyleIdx="0" presStyleCnt="2">
        <dgm:presLayoutVars>
          <dgm:bulletEnabled val="1"/>
        </dgm:presLayoutVars>
      </dgm:prSet>
      <dgm:spPr/>
    </dgm:pt>
    <dgm:pt modelId="{E92E8A9C-694D-4A5D-B868-D5767C7CBEE3}" type="pres">
      <dgm:prSet presAssocID="{1F0A2164-1FBC-4CE0-8B5F-7115B506243C}" presName="sp" presStyleCnt="0"/>
      <dgm:spPr/>
    </dgm:pt>
    <dgm:pt modelId="{B03DAE8F-25CC-473F-A258-F6B039B21563}" type="pres">
      <dgm:prSet presAssocID="{2EBEDE4B-1612-4DA0-960B-BAC8E3BA8297}" presName="linNode" presStyleCnt="0"/>
      <dgm:spPr/>
    </dgm:pt>
    <dgm:pt modelId="{A1CB9802-C513-4026-81AF-1E24E4F08A0E}" type="pres">
      <dgm:prSet presAssocID="{2EBEDE4B-1612-4DA0-960B-BAC8E3BA8297}" presName="parentText" presStyleLbl="node1" presStyleIdx="1" presStyleCnt="2">
        <dgm:presLayoutVars>
          <dgm:chMax val="1"/>
          <dgm:bulletEnabled val="1"/>
        </dgm:presLayoutVars>
      </dgm:prSet>
      <dgm:spPr/>
    </dgm:pt>
    <dgm:pt modelId="{A8E06CC0-939C-4C8D-80BE-A401804CA92E}" type="pres">
      <dgm:prSet presAssocID="{2EBEDE4B-1612-4DA0-960B-BAC8E3BA8297}" presName="descendantText" presStyleLbl="alignAccFollowNode1" presStyleIdx="1" presStyleCnt="2">
        <dgm:presLayoutVars>
          <dgm:bulletEnabled val="1"/>
        </dgm:presLayoutVars>
      </dgm:prSet>
      <dgm:spPr/>
    </dgm:pt>
  </dgm:ptLst>
  <dgm:cxnLst>
    <dgm:cxn modelId="{569E8626-D4F1-472D-B061-41C656416F15}" srcId="{2EBEDE4B-1612-4DA0-960B-BAC8E3BA8297}" destId="{AA27B23C-4EEB-44FA-A472-EA078AD25B06}" srcOrd="0" destOrd="0" parTransId="{31AC8BBA-BACD-4D86-B7ED-D97DE8497C7A}" sibTransId="{BD2A2301-B58F-4903-A03E-EE5F0D3708E1}"/>
    <dgm:cxn modelId="{15B2C64F-DC3B-415E-8DE0-ED849701244C}" type="presOf" srcId="{CC4D19A4-84CD-407A-8F68-550485964FD9}" destId="{42D15FFE-CDA4-4FB6-BDBF-996A069DD281}" srcOrd="0" destOrd="0" presId="urn:microsoft.com/office/officeart/2005/8/layout/vList5"/>
    <dgm:cxn modelId="{B428EA72-D89D-4289-B158-382B7C613EF1}" srcId="{CC4D19A4-84CD-407A-8F68-550485964FD9}" destId="{13F61BAA-9085-43F1-9DE2-9DF2C5C7C697}" srcOrd="0" destOrd="0" parTransId="{72422E7A-1BC5-4A4A-BE32-214B98F48A66}" sibTransId="{012EE47A-DE4B-47FC-A704-CD0D1A8BD085}"/>
    <dgm:cxn modelId="{B0E94197-4EAF-4B93-9D9F-1D083DF97D6F}" type="presOf" srcId="{AA27B23C-4EEB-44FA-A472-EA078AD25B06}" destId="{A8E06CC0-939C-4C8D-80BE-A401804CA92E}" srcOrd="0" destOrd="0" presId="urn:microsoft.com/office/officeart/2005/8/layout/vList5"/>
    <dgm:cxn modelId="{4B28A797-ACA8-416F-8669-40C4185C48EA}" srcId="{66EE9BE8-1735-41D3-975C-7B88023006BC}" destId="{CC4D19A4-84CD-407A-8F68-550485964FD9}" srcOrd="0" destOrd="0" parTransId="{E9DD15E5-641C-4645-9D02-FE12208E000A}" sibTransId="{1F0A2164-1FBC-4CE0-8B5F-7115B506243C}"/>
    <dgm:cxn modelId="{C8449DA0-5287-49B4-A8B3-B88F30D4FEED}" srcId="{66EE9BE8-1735-41D3-975C-7B88023006BC}" destId="{2EBEDE4B-1612-4DA0-960B-BAC8E3BA8297}" srcOrd="1" destOrd="0" parTransId="{AC049708-A924-47C5-918D-6A1E126171A3}" sibTransId="{869F3C32-F8E4-4A0B-98C0-5C997D8323B8}"/>
    <dgm:cxn modelId="{079932A7-C8B9-4330-83EC-92064E3A6D60}" type="presOf" srcId="{2EBEDE4B-1612-4DA0-960B-BAC8E3BA8297}" destId="{A1CB9802-C513-4026-81AF-1E24E4F08A0E}" srcOrd="0" destOrd="0" presId="urn:microsoft.com/office/officeart/2005/8/layout/vList5"/>
    <dgm:cxn modelId="{999EF5EA-ED00-4793-AA1D-B9C6D7D8E672}" type="presOf" srcId="{13F61BAA-9085-43F1-9DE2-9DF2C5C7C697}" destId="{CFA6EE09-6C2D-4597-8C22-F6043DF1CBA7}" srcOrd="0" destOrd="0" presId="urn:microsoft.com/office/officeart/2005/8/layout/vList5"/>
    <dgm:cxn modelId="{4F4274FC-7DEF-4F72-A38F-8017C61535C4}" type="presOf" srcId="{66EE9BE8-1735-41D3-975C-7B88023006BC}" destId="{BE76E640-61DC-4F57-A3EE-4BBD9EC0644F}" srcOrd="0" destOrd="0" presId="urn:microsoft.com/office/officeart/2005/8/layout/vList5"/>
    <dgm:cxn modelId="{31F263A5-6995-4F16-BB92-5D9728766A89}" type="presParOf" srcId="{BE76E640-61DC-4F57-A3EE-4BBD9EC0644F}" destId="{0715AAE6-E7E0-453C-928B-72035F070922}" srcOrd="0" destOrd="0" presId="urn:microsoft.com/office/officeart/2005/8/layout/vList5"/>
    <dgm:cxn modelId="{3FFAB37A-7F14-4AB0-865D-77B9D63CA32D}" type="presParOf" srcId="{0715AAE6-E7E0-453C-928B-72035F070922}" destId="{42D15FFE-CDA4-4FB6-BDBF-996A069DD281}" srcOrd="0" destOrd="0" presId="urn:microsoft.com/office/officeart/2005/8/layout/vList5"/>
    <dgm:cxn modelId="{2F4C8A31-07D0-4E79-8FB0-A9FCD00AF359}" type="presParOf" srcId="{0715AAE6-E7E0-453C-928B-72035F070922}" destId="{CFA6EE09-6C2D-4597-8C22-F6043DF1CBA7}" srcOrd="1" destOrd="0" presId="urn:microsoft.com/office/officeart/2005/8/layout/vList5"/>
    <dgm:cxn modelId="{3006BFAB-BDCB-4C1A-B296-3722FC7CD519}" type="presParOf" srcId="{BE76E640-61DC-4F57-A3EE-4BBD9EC0644F}" destId="{E92E8A9C-694D-4A5D-B868-D5767C7CBEE3}" srcOrd="1" destOrd="0" presId="urn:microsoft.com/office/officeart/2005/8/layout/vList5"/>
    <dgm:cxn modelId="{BE97A4E3-C4C4-419E-9E0A-FC048DA7F135}" type="presParOf" srcId="{BE76E640-61DC-4F57-A3EE-4BBD9EC0644F}" destId="{B03DAE8F-25CC-473F-A258-F6B039B21563}" srcOrd="2" destOrd="0" presId="urn:microsoft.com/office/officeart/2005/8/layout/vList5"/>
    <dgm:cxn modelId="{B9B7AD83-FC40-4032-874B-88B2E016D91F}" type="presParOf" srcId="{B03DAE8F-25CC-473F-A258-F6B039B21563}" destId="{A1CB9802-C513-4026-81AF-1E24E4F08A0E}" srcOrd="0" destOrd="0" presId="urn:microsoft.com/office/officeart/2005/8/layout/vList5"/>
    <dgm:cxn modelId="{546CD4F1-F909-43F2-B470-2593160D61C7}" type="presParOf" srcId="{B03DAE8F-25CC-473F-A258-F6B039B21563}" destId="{A8E06CC0-939C-4C8D-80BE-A401804CA92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1D5517-A0E2-4E00-886F-4EDBBA782207}" type="doc">
      <dgm:prSet loTypeId="urn:microsoft.com/office/officeart/2011/layout/TabList" loCatId="list" qsTypeId="urn:microsoft.com/office/officeart/2005/8/quickstyle/3d1" qsCatId="3D" csTypeId="urn:microsoft.com/office/officeart/2005/8/colors/colorful3" csCatId="colorful" phldr="1"/>
      <dgm:spPr/>
      <dgm:t>
        <a:bodyPr/>
        <a:lstStyle/>
        <a:p>
          <a:endParaRPr lang="en-US"/>
        </a:p>
      </dgm:t>
    </dgm:pt>
    <dgm:pt modelId="{482F5CF3-A8BE-4B83-8C3C-C0C3F8A08F4C}">
      <dgm:prSet/>
      <dgm:spPr/>
      <dgm:t>
        <a:bodyPr/>
        <a:lstStyle/>
        <a:p>
          <a:r>
            <a:rPr lang="en-US" b="1" dirty="0"/>
            <a:t>How it works</a:t>
          </a:r>
          <a:endParaRPr lang="en-US" dirty="0"/>
        </a:p>
      </dgm:t>
    </dgm:pt>
    <dgm:pt modelId="{E16369BB-C458-47D1-B676-A6F81092625A}" type="parTrans" cxnId="{01A779D4-975D-4A6B-A0AA-FADD088D21A9}">
      <dgm:prSet/>
      <dgm:spPr/>
      <dgm:t>
        <a:bodyPr/>
        <a:lstStyle/>
        <a:p>
          <a:endParaRPr lang="en-US"/>
        </a:p>
      </dgm:t>
    </dgm:pt>
    <dgm:pt modelId="{A546D273-5A71-4092-9AEF-A6B6306EE8B6}" type="sibTrans" cxnId="{01A779D4-975D-4A6B-A0AA-FADD088D21A9}">
      <dgm:prSet/>
      <dgm:spPr/>
      <dgm:t>
        <a:bodyPr/>
        <a:lstStyle/>
        <a:p>
          <a:endParaRPr lang="en-US"/>
        </a:p>
      </dgm:t>
    </dgm:pt>
    <dgm:pt modelId="{70B2500F-12BF-4B2C-8B92-3D05BF65BD23}">
      <dgm:prSet/>
      <dgm:spPr/>
      <dgm:t>
        <a:bodyPr/>
        <a:lstStyle/>
        <a:p>
          <a:r>
            <a:rPr lang="en-US" dirty="0"/>
            <a:t>When the reed switch is closed, base current flows into Q1, driving Q1 into saturation.
This results in a low collector voltage at Q1, turning Q2 OFF, alarm is OFF.
When the reed switch is open, Q1 enters cutoff.
The base of Q2 has drive, so Q2 turns ON, activating the alarm.</a:t>
          </a:r>
        </a:p>
      </dgm:t>
    </dgm:pt>
    <dgm:pt modelId="{3BE13B51-C5DC-4935-92CD-896DEE269F7E}" type="parTrans" cxnId="{86D814F1-67D6-4DBE-81FF-A1BFE39778FA}">
      <dgm:prSet/>
      <dgm:spPr/>
      <dgm:t>
        <a:bodyPr/>
        <a:lstStyle/>
        <a:p>
          <a:endParaRPr lang="en-US"/>
        </a:p>
      </dgm:t>
    </dgm:pt>
    <dgm:pt modelId="{43C2E2B9-137C-4083-AB57-99FA046A8DF8}" type="sibTrans" cxnId="{86D814F1-67D6-4DBE-81FF-A1BFE39778FA}">
      <dgm:prSet/>
      <dgm:spPr/>
      <dgm:t>
        <a:bodyPr/>
        <a:lstStyle/>
        <a:p>
          <a:endParaRPr lang="en-US"/>
        </a:p>
      </dgm:t>
    </dgm:pt>
    <dgm:pt modelId="{376C9F65-4E42-4A35-99CB-174ADD6F0B7F}">
      <dgm:prSet/>
      <dgm:spPr/>
      <dgm:t>
        <a:bodyPr/>
        <a:lstStyle/>
        <a:p>
          <a:r>
            <a:rPr lang="en-US" b="1" dirty="0"/>
            <a:t>Result</a:t>
          </a:r>
          <a:endParaRPr lang="en-US" dirty="0"/>
        </a:p>
      </dgm:t>
    </dgm:pt>
    <dgm:pt modelId="{FD4A7AA2-1EE3-4F8A-A996-DF5B13109100}" type="parTrans" cxnId="{BCEC8072-B7C7-40E9-9FAB-B27F83DB3C13}">
      <dgm:prSet/>
      <dgm:spPr/>
      <dgm:t>
        <a:bodyPr/>
        <a:lstStyle/>
        <a:p>
          <a:endParaRPr lang="en-US"/>
        </a:p>
      </dgm:t>
    </dgm:pt>
    <dgm:pt modelId="{58D61B55-CFC7-43F9-8237-D95F7FF4E32E}" type="sibTrans" cxnId="{BCEC8072-B7C7-40E9-9FAB-B27F83DB3C13}">
      <dgm:prSet/>
      <dgm:spPr/>
      <dgm:t>
        <a:bodyPr/>
        <a:lstStyle/>
        <a:p>
          <a:endParaRPr lang="en-US"/>
        </a:p>
      </dgm:t>
    </dgm:pt>
    <dgm:pt modelId="{187AB477-08DD-4364-9824-3EBB017224DE}">
      <dgm:prSet/>
      <dgm:spPr/>
      <dgm:t>
        <a:bodyPr/>
        <a:lstStyle/>
        <a:p>
          <a:endParaRPr lang="en-US" dirty="0"/>
        </a:p>
      </dgm:t>
    </dgm:pt>
    <dgm:pt modelId="{18A276AC-CD29-4F33-A095-0082AEE56446}" type="parTrans" cxnId="{872FC468-23F0-42BF-9BCC-504A6D3D4FDB}">
      <dgm:prSet/>
      <dgm:spPr/>
      <dgm:t>
        <a:bodyPr/>
        <a:lstStyle/>
        <a:p>
          <a:endParaRPr lang="en-US"/>
        </a:p>
      </dgm:t>
    </dgm:pt>
    <dgm:pt modelId="{986687E4-4A90-46B0-8922-5102C51C9D7E}" type="sibTrans" cxnId="{872FC468-23F0-42BF-9BCC-504A6D3D4FDB}">
      <dgm:prSet/>
      <dgm:spPr/>
      <dgm:t>
        <a:bodyPr/>
        <a:lstStyle/>
        <a:p>
          <a:endParaRPr lang="en-US"/>
        </a:p>
      </dgm:t>
    </dgm:pt>
    <dgm:pt modelId="{7F69B2B6-9029-42FE-9A44-050E6FDE49D4}" type="pres">
      <dgm:prSet presAssocID="{D11D5517-A0E2-4E00-886F-4EDBBA782207}" presName="Name0" presStyleCnt="0">
        <dgm:presLayoutVars>
          <dgm:chMax/>
          <dgm:chPref val="3"/>
          <dgm:dir/>
          <dgm:animOne val="branch"/>
          <dgm:animLvl val="lvl"/>
        </dgm:presLayoutVars>
      </dgm:prSet>
      <dgm:spPr/>
    </dgm:pt>
    <dgm:pt modelId="{36DBF36F-AC0C-433C-A3C3-F3F422DC54D0}" type="pres">
      <dgm:prSet presAssocID="{482F5CF3-A8BE-4B83-8C3C-C0C3F8A08F4C}" presName="composite" presStyleCnt="0"/>
      <dgm:spPr/>
    </dgm:pt>
    <dgm:pt modelId="{40C83E7F-74EB-40E3-87DB-0E97752C606A}" type="pres">
      <dgm:prSet presAssocID="{482F5CF3-A8BE-4B83-8C3C-C0C3F8A08F4C}" presName="FirstChild" presStyleLbl="revTx" presStyleIdx="0" presStyleCnt="2">
        <dgm:presLayoutVars>
          <dgm:chMax val="0"/>
          <dgm:chPref val="0"/>
          <dgm:bulletEnabled val="1"/>
        </dgm:presLayoutVars>
      </dgm:prSet>
      <dgm:spPr/>
    </dgm:pt>
    <dgm:pt modelId="{F89D2538-C2F8-4F9C-8A3F-781C7683ABE3}" type="pres">
      <dgm:prSet presAssocID="{482F5CF3-A8BE-4B83-8C3C-C0C3F8A08F4C}" presName="Parent" presStyleLbl="alignNode1" presStyleIdx="0" presStyleCnt="2">
        <dgm:presLayoutVars>
          <dgm:chMax val="3"/>
          <dgm:chPref val="3"/>
          <dgm:bulletEnabled val="1"/>
        </dgm:presLayoutVars>
      </dgm:prSet>
      <dgm:spPr/>
    </dgm:pt>
    <dgm:pt modelId="{FFB884C6-5145-4B7B-8C1C-6876BC176BC3}" type="pres">
      <dgm:prSet presAssocID="{482F5CF3-A8BE-4B83-8C3C-C0C3F8A08F4C}" presName="Accent" presStyleLbl="parChTrans1D1" presStyleIdx="0" presStyleCnt="2"/>
      <dgm:spPr/>
    </dgm:pt>
    <dgm:pt modelId="{8312F0FF-A087-4495-B5A5-745B4B72CDC9}" type="pres">
      <dgm:prSet presAssocID="{A546D273-5A71-4092-9AEF-A6B6306EE8B6}" presName="sibTrans" presStyleCnt="0"/>
      <dgm:spPr/>
    </dgm:pt>
    <dgm:pt modelId="{903F23FF-C1DB-4DE1-833E-4E17D8BC5716}" type="pres">
      <dgm:prSet presAssocID="{376C9F65-4E42-4A35-99CB-174ADD6F0B7F}" presName="composite" presStyleCnt="0"/>
      <dgm:spPr/>
    </dgm:pt>
    <dgm:pt modelId="{E3274255-A2F0-42C0-807C-60599F0657B9}" type="pres">
      <dgm:prSet presAssocID="{376C9F65-4E42-4A35-99CB-174ADD6F0B7F}" presName="FirstChild" presStyleLbl="revTx" presStyleIdx="1" presStyleCnt="2">
        <dgm:presLayoutVars>
          <dgm:chMax val="0"/>
          <dgm:chPref val="0"/>
          <dgm:bulletEnabled val="1"/>
        </dgm:presLayoutVars>
      </dgm:prSet>
      <dgm:spPr/>
    </dgm:pt>
    <dgm:pt modelId="{DEDF208F-50AF-4F2A-8AF2-BF42D1821C0A}" type="pres">
      <dgm:prSet presAssocID="{376C9F65-4E42-4A35-99CB-174ADD6F0B7F}" presName="Parent" presStyleLbl="alignNode1" presStyleIdx="1" presStyleCnt="2">
        <dgm:presLayoutVars>
          <dgm:chMax val="3"/>
          <dgm:chPref val="3"/>
          <dgm:bulletEnabled val="1"/>
        </dgm:presLayoutVars>
      </dgm:prSet>
      <dgm:spPr/>
    </dgm:pt>
    <dgm:pt modelId="{7F3A9A6A-6C94-4A27-8CC2-14113387A407}" type="pres">
      <dgm:prSet presAssocID="{376C9F65-4E42-4A35-99CB-174ADD6F0B7F}" presName="Accent" presStyleLbl="parChTrans1D1" presStyleIdx="1" presStyleCnt="2"/>
      <dgm:spPr/>
    </dgm:pt>
  </dgm:ptLst>
  <dgm:cxnLst>
    <dgm:cxn modelId="{B3C97604-F6EA-446C-9B24-6759DBF70E5A}" type="presOf" srcId="{376C9F65-4E42-4A35-99CB-174ADD6F0B7F}" destId="{DEDF208F-50AF-4F2A-8AF2-BF42D1821C0A}" srcOrd="0" destOrd="0" presId="urn:microsoft.com/office/officeart/2011/layout/TabList"/>
    <dgm:cxn modelId="{B29A5012-2336-4137-9550-174247D3F496}" type="presOf" srcId="{70B2500F-12BF-4B2C-8B92-3D05BF65BD23}" destId="{40C83E7F-74EB-40E3-87DB-0E97752C606A}" srcOrd="0" destOrd="0" presId="urn:microsoft.com/office/officeart/2011/layout/TabList"/>
    <dgm:cxn modelId="{E628E238-8B56-4369-8DD4-8EAD7E504877}" type="presOf" srcId="{D11D5517-A0E2-4E00-886F-4EDBBA782207}" destId="{7F69B2B6-9029-42FE-9A44-050E6FDE49D4}" srcOrd="0" destOrd="0" presId="urn:microsoft.com/office/officeart/2011/layout/TabList"/>
    <dgm:cxn modelId="{98BCB839-0A8E-4358-B0A0-6DE9E5E1757B}" type="presOf" srcId="{187AB477-08DD-4364-9824-3EBB017224DE}" destId="{E3274255-A2F0-42C0-807C-60599F0657B9}" srcOrd="0" destOrd="0" presId="urn:microsoft.com/office/officeart/2011/layout/TabList"/>
    <dgm:cxn modelId="{872FC468-23F0-42BF-9BCC-504A6D3D4FDB}" srcId="{376C9F65-4E42-4A35-99CB-174ADD6F0B7F}" destId="{187AB477-08DD-4364-9824-3EBB017224DE}" srcOrd="0" destOrd="0" parTransId="{18A276AC-CD29-4F33-A095-0082AEE56446}" sibTransId="{986687E4-4A90-46B0-8922-5102C51C9D7E}"/>
    <dgm:cxn modelId="{4D9CBB4F-51B8-40BD-BE83-F3BBFDA4D599}" type="presOf" srcId="{482F5CF3-A8BE-4B83-8C3C-C0C3F8A08F4C}" destId="{F89D2538-C2F8-4F9C-8A3F-781C7683ABE3}" srcOrd="0" destOrd="0" presId="urn:microsoft.com/office/officeart/2011/layout/TabList"/>
    <dgm:cxn modelId="{BCEC8072-B7C7-40E9-9FAB-B27F83DB3C13}" srcId="{D11D5517-A0E2-4E00-886F-4EDBBA782207}" destId="{376C9F65-4E42-4A35-99CB-174ADD6F0B7F}" srcOrd="1" destOrd="0" parTransId="{FD4A7AA2-1EE3-4F8A-A996-DF5B13109100}" sibTransId="{58D61B55-CFC7-43F9-8237-D95F7FF4E32E}"/>
    <dgm:cxn modelId="{01A779D4-975D-4A6B-A0AA-FADD088D21A9}" srcId="{D11D5517-A0E2-4E00-886F-4EDBBA782207}" destId="{482F5CF3-A8BE-4B83-8C3C-C0C3F8A08F4C}" srcOrd="0" destOrd="0" parTransId="{E16369BB-C458-47D1-B676-A6F81092625A}" sibTransId="{A546D273-5A71-4092-9AEF-A6B6306EE8B6}"/>
    <dgm:cxn modelId="{86D814F1-67D6-4DBE-81FF-A1BFE39778FA}" srcId="{482F5CF3-A8BE-4B83-8C3C-C0C3F8A08F4C}" destId="{70B2500F-12BF-4B2C-8B92-3D05BF65BD23}" srcOrd="0" destOrd="0" parTransId="{3BE13B51-C5DC-4935-92CD-896DEE269F7E}" sibTransId="{43C2E2B9-137C-4083-AB57-99FA046A8DF8}"/>
    <dgm:cxn modelId="{A59C421E-D985-459C-A01F-BDCCEDDF553E}" type="presParOf" srcId="{7F69B2B6-9029-42FE-9A44-050E6FDE49D4}" destId="{36DBF36F-AC0C-433C-A3C3-F3F422DC54D0}" srcOrd="0" destOrd="0" presId="urn:microsoft.com/office/officeart/2011/layout/TabList"/>
    <dgm:cxn modelId="{867CE734-D624-41E7-A476-A6024BC75033}" type="presParOf" srcId="{36DBF36F-AC0C-433C-A3C3-F3F422DC54D0}" destId="{40C83E7F-74EB-40E3-87DB-0E97752C606A}" srcOrd="0" destOrd="0" presId="urn:microsoft.com/office/officeart/2011/layout/TabList"/>
    <dgm:cxn modelId="{F4F2B0D3-6C80-4485-BE06-A50AC4BDF7DE}" type="presParOf" srcId="{36DBF36F-AC0C-433C-A3C3-F3F422DC54D0}" destId="{F89D2538-C2F8-4F9C-8A3F-781C7683ABE3}" srcOrd="1" destOrd="0" presId="urn:microsoft.com/office/officeart/2011/layout/TabList"/>
    <dgm:cxn modelId="{B8B1C6CF-D2B5-4D35-BC3D-864251BD4A44}" type="presParOf" srcId="{36DBF36F-AC0C-433C-A3C3-F3F422DC54D0}" destId="{FFB884C6-5145-4B7B-8C1C-6876BC176BC3}" srcOrd="2" destOrd="0" presId="urn:microsoft.com/office/officeart/2011/layout/TabList"/>
    <dgm:cxn modelId="{DF651CAE-D670-444D-8D6C-092580E0C86E}" type="presParOf" srcId="{7F69B2B6-9029-42FE-9A44-050E6FDE49D4}" destId="{8312F0FF-A087-4495-B5A5-745B4B72CDC9}" srcOrd="1" destOrd="0" presId="urn:microsoft.com/office/officeart/2011/layout/TabList"/>
    <dgm:cxn modelId="{F2313198-2BF4-4B65-8B65-884CB6739211}" type="presParOf" srcId="{7F69B2B6-9029-42FE-9A44-050E6FDE49D4}" destId="{903F23FF-C1DB-4DE1-833E-4E17D8BC5716}" srcOrd="2" destOrd="0" presId="urn:microsoft.com/office/officeart/2011/layout/TabList"/>
    <dgm:cxn modelId="{1B5EDA36-772B-4B12-8616-5CA3A4B78FAB}" type="presParOf" srcId="{903F23FF-C1DB-4DE1-833E-4E17D8BC5716}" destId="{E3274255-A2F0-42C0-807C-60599F0657B9}" srcOrd="0" destOrd="0" presId="urn:microsoft.com/office/officeart/2011/layout/TabList"/>
    <dgm:cxn modelId="{1EA6D17F-9971-45EE-A11B-496C273D94A4}" type="presParOf" srcId="{903F23FF-C1DB-4DE1-833E-4E17D8BC5716}" destId="{DEDF208F-50AF-4F2A-8AF2-BF42D1821C0A}" srcOrd="1" destOrd="0" presId="urn:microsoft.com/office/officeart/2011/layout/TabList"/>
    <dgm:cxn modelId="{C8217EA0-E47A-48AC-9479-344E93A8321B}" type="presParOf" srcId="{903F23FF-C1DB-4DE1-833E-4E17D8BC5716}" destId="{7F3A9A6A-6C94-4A27-8CC2-14113387A407}"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1699B5-04F6-4BA2-B126-7E184D201BCA}" type="doc">
      <dgm:prSet loTypeId="urn:microsoft.com/office/officeart/2005/8/layout/process4" loCatId="list" qsTypeId="urn:microsoft.com/office/officeart/2005/8/quickstyle/simple1" qsCatId="simple" csTypeId="urn:microsoft.com/office/officeart/2005/8/colors/accent1_2" csCatId="accent1"/>
      <dgm:spPr/>
      <dgm:t>
        <a:bodyPr/>
        <a:lstStyle/>
        <a:p>
          <a:endParaRPr lang="en-US"/>
        </a:p>
      </dgm:t>
    </dgm:pt>
    <dgm:pt modelId="{F41813E4-A90D-46F5-BFC0-6A6415D25A5A}">
      <dgm:prSet/>
      <dgm:spPr/>
      <dgm:t>
        <a:bodyPr/>
        <a:lstStyle/>
        <a:p>
          <a:r>
            <a:rPr lang="en-US"/>
            <a:t>Door / Magnetic Field</a:t>
          </a:r>
        </a:p>
      </dgm:t>
    </dgm:pt>
    <dgm:pt modelId="{8AB06387-31EC-4647-90CC-0CE9BD29B94E}" type="parTrans" cxnId="{CB630A87-5C9D-4B82-B64B-25AA26BE91CF}">
      <dgm:prSet/>
      <dgm:spPr/>
      <dgm:t>
        <a:bodyPr/>
        <a:lstStyle/>
        <a:p>
          <a:endParaRPr lang="en-US"/>
        </a:p>
      </dgm:t>
    </dgm:pt>
    <dgm:pt modelId="{4B6AA471-C746-439C-B3C8-FF825B1A49E7}" type="sibTrans" cxnId="{CB630A87-5C9D-4B82-B64B-25AA26BE91CF}">
      <dgm:prSet/>
      <dgm:spPr/>
      <dgm:t>
        <a:bodyPr/>
        <a:lstStyle/>
        <a:p>
          <a:endParaRPr lang="en-US"/>
        </a:p>
      </dgm:t>
    </dgm:pt>
    <dgm:pt modelId="{C0884289-DCE7-4D1E-A648-E46C72AB4AC0}">
      <dgm:prSet/>
      <dgm:spPr/>
      <dgm:t>
        <a:bodyPr/>
        <a:lstStyle/>
        <a:p>
          <a:r>
            <a:rPr lang="en-US"/>
            <a:t>Reed Switch (Sensor) </a:t>
          </a:r>
        </a:p>
      </dgm:t>
    </dgm:pt>
    <dgm:pt modelId="{F1B88B8C-81BC-4212-9BFE-C48A8525B2EA}" type="parTrans" cxnId="{A3334F8F-4F12-46D3-8B9E-367601F90748}">
      <dgm:prSet/>
      <dgm:spPr/>
      <dgm:t>
        <a:bodyPr/>
        <a:lstStyle/>
        <a:p>
          <a:endParaRPr lang="en-US"/>
        </a:p>
      </dgm:t>
    </dgm:pt>
    <dgm:pt modelId="{4624AA72-7453-4966-B0FA-DCEB7D5DA9E9}" type="sibTrans" cxnId="{A3334F8F-4F12-46D3-8B9E-367601F90748}">
      <dgm:prSet/>
      <dgm:spPr/>
      <dgm:t>
        <a:bodyPr/>
        <a:lstStyle/>
        <a:p>
          <a:endParaRPr lang="en-US"/>
        </a:p>
      </dgm:t>
    </dgm:pt>
    <dgm:pt modelId="{C824F49D-A9DA-421B-8562-773662DBC8A7}">
      <dgm:prSet/>
      <dgm:spPr/>
      <dgm:t>
        <a:bodyPr/>
        <a:lstStyle/>
        <a:p>
          <a:r>
            <a:rPr lang="en-US"/>
            <a:t>Signal Control (Q2) </a:t>
          </a:r>
        </a:p>
      </dgm:t>
    </dgm:pt>
    <dgm:pt modelId="{E7D0677E-631B-4D2C-AC46-AFC053283E7D}" type="parTrans" cxnId="{81816ABE-60F6-4D67-A05F-09EB2848948C}">
      <dgm:prSet/>
      <dgm:spPr/>
      <dgm:t>
        <a:bodyPr/>
        <a:lstStyle/>
        <a:p>
          <a:endParaRPr lang="en-US"/>
        </a:p>
      </dgm:t>
    </dgm:pt>
    <dgm:pt modelId="{D97D3E6A-2A54-4B8E-82A0-86FC3A718582}" type="sibTrans" cxnId="{81816ABE-60F6-4D67-A05F-09EB2848948C}">
      <dgm:prSet/>
      <dgm:spPr/>
      <dgm:t>
        <a:bodyPr/>
        <a:lstStyle/>
        <a:p>
          <a:endParaRPr lang="en-US"/>
        </a:p>
      </dgm:t>
    </dgm:pt>
    <dgm:pt modelId="{94FD5212-2EEB-4DB7-86BB-2DD9F7C1DFBE}">
      <dgm:prSet/>
      <dgm:spPr/>
      <dgm:t>
        <a:bodyPr/>
        <a:lstStyle/>
        <a:p>
          <a:r>
            <a:rPr lang="en-US"/>
            <a:t>Power Driver (Q1) </a:t>
          </a:r>
        </a:p>
      </dgm:t>
    </dgm:pt>
    <dgm:pt modelId="{04720472-25BB-4011-A7C8-8C1E0D6BCD07}" type="parTrans" cxnId="{C0AA33E9-732B-47FD-9180-3958CDCAB308}">
      <dgm:prSet/>
      <dgm:spPr/>
      <dgm:t>
        <a:bodyPr/>
        <a:lstStyle/>
        <a:p>
          <a:endParaRPr lang="en-US"/>
        </a:p>
      </dgm:t>
    </dgm:pt>
    <dgm:pt modelId="{B7A3E477-6EDA-490D-B441-B1124C5226D7}" type="sibTrans" cxnId="{C0AA33E9-732B-47FD-9180-3958CDCAB308}">
      <dgm:prSet/>
      <dgm:spPr/>
      <dgm:t>
        <a:bodyPr/>
        <a:lstStyle/>
        <a:p>
          <a:endParaRPr lang="en-US"/>
        </a:p>
      </dgm:t>
    </dgm:pt>
    <dgm:pt modelId="{0C2AA3E2-C2BA-4672-A2AA-62958A5142A1}">
      <dgm:prSet/>
      <dgm:spPr/>
      <dgm:t>
        <a:bodyPr/>
        <a:lstStyle/>
        <a:p>
          <a:r>
            <a:rPr lang="en-US"/>
            <a:t>Output (Buzzer + LED)</a:t>
          </a:r>
        </a:p>
      </dgm:t>
    </dgm:pt>
    <dgm:pt modelId="{6A9EC99F-9D38-48FE-A4CE-C36C56C36DB7}" type="parTrans" cxnId="{4F4FF716-D1C6-47B9-AFDE-98746C858753}">
      <dgm:prSet/>
      <dgm:spPr/>
      <dgm:t>
        <a:bodyPr/>
        <a:lstStyle/>
        <a:p>
          <a:endParaRPr lang="en-US"/>
        </a:p>
      </dgm:t>
    </dgm:pt>
    <dgm:pt modelId="{F80187D7-FE7C-49DB-A91F-4A4A6B4C7DDA}" type="sibTrans" cxnId="{4F4FF716-D1C6-47B9-AFDE-98746C858753}">
      <dgm:prSet/>
      <dgm:spPr/>
      <dgm:t>
        <a:bodyPr/>
        <a:lstStyle/>
        <a:p>
          <a:endParaRPr lang="en-US"/>
        </a:p>
      </dgm:t>
    </dgm:pt>
    <dgm:pt modelId="{B7D1144F-815D-46CA-A774-A8C3FA9354F7}" type="pres">
      <dgm:prSet presAssocID="{CA1699B5-04F6-4BA2-B126-7E184D201BCA}" presName="Name0" presStyleCnt="0">
        <dgm:presLayoutVars>
          <dgm:dir/>
          <dgm:animLvl val="lvl"/>
          <dgm:resizeHandles val="exact"/>
        </dgm:presLayoutVars>
      </dgm:prSet>
      <dgm:spPr/>
    </dgm:pt>
    <dgm:pt modelId="{2ED99668-E6B5-4101-82F4-2E6467DAA7B5}" type="pres">
      <dgm:prSet presAssocID="{0C2AA3E2-C2BA-4672-A2AA-62958A5142A1}" presName="boxAndChildren" presStyleCnt="0"/>
      <dgm:spPr/>
    </dgm:pt>
    <dgm:pt modelId="{7773B423-5FFC-4705-9DBE-23136024D63B}" type="pres">
      <dgm:prSet presAssocID="{0C2AA3E2-C2BA-4672-A2AA-62958A5142A1}" presName="parentTextBox" presStyleLbl="node1" presStyleIdx="0" presStyleCnt="5"/>
      <dgm:spPr/>
    </dgm:pt>
    <dgm:pt modelId="{3187ADF4-AC55-49A6-A54D-C0F348C7BF9A}" type="pres">
      <dgm:prSet presAssocID="{B7A3E477-6EDA-490D-B441-B1124C5226D7}" presName="sp" presStyleCnt="0"/>
      <dgm:spPr/>
    </dgm:pt>
    <dgm:pt modelId="{E6A8486D-F7B3-49AA-96D1-73C34F463447}" type="pres">
      <dgm:prSet presAssocID="{94FD5212-2EEB-4DB7-86BB-2DD9F7C1DFBE}" presName="arrowAndChildren" presStyleCnt="0"/>
      <dgm:spPr/>
    </dgm:pt>
    <dgm:pt modelId="{F7CFF731-897A-4487-B47A-DBACB2F41EC2}" type="pres">
      <dgm:prSet presAssocID="{94FD5212-2EEB-4DB7-86BB-2DD9F7C1DFBE}" presName="parentTextArrow" presStyleLbl="node1" presStyleIdx="1" presStyleCnt="5"/>
      <dgm:spPr/>
    </dgm:pt>
    <dgm:pt modelId="{2E3B3318-3471-4007-A5E9-FC708F408AFE}" type="pres">
      <dgm:prSet presAssocID="{D97D3E6A-2A54-4B8E-82A0-86FC3A718582}" presName="sp" presStyleCnt="0"/>
      <dgm:spPr/>
    </dgm:pt>
    <dgm:pt modelId="{450B00E1-3BC3-4A15-AB15-F5F521DE3CC0}" type="pres">
      <dgm:prSet presAssocID="{C824F49D-A9DA-421B-8562-773662DBC8A7}" presName="arrowAndChildren" presStyleCnt="0"/>
      <dgm:spPr/>
    </dgm:pt>
    <dgm:pt modelId="{14C2B90B-C14A-4BD2-8B67-C119D1A66ED8}" type="pres">
      <dgm:prSet presAssocID="{C824F49D-A9DA-421B-8562-773662DBC8A7}" presName="parentTextArrow" presStyleLbl="node1" presStyleIdx="2" presStyleCnt="5"/>
      <dgm:spPr/>
    </dgm:pt>
    <dgm:pt modelId="{BCFF18AD-BEC6-4635-84F7-BB5D3F9A006A}" type="pres">
      <dgm:prSet presAssocID="{4624AA72-7453-4966-B0FA-DCEB7D5DA9E9}" presName="sp" presStyleCnt="0"/>
      <dgm:spPr/>
    </dgm:pt>
    <dgm:pt modelId="{BEBA885C-E703-4C00-86A5-876CF75BEAF4}" type="pres">
      <dgm:prSet presAssocID="{C0884289-DCE7-4D1E-A648-E46C72AB4AC0}" presName="arrowAndChildren" presStyleCnt="0"/>
      <dgm:spPr/>
    </dgm:pt>
    <dgm:pt modelId="{EF27BF7F-B8F0-496D-8DA3-858F32546B30}" type="pres">
      <dgm:prSet presAssocID="{C0884289-DCE7-4D1E-A648-E46C72AB4AC0}" presName="parentTextArrow" presStyleLbl="node1" presStyleIdx="3" presStyleCnt="5"/>
      <dgm:spPr/>
    </dgm:pt>
    <dgm:pt modelId="{4E137104-3E71-4A38-A666-BA2C6A613A12}" type="pres">
      <dgm:prSet presAssocID="{4B6AA471-C746-439C-B3C8-FF825B1A49E7}" presName="sp" presStyleCnt="0"/>
      <dgm:spPr/>
    </dgm:pt>
    <dgm:pt modelId="{4A0480FF-76E1-4FF5-9F0F-1C3C668BE650}" type="pres">
      <dgm:prSet presAssocID="{F41813E4-A90D-46F5-BFC0-6A6415D25A5A}" presName="arrowAndChildren" presStyleCnt="0"/>
      <dgm:spPr/>
    </dgm:pt>
    <dgm:pt modelId="{604AC0DE-0F92-4E0B-9321-75BDD737A64B}" type="pres">
      <dgm:prSet presAssocID="{F41813E4-A90D-46F5-BFC0-6A6415D25A5A}" presName="parentTextArrow" presStyleLbl="node1" presStyleIdx="4" presStyleCnt="5"/>
      <dgm:spPr/>
    </dgm:pt>
  </dgm:ptLst>
  <dgm:cxnLst>
    <dgm:cxn modelId="{4F4FF716-D1C6-47B9-AFDE-98746C858753}" srcId="{CA1699B5-04F6-4BA2-B126-7E184D201BCA}" destId="{0C2AA3E2-C2BA-4672-A2AA-62958A5142A1}" srcOrd="4" destOrd="0" parTransId="{6A9EC99F-9D38-48FE-A4CE-C36C56C36DB7}" sibTransId="{F80187D7-FE7C-49DB-A91F-4A4A6B4C7DDA}"/>
    <dgm:cxn modelId="{F4D45817-AD57-4FD4-A46A-681DC0818BF9}" type="presOf" srcId="{94FD5212-2EEB-4DB7-86BB-2DD9F7C1DFBE}" destId="{F7CFF731-897A-4487-B47A-DBACB2F41EC2}" srcOrd="0" destOrd="0" presId="urn:microsoft.com/office/officeart/2005/8/layout/process4"/>
    <dgm:cxn modelId="{BA01215A-DAD5-4966-A5B5-A13E1E3785B9}" type="presOf" srcId="{C0884289-DCE7-4D1E-A648-E46C72AB4AC0}" destId="{EF27BF7F-B8F0-496D-8DA3-858F32546B30}" srcOrd="0" destOrd="0" presId="urn:microsoft.com/office/officeart/2005/8/layout/process4"/>
    <dgm:cxn modelId="{CB630A87-5C9D-4B82-B64B-25AA26BE91CF}" srcId="{CA1699B5-04F6-4BA2-B126-7E184D201BCA}" destId="{F41813E4-A90D-46F5-BFC0-6A6415D25A5A}" srcOrd="0" destOrd="0" parTransId="{8AB06387-31EC-4647-90CC-0CE9BD29B94E}" sibTransId="{4B6AA471-C746-439C-B3C8-FF825B1A49E7}"/>
    <dgm:cxn modelId="{A3334F8F-4F12-46D3-8B9E-367601F90748}" srcId="{CA1699B5-04F6-4BA2-B126-7E184D201BCA}" destId="{C0884289-DCE7-4D1E-A648-E46C72AB4AC0}" srcOrd="1" destOrd="0" parTransId="{F1B88B8C-81BC-4212-9BFE-C48A8525B2EA}" sibTransId="{4624AA72-7453-4966-B0FA-DCEB7D5DA9E9}"/>
    <dgm:cxn modelId="{F514FF95-985B-42F6-84BD-067C43FCBF4B}" type="presOf" srcId="{F41813E4-A90D-46F5-BFC0-6A6415D25A5A}" destId="{604AC0DE-0F92-4E0B-9321-75BDD737A64B}" srcOrd="0" destOrd="0" presId="urn:microsoft.com/office/officeart/2005/8/layout/process4"/>
    <dgm:cxn modelId="{34AC1F9D-A156-48FB-AA8A-3902960E80AC}" type="presOf" srcId="{0C2AA3E2-C2BA-4672-A2AA-62958A5142A1}" destId="{7773B423-5FFC-4705-9DBE-23136024D63B}" srcOrd="0" destOrd="0" presId="urn:microsoft.com/office/officeart/2005/8/layout/process4"/>
    <dgm:cxn modelId="{76D235B2-28BA-4D3B-8A8A-6892960C2C74}" type="presOf" srcId="{CA1699B5-04F6-4BA2-B126-7E184D201BCA}" destId="{B7D1144F-815D-46CA-A774-A8C3FA9354F7}" srcOrd="0" destOrd="0" presId="urn:microsoft.com/office/officeart/2005/8/layout/process4"/>
    <dgm:cxn modelId="{81816ABE-60F6-4D67-A05F-09EB2848948C}" srcId="{CA1699B5-04F6-4BA2-B126-7E184D201BCA}" destId="{C824F49D-A9DA-421B-8562-773662DBC8A7}" srcOrd="2" destOrd="0" parTransId="{E7D0677E-631B-4D2C-AC46-AFC053283E7D}" sibTransId="{D97D3E6A-2A54-4B8E-82A0-86FC3A718582}"/>
    <dgm:cxn modelId="{57BCFDD4-8B46-42E0-842E-48F13A3EF8FC}" type="presOf" srcId="{C824F49D-A9DA-421B-8562-773662DBC8A7}" destId="{14C2B90B-C14A-4BD2-8B67-C119D1A66ED8}" srcOrd="0" destOrd="0" presId="urn:microsoft.com/office/officeart/2005/8/layout/process4"/>
    <dgm:cxn modelId="{C0AA33E9-732B-47FD-9180-3958CDCAB308}" srcId="{CA1699B5-04F6-4BA2-B126-7E184D201BCA}" destId="{94FD5212-2EEB-4DB7-86BB-2DD9F7C1DFBE}" srcOrd="3" destOrd="0" parTransId="{04720472-25BB-4011-A7C8-8C1E0D6BCD07}" sibTransId="{B7A3E477-6EDA-490D-B441-B1124C5226D7}"/>
    <dgm:cxn modelId="{EB8ADD63-7561-4CA6-9430-9E7A2DF7644E}" type="presParOf" srcId="{B7D1144F-815D-46CA-A774-A8C3FA9354F7}" destId="{2ED99668-E6B5-4101-82F4-2E6467DAA7B5}" srcOrd="0" destOrd="0" presId="urn:microsoft.com/office/officeart/2005/8/layout/process4"/>
    <dgm:cxn modelId="{8CD839E9-8DB5-48AE-9C7A-B49F276CDA29}" type="presParOf" srcId="{2ED99668-E6B5-4101-82F4-2E6467DAA7B5}" destId="{7773B423-5FFC-4705-9DBE-23136024D63B}" srcOrd="0" destOrd="0" presId="urn:microsoft.com/office/officeart/2005/8/layout/process4"/>
    <dgm:cxn modelId="{BADB2466-5707-4974-B83E-CB927F6D9B99}" type="presParOf" srcId="{B7D1144F-815D-46CA-A774-A8C3FA9354F7}" destId="{3187ADF4-AC55-49A6-A54D-C0F348C7BF9A}" srcOrd="1" destOrd="0" presId="urn:microsoft.com/office/officeart/2005/8/layout/process4"/>
    <dgm:cxn modelId="{C1DF3020-D8B9-4E31-BC7F-7BE0D79F89BF}" type="presParOf" srcId="{B7D1144F-815D-46CA-A774-A8C3FA9354F7}" destId="{E6A8486D-F7B3-49AA-96D1-73C34F463447}" srcOrd="2" destOrd="0" presId="urn:microsoft.com/office/officeart/2005/8/layout/process4"/>
    <dgm:cxn modelId="{B87BDC44-BCFF-4E7D-8D88-4517B1C1BE11}" type="presParOf" srcId="{E6A8486D-F7B3-49AA-96D1-73C34F463447}" destId="{F7CFF731-897A-4487-B47A-DBACB2F41EC2}" srcOrd="0" destOrd="0" presId="urn:microsoft.com/office/officeart/2005/8/layout/process4"/>
    <dgm:cxn modelId="{6B879AB6-8C93-4CFA-9CD3-6779F8CD0B39}" type="presParOf" srcId="{B7D1144F-815D-46CA-A774-A8C3FA9354F7}" destId="{2E3B3318-3471-4007-A5E9-FC708F408AFE}" srcOrd="3" destOrd="0" presId="urn:microsoft.com/office/officeart/2005/8/layout/process4"/>
    <dgm:cxn modelId="{DC5F405A-EB75-4DC9-BE28-9A07764C2FFF}" type="presParOf" srcId="{B7D1144F-815D-46CA-A774-A8C3FA9354F7}" destId="{450B00E1-3BC3-4A15-AB15-F5F521DE3CC0}" srcOrd="4" destOrd="0" presId="urn:microsoft.com/office/officeart/2005/8/layout/process4"/>
    <dgm:cxn modelId="{A896B2D8-592E-477E-92BF-160A01337BE8}" type="presParOf" srcId="{450B00E1-3BC3-4A15-AB15-F5F521DE3CC0}" destId="{14C2B90B-C14A-4BD2-8B67-C119D1A66ED8}" srcOrd="0" destOrd="0" presId="urn:microsoft.com/office/officeart/2005/8/layout/process4"/>
    <dgm:cxn modelId="{2C7554D3-43B5-41D2-81E5-620AB510B03D}" type="presParOf" srcId="{B7D1144F-815D-46CA-A774-A8C3FA9354F7}" destId="{BCFF18AD-BEC6-4635-84F7-BB5D3F9A006A}" srcOrd="5" destOrd="0" presId="urn:microsoft.com/office/officeart/2005/8/layout/process4"/>
    <dgm:cxn modelId="{12A888A6-C46B-4EC1-959D-D543EB9C8B72}" type="presParOf" srcId="{B7D1144F-815D-46CA-A774-A8C3FA9354F7}" destId="{BEBA885C-E703-4C00-86A5-876CF75BEAF4}" srcOrd="6" destOrd="0" presId="urn:microsoft.com/office/officeart/2005/8/layout/process4"/>
    <dgm:cxn modelId="{ADCC96E7-1963-49D0-B9A7-19B51D0A2184}" type="presParOf" srcId="{BEBA885C-E703-4C00-86A5-876CF75BEAF4}" destId="{EF27BF7F-B8F0-496D-8DA3-858F32546B30}" srcOrd="0" destOrd="0" presId="urn:microsoft.com/office/officeart/2005/8/layout/process4"/>
    <dgm:cxn modelId="{ACE68844-71C2-4BB7-B898-A0C6D15AF542}" type="presParOf" srcId="{B7D1144F-815D-46CA-A774-A8C3FA9354F7}" destId="{4E137104-3E71-4A38-A666-BA2C6A613A12}" srcOrd="7" destOrd="0" presId="urn:microsoft.com/office/officeart/2005/8/layout/process4"/>
    <dgm:cxn modelId="{259FF4C4-9E86-4C75-9194-27202A32F72D}" type="presParOf" srcId="{B7D1144F-815D-46CA-A774-A8C3FA9354F7}" destId="{4A0480FF-76E1-4FF5-9F0F-1C3C668BE650}" srcOrd="8" destOrd="0" presId="urn:microsoft.com/office/officeart/2005/8/layout/process4"/>
    <dgm:cxn modelId="{329D8094-1755-49AF-A98A-852DF831EC46}" type="presParOf" srcId="{4A0480FF-76E1-4FF5-9F0F-1C3C668BE650}" destId="{604AC0DE-0F92-4E0B-9321-75BDD737A64B}"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A6EE09-6C2D-4597-8C22-F6043DF1CBA7}">
      <dsp:nvSpPr>
        <dsp:cNvPr id="0" name=""/>
        <dsp:cNvSpPr/>
      </dsp:nvSpPr>
      <dsp:spPr>
        <a:xfrm rot="5400000">
          <a:off x="6055455" y="-2124782"/>
          <a:ext cx="1859826" cy="6574464"/>
        </a:xfrm>
        <a:prstGeom prst="round2Same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b="0" kern="1200" dirty="0"/>
            <a:t>The system is designed to monitor the state of a door using a magnetic reed switch.
When the door is closed, the magnet keeps the reed switch open, and the alarm remains OFF.
</a:t>
          </a:r>
          <a:r>
            <a:rPr lang="en-US" sz="1500" kern="1200" dirty="0"/>
            <a:t>When the door is opened, the magnet moves away, the reed switch </a:t>
          </a:r>
          <a:r>
            <a:rPr lang="en-US" sz="1500" b="0" kern="1200" dirty="0"/>
            <a:t>closes</a:t>
          </a:r>
          <a:r>
            <a:rPr lang="en-US" sz="1500" kern="1200" dirty="0"/>
            <a:t>, activating the alarm</a:t>
          </a:r>
          <a:r>
            <a:rPr lang="en-US" sz="1500" b="0" kern="1200" dirty="0"/>
            <a:t>.
This behavior ensures immediate detection of unauthorized access.</a:t>
          </a:r>
        </a:p>
      </dsp:txBody>
      <dsp:txXfrm rot="-5400000">
        <a:off x="3698137" y="323325"/>
        <a:ext cx="6483675" cy="1678248"/>
      </dsp:txXfrm>
    </dsp:sp>
    <dsp:sp modelId="{42D15FFE-CDA4-4FB6-BDBF-996A069DD281}">
      <dsp:nvSpPr>
        <dsp:cNvPr id="0" name=""/>
        <dsp:cNvSpPr/>
      </dsp:nvSpPr>
      <dsp:spPr>
        <a:xfrm>
          <a:off x="0" y="58"/>
          <a:ext cx="3698136" cy="2324783"/>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1450" tIns="85725" rIns="171450" bIns="85725" numCol="1" spcCol="1270" anchor="ctr" anchorCtr="0">
          <a:noAutofit/>
        </a:bodyPr>
        <a:lstStyle/>
        <a:p>
          <a:pPr marL="0" lvl="0" indent="0" algn="ctr" defTabSz="2000250">
            <a:lnSpc>
              <a:spcPct val="90000"/>
            </a:lnSpc>
            <a:spcBef>
              <a:spcPct val="0"/>
            </a:spcBef>
            <a:spcAft>
              <a:spcPct val="35000"/>
            </a:spcAft>
            <a:buNone/>
          </a:pPr>
          <a:r>
            <a:rPr lang="en-US" sz="4500" b="1" kern="1200" dirty="0"/>
            <a:t>Project Description</a:t>
          </a:r>
          <a:endParaRPr lang="en-US" sz="4500" kern="1200" dirty="0"/>
        </a:p>
      </dsp:txBody>
      <dsp:txXfrm>
        <a:off x="113487" y="113545"/>
        <a:ext cx="3471162" cy="2097809"/>
      </dsp:txXfrm>
    </dsp:sp>
    <dsp:sp modelId="{A8E06CC0-939C-4C8D-80BE-A401804CA92E}">
      <dsp:nvSpPr>
        <dsp:cNvPr id="0" name=""/>
        <dsp:cNvSpPr/>
      </dsp:nvSpPr>
      <dsp:spPr>
        <a:xfrm rot="5400000">
          <a:off x="6055455" y="316239"/>
          <a:ext cx="1859826" cy="6574464"/>
        </a:xfrm>
        <a:prstGeom prst="round2SameRect">
          <a:avLst/>
        </a:prstGeom>
        <a:solidFill>
          <a:schemeClr val="accent3">
            <a:tint val="40000"/>
            <a:alpha val="90000"/>
            <a:hueOff val="2029141"/>
            <a:satOff val="100000"/>
            <a:lumOff val="1779"/>
            <a:alphaOff val="0"/>
          </a:schemeClr>
        </a:solidFill>
        <a:ln w="6350" cap="flat" cmpd="sng" algn="ctr">
          <a:solidFill>
            <a:schemeClr val="accent3">
              <a:tint val="40000"/>
              <a:alpha val="90000"/>
              <a:hueOff val="2029141"/>
              <a:satOff val="100000"/>
              <a:lumOff val="1779"/>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Residential security systems for doors and windows
Office and commercial building access monitoring
Storage rooms and restricted areas protection
Basic intrusion detection systems
Integration into smart home security solutions</a:t>
          </a:r>
        </a:p>
      </dsp:txBody>
      <dsp:txXfrm rot="-5400000">
        <a:off x="3698137" y="2764347"/>
        <a:ext cx="6483675" cy="1678248"/>
      </dsp:txXfrm>
    </dsp:sp>
    <dsp:sp modelId="{A1CB9802-C513-4026-81AF-1E24E4F08A0E}">
      <dsp:nvSpPr>
        <dsp:cNvPr id="0" name=""/>
        <dsp:cNvSpPr/>
      </dsp:nvSpPr>
      <dsp:spPr>
        <a:xfrm>
          <a:off x="0" y="2441080"/>
          <a:ext cx="3698136" cy="2324783"/>
        </a:xfrm>
        <a:prstGeom prst="roundRect">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1450" tIns="85725" rIns="171450" bIns="85725" numCol="1" spcCol="1270" anchor="ctr" anchorCtr="0">
          <a:noAutofit/>
        </a:bodyPr>
        <a:lstStyle/>
        <a:p>
          <a:pPr marL="0" lvl="0" indent="0" algn="ctr" defTabSz="2000250">
            <a:lnSpc>
              <a:spcPct val="90000"/>
            </a:lnSpc>
            <a:spcBef>
              <a:spcPct val="0"/>
            </a:spcBef>
            <a:spcAft>
              <a:spcPct val="35000"/>
            </a:spcAft>
            <a:buNone/>
          </a:pPr>
          <a:r>
            <a:rPr lang="en-US" sz="4500" b="1" kern="1200" dirty="0"/>
            <a:t>Applications</a:t>
          </a:r>
          <a:endParaRPr lang="en-US" sz="4500" kern="1200" dirty="0"/>
        </a:p>
      </dsp:txBody>
      <dsp:txXfrm>
        <a:off x="113487" y="2554567"/>
        <a:ext cx="3471162" cy="20978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3A9A6A-6C94-4A27-8CC2-14113387A407}">
      <dsp:nvSpPr>
        <dsp:cNvPr id="0" name=""/>
        <dsp:cNvSpPr/>
      </dsp:nvSpPr>
      <dsp:spPr>
        <a:xfrm>
          <a:off x="0" y="4388175"/>
          <a:ext cx="10515600" cy="0"/>
        </a:xfrm>
        <a:prstGeom prst="line">
          <a:avLst/>
        </a:prstGeom>
        <a:noFill/>
        <a:ln w="12700" cap="flat" cmpd="sng" algn="ctr">
          <a:solidFill>
            <a:schemeClr val="accent3">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FB884C6-5145-4B7B-8C1C-6876BC176BC3}">
      <dsp:nvSpPr>
        <dsp:cNvPr id="0" name=""/>
        <dsp:cNvSpPr/>
      </dsp:nvSpPr>
      <dsp:spPr>
        <a:xfrm>
          <a:off x="0" y="2563497"/>
          <a:ext cx="10515600" cy="0"/>
        </a:xfrm>
        <a:prstGeom prst="line">
          <a:avLst/>
        </a:prstGeom>
        <a:noFill/>
        <a:ln w="12700" cap="flat" cmpd="sng" algn="ctr">
          <a:solidFill>
            <a:schemeClr val="accent3">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40C83E7F-74EB-40E3-87DB-0E97752C606A}">
      <dsp:nvSpPr>
        <dsp:cNvPr id="0" name=""/>
        <dsp:cNvSpPr/>
      </dsp:nvSpPr>
      <dsp:spPr>
        <a:xfrm>
          <a:off x="2734055" y="825709"/>
          <a:ext cx="7781544" cy="1737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5" tIns="36195" rIns="36195" bIns="36195" numCol="1" spcCol="1270" anchor="b" anchorCtr="0">
          <a:noAutofit/>
        </a:bodyPr>
        <a:lstStyle/>
        <a:p>
          <a:pPr marL="0" lvl="0" indent="0" algn="l" defTabSz="844550">
            <a:lnSpc>
              <a:spcPct val="90000"/>
            </a:lnSpc>
            <a:spcBef>
              <a:spcPct val="0"/>
            </a:spcBef>
            <a:spcAft>
              <a:spcPct val="35000"/>
            </a:spcAft>
            <a:buNone/>
          </a:pPr>
          <a:r>
            <a:rPr lang="en-US" sz="1900" kern="1200" dirty="0"/>
            <a:t>When the reed switch is closed, base current flows into Q1, driving Q1 into saturation.
This results in a low collector voltage at Q1, turning Q2 OFF, alarm is OFF.
When the reed switch is open, Q1 enters cutoff.
The base of Q2 has drive, so Q2 turns ON, activating the alarm.</a:t>
          </a:r>
        </a:p>
      </dsp:txBody>
      <dsp:txXfrm>
        <a:off x="2734055" y="825709"/>
        <a:ext cx="7781544" cy="1737787"/>
      </dsp:txXfrm>
    </dsp:sp>
    <dsp:sp modelId="{F89D2538-C2F8-4F9C-8A3F-781C7683ABE3}">
      <dsp:nvSpPr>
        <dsp:cNvPr id="0" name=""/>
        <dsp:cNvSpPr/>
      </dsp:nvSpPr>
      <dsp:spPr>
        <a:xfrm>
          <a:off x="0" y="825709"/>
          <a:ext cx="2734056" cy="1737787"/>
        </a:xfrm>
        <a:prstGeom prst="round2SameRect">
          <a:avLst>
            <a:gd name="adj1" fmla="val 16670"/>
            <a:gd name="adj2" fmla="val 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2311400">
            <a:lnSpc>
              <a:spcPct val="90000"/>
            </a:lnSpc>
            <a:spcBef>
              <a:spcPct val="0"/>
            </a:spcBef>
            <a:spcAft>
              <a:spcPct val="35000"/>
            </a:spcAft>
            <a:buNone/>
          </a:pPr>
          <a:r>
            <a:rPr lang="en-US" sz="5200" b="1" kern="1200" dirty="0"/>
            <a:t>How it works</a:t>
          </a:r>
          <a:endParaRPr lang="en-US" sz="5200" kern="1200" dirty="0"/>
        </a:p>
      </dsp:txBody>
      <dsp:txXfrm>
        <a:off x="84847" y="910556"/>
        <a:ext cx="2564362" cy="1652940"/>
      </dsp:txXfrm>
    </dsp:sp>
    <dsp:sp modelId="{E3274255-A2F0-42C0-807C-60599F0657B9}">
      <dsp:nvSpPr>
        <dsp:cNvPr id="0" name=""/>
        <dsp:cNvSpPr/>
      </dsp:nvSpPr>
      <dsp:spPr>
        <a:xfrm>
          <a:off x="2734055" y="2650387"/>
          <a:ext cx="7781544" cy="1737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5" tIns="36195" rIns="36195" bIns="36195" numCol="1" spcCol="1270" anchor="b" anchorCtr="0">
          <a:noAutofit/>
        </a:bodyPr>
        <a:lstStyle/>
        <a:p>
          <a:pPr marL="0" lvl="0" indent="0" algn="l" defTabSz="844550">
            <a:lnSpc>
              <a:spcPct val="90000"/>
            </a:lnSpc>
            <a:spcBef>
              <a:spcPct val="0"/>
            </a:spcBef>
            <a:spcAft>
              <a:spcPct val="35000"/>
            </a:spcAft>
            <a:buNone/>
          </a:pPr>
          <a:endParaRPr lang="en-US" sz="1900" kern="1200" dirty="0"/>
        </a:p>
      </dsp:txBody>
      <dsp:txXfrm>
        <a:off x="2734055" y="2650387"/>
        <a:ext cx="7781544" cy="1737787"/>
      </dsp:txXfrm>
    </dsp:sp>
    <dsp:sp modelId="{DEDF208F-50AF-4F2A-8AF2-BF42D1821C0A}">
      <dsp:nvSpPr>
        <dsp:cNvPr id="0" name=""/>
        <dsp:cNvSpPr/>
      </dsp:nvSpPr>
      <dsp:spPr>
        <a:xfrm>
          <a:off x="0" y="2650387"/>
          <a:ext cx="2734056" cy="1737787"/>
        </a:xfrm>
        <a:prstGeom prst="round2SameRect">
          <a:avLst>
            <a:gd name="adj1" fmla="val 16670"/>
            <a:gd name="adj2" fmla="val 0"/>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w="6350" cap="flat" cmpd="sng" algn="ctr">
          <a:solidFill>
            <a:schemeClr val="accent3">
              <a:hueOff val="2710599"/>
              <a:satOff val="100000"/>
              <a:lumOff val="-14706"/>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2311400">
            <a:lnSpc>
              <a:spcPct val="90000"/>
            </a:lnSpc>
            <a:spcBef>
              <a:spcPct val="0"/>
            </a:spcBef>
            <a:spcAft>
              <a:spcPct val="35000"/>
            </a:spcAft>
            <a:buNone/>
          </a:pPr>
          <a:r>
            <a:rPr lang="en-US" sz="5200" b="1" kern="1200" dirty="0"/>
            <a:t>Result</a:t>
          </a:r>
          <a:endParaRPr lang="en-US" sz="5200" kern="1200" dirty="0"/>
        </a:p>
      </dsp:txBody>
      <dsp:txXfrm>
        <a:off x="84847" y="2735234"/>
        <a:ext cx="2564362" cy="16529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73B423-5FFC-4705-9DBE-23136024D63B}">
      <dsp:nvSpPr>
        <dsp:cNvPr id="0" name=""/>
        <dsp:cNvSpPr/>
      </dsp:nvSpPr>
      <dsp:spPr>
        <a:xfrm>
          <a:off x="0" y="3736288"/>
          <a:ext cx="9248775" cy="61296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Output (Buzzer + LED)</a:t>
          </a:r>
        </a:p>
      </dsp:txBody>
      <dsp:txXfrm>
        <a:off x="0" y="3736288"/>
        <a:ext cx="9248775" cy="612969"/>
      </dsp:txXfrm>
    </dsp:sp>
    <dsp:sp modelId="{F7CFF731-897A-4487-B47A-DBACB2F41EC2}">
      <dsp:nvSpPr>
        <dsp:cNvPr id="0" name=""/>
        <dsp:cNvSpPr/>
      </dsp:nvSpPr>
      <dsp:spPr>
        <a:xfrm rot="10800000">
          <a:off x="0" y="2802736"/>
          <a:ext cx="9248775" cy="942746"/>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Power Driver (Q1) </a:t>
          </a:r>
        </a:p>
      </dsp:txBody>
      <dsp:txXfrm rot="10800000">
        <a:off x="0" y="2802736"/>
        <a:ext cx="9248775" cy="612568"/>
      </dsp:txXfrm>
    </dsp:sp>
    <dsp:sp modelId="{14C2B90B-C14A-4BD2-8B67-C119D1A66ED8}">
      <dsp:nvSpPr>
        <dsp:cNvPr id="0" name=""/>
        <dsp:cNvSpPr/>
      </dsp:nvSpPr>
      <dsp:spPr>
        <a:xfrm rot="10800000">
          <a:off x="0" y="1869184"/>
          <a:ext cx="9248775" cy="942746"/>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Signal Control (Q2) </a:t>
          </a:r>
        </a:p>
      </dsp:txBody>
      <dsp:txXfrm rot="10800000">
        <a:off x="0" y="1869184"/>
        <a:ext cx="9248775" cy="612568"/>
      </dsp:txXfrm>
    </dsp:sp>
    <dsp:sp modelId="{EF27BF7F-B8F0-496D-8DA3-858F32546B30}">
      <dsp:nvSpPr>
        <dsp:cNvPr id="0" name=""/>
        <dsp:cNvSpPr/>
      </dsp:nvSpPr>
      <dsp:spPr>
        <a:xfrm rot="10800000">
          <a:off x="0" y="935632"/>
          <a:ext cx="9248775" cy="942746"/>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Reed Switch (Sensor) </a:t>
          </a:r>
        </a:p>
      </dsp:txBody>
      <dsp:txXfrm rot="10800000">
        <a:off x="0" y="935632"/>
        <a:ext cx="9248775" cy="612568"/>
      </dsp:txXfrm>
    </dsp:sp>
    <dsp:sp modelId="{604AC0DE-0F92-4E0B-9321-75BDD737A64B}">
      <dsp:nvSpPr>
        <dsp:cNvPr id="0" name=""/>
        <dsp:cNvSpPr/>
      </dsp:nvSpPr>
      <dsp:spPr>
        <a:xfrm rot="10800000">
          <a:off x="0" y="2080"/>
          <a:ext cx="9248775" cy="942746"/>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Door / Magnetic Field</a:t>
          </a:r>
        </a:p>
      </dsp:txBody>
      <dsp:txXfrm rot="10800000">
        <a:off x="0" y="2080"/>
        <a:ext cx="9248775" cy="61256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1939D6-D32E-4C3D-8147-A472DC42A237}" type="datetimeFigureOut">
              <a:rPr lang="en-US" smtClean="0"/>
              <a:t>5/2/2026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725ADB-8315-4390-8ED4-CA5F64D6999E}" type="slidenum">
              <a:rPr lang="en-US" smtClean="0"/>
              <a:t>‹#›</a:t>
            </a:fld>
            <a:endParaRPr lang="en-US"/>
          </a:p>
        </p:txBody>
      </p:sp>
    </p:spTree>
    <p:extLst>
      <p:ext uri="{BB962C8B-B14F-4D97-AF65-F5344CB8AC3E}">
        <p14:creationId xmlns:p14="http://schemas.microsoft.com/office/powerpoint/2010/main" val="2006599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725ADB-8315-4390-8ED4-CA5F64D6999E}" type="slidenum">
              <a:rPr lang="en-US" smtClean="0"/>
              <a:t>1</a:t>
            </a:fld>
            <a:endParaRPr lang="en-US"/>
          </a:p>
        </p:txBody>
      </p:sp>
    </p:spTree>
    <p:extLst>
      <p:ext uri="{BB962C8B-B14F-4D97-AF65-F5344CB8AC3E}">
        <p14:creationId xmlns:p14="http://schemas.microsoft.com/office/powerpoint/2010/main" val="1403152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725ADB-8315-4390-8ED4-CA5F64D6999E}" type="slidenum">
              <a:rPr lang="en-US" smtClean="0"/>
              <a:t>2</a:t>
            </a:fld>
            <a:endParaRPr lang="en-US"/>
          </a:p>
        </p:txBody>
      </p:sp>
    </p:spTree>
    <p:extLst>
      <p:ext uri="{BB962C8B-B14F-4D97-AF65-F5344CB8AC3E}">
        <p14:creationId xmlns:p14="http://schemas.microsoft.com/office/powerpoint/2010/main" val="1682984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DCCFC-6043-69A1-6CCF-9DF75A2C37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76DA9-59FB-A606-C386-026454BD6D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F279CF1-4AEA-41B1-E20E-0062B932AA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1B940B-60A1-305E-3867-4A16E2D0CD0A}"/>
              </a:ext>
            </a:extLst>
          </p:cNvPr>
          <p:cNvSpPr>
            <a:spLocks noGrp="1"/>
          </p:cNvSpPr>
          <p:nvPr>
            <p:ph type="sldNum" sz="quarter" idx="5"/>
          </p:nvPr>
        </p:nvSpPr>
        <p:spPr/>
        <p:txBody>
          <a:bodyPr/>
          <a:lstStyle/>
          <a:p>
            <a:fld id="{28725ADB-8315-4390-8ED4-CA5F64D6999E}" type="slidenum">
              <a:rPr lang="en-US" smtClean="0"/>
              <a:t>3</a:t>
            </a:fld>
            <a:endParaRPr lang="en-US"/>
          </a:p>
        </p:txBody>
      </p:sp>
    </p:spTree>
    <p:extLst>
      <p:ext uri="{BB962C8B-B14F-4D97-AF65-F5344CB8AC3E}">
        <p14:creationId xmlns:p14="http://schemas.microsoft.com/office/powerpoint/2010/main" val="1641370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725ADB-8315-4390-8ED4-CA5F64D6999E}" type="slidenum">
              <a:rPr lang="en-US" smtClean="0"/>
              <a:t>4</a:t>
            </a:fld>
            <a:endParaRPr lang="en-US"/>
          </a:p>
        </p:txBody>
      </p:sp>
    </p:spTree>
    <p:extLst>
      <p:ext uri="{BB962C8B-B14F-4D97-AF65-F5344CB8AC3E}">
        <p14:creationId xmlns:p14="http://schemas.microsoft.com/office/powerpoint/2010/main" val="4257834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725ADB-8315-4390-8ED4-CA5F64D6999E}" type="slidenum">
              <a:rPr lang="en-US" smtClean="0"/>
              <a:t>5</a:t>
            </a:fld>
            <a:endParaRPr lang="en-US"/>
          </a:p>
        </p:txBody>
      </p:sp>
    </p:spTree>
    <p:extLst>
      <p:ext uri="{BB962C8B-B14F-4D97-AF65-F5344CB8AC3E}">
        <p14:creationId xmlns:p14="http://schemas.microsoft.com/office/powerpoint/2010/main" val="1614072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725ADB-8315-4390-8ED4-CA5F64D6999E}" type="slidenum">
              <a:rPr lang="en-US" smtClean="0"/>
              <a:t>6</a:t>
            </a:fld>
            <a:endParaRPr lang="en-US"/>
          </a:p>
        </p:txBody>
      </p:sp>
    </p:spTree>
    <p:extLst>
      <p:ext uri="{BB962C8B-B14F-4D97-AF65-F5344CB8AC3E}">
        <p14:creationId xmlns:p14="http://schemas.microsoft.com/office/powerpoint/2010/main" val="1846038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28725ADB-8315-4390-8ED4-CA5F64D6999E}" type="slidenum">
              <a:rPr lang="en-US" smtClean="0"/>
              <a:t>7</a:t>
            </a:fld>
            <a:endParaRPr lang="en-US"/>
          </a:p>
        </p:txBody>
      </p:sp>
    </p:spTree>
    <p:extLst>
      <p:ext uri="{BB962C8B-B14F-4D97-AF65-F5344CB8AC3E}">
        <p14:creationId xmlns:p14="http://schemas.microsoft.com/office/powerpoint/2010/main" val="3977630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725ADB-8315-4390-8ED4-CA5F64D6999E}" type="slidenum">
              <a:rPr lang="en-US" smtClean="0"/>
              <a:t>8</a:t>
            </a:fld>
            <a:endParaRPr lang="en-US"/>
          </a:p>
        </p:txBody>
      </p:sp>
    </p:spTree>
    <p:extLst>
      <p:ext uri="{BB962C8B-B14F-4D97-AF65-F5344CB8AC3E}">
        <p14:creationId xmlns:p14="http://schemas.microsoft.com/office/powerpoint/2010/main" val="1809774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725ADB-8315-4390-8ED4-CA5F64D6999E}" type="slidenum">
              <a:rPr lang="en-US" smtClean="0"/>
              <a:t>9</a:t>
            </a:fld>
            <a:endParaRPr lang="en-US"/>
          </a:p>
        </p:txBody>
      </p:sp>
    </p:spTree>
    <p:extLst>
      <p:ext uri="{BB962C8B-B14F-4D97-AF65-F5344CB8AC3E}">
        <p14:creationId xmlns:p14="http://schemas.microsoft.com/office/powerpoint/2010/main" val="437001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E4B59-4CF0-5D77-96F0-666E3AC46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7A2AC-5D5E-7344-3D07-CAC88CEDC6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45757E4-B481-567E-C466-50C6A3B11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1B901C-BC95-CA69-79D0-42B6BD16EC59}"/>
              </a:ext>
            </a:extLst>
          </p:cNvPr>
          <p:cNvSpPr>
            <a:spLocks noGrp="1"/>
          </p:cNvSpPr>
          <p:nvPr>
            <p:ph type="sldNum" sz="quarter" idx="5"/>
          </p:nvPr>
        </p:nvSpPr>
        <p:spPr/>
        <p:txBody>
          <a:bodyPr/>
          <a:lstStyle/>
          <a:p>
            <a:fld id="{28725ADB-8315-4390-8ED4-CA5F64D6999E}" type="slidenum">
              <a:rPr lang="en-US" smtClean="0"/>
              <a:t>10</a:t>
            </a:fld>
            <a:endParaRPr lang="en-US"/>
          </a:p>
        </p:txBody>
      </p:sp>
    </p:spTree>
    <p:extLst>
      <p:ext uri="{BB962C8B-B14F-4D97-AF65-F5344CB8AC3E}">
        <p14:creationId xmlns:p14="http://schemas.microsoft.com/office/powerpoint/2010/main" val="321578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B9813-A159-1AAF-705A-72F09D429F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BF0F3-AB95-7F91-7A62-33B26613883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B33064-A236-2C72-021F-CD200E38CE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35E6C7-0C9A-C9F7-D9B0-DE407E6DD3CA}"/>
              </a:ext>
            </a:extLst>
          </p:cNvPr>
          <p:cNvSpPr>
            <a:spLocks noGrp="1"/>
          </p:cNvSpPr>
          <p:nvPr>
            <p:ph type="sldNum" sz="quarter" idx="5"/>
          </p:nvPr>
        </p:nvSpPr>
        <p:spPr/>
        <p:txBody>
          <a:bodyPr/>
          <a:lstStyle/>
          <a:p>
            <a:fld id="{28725ADB-8315-4390-8ED4-CA5F64D6999E}" type="slidenum">
              <a:rPr lang="en-US" smtClean="0"/>
              <a:t>11</a:t>
            </a:fld>
            <a:endParaRPr lang="en-US"/>
          </a:p>
        </p:txBody>
      </p:sp>
    </p:spTree>
    <p:extLst>
      <p:ext uri="{BB962C8B-B14F-4D97-AF65-F5344CB8AC3E}">
        <p14:creationId xmlns:p14="http://schemas.microsoft.com/office/powerpoint/2010/main" val="2896693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725ADB-8315-4390-8ED4-CA5F64D6999E}" type="slidenum">
              <a:rPr lang="en-US" smtClean="0"/>
              <a:t>12</a:t>
            </a:fld>
            <a:endParaRPr lang="en-US"/>
          </a:p>
        </p:txBody>
      </p:sp>
    </p:spTree>
    <p:extLst>
      <p:ext uri="{BB962C8B-B14F-4D97-AF65-F5344CB8AC3E}">
        <p14:creationId xmlns:p14="http://schemas.microsoft.com/office/powerpoint/2010/main" val="557731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725ADB-8315-4390-8ED4-CA5F64D6999E}" type="slidenum">
              <a:rPr lang="en-US" smtClean="0"/>
              <a:t>13</a:t>
            </a:fld>
            <a:endParaRPr lang="en-US"/>
          </a:p>
        </p:txBody>
      </p:sp>
    </p:spTree>
    <p:extLst>
      <p:ext uri="{BB962C8B-B14F-4D97-AF65-F5344CB8AC3E}">
        <p14:creationId xmlns:p14="http://schemas.microsoft.com/office/powerpoint/2010/main" val="4190425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725ADB-8315-4390-8ED4-CA5F64D6999E}" type="slidenum">
              <a:rPr lang="en-US" smtClean="0"/>
              <a:t>14</a:t>
            </a:fld>
            <a:endParaRPr lang="en-US"/>
          </a:p>
        </p:txBody>
      </p:sp>
    </p:spTree>
    <p:extLst>
      <p:ext uri="{BB962C8B-B14F-4D97-AF65-F5344CB8AC3E}">
        <p14:creationId xmlns:p14="http://schemas.microsoft.com/office/powerpoint/2010/main" val="377050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725ADB-8315-4390-8ED4-CA5F64D6999E}" type="slidenum">
              <a:rPr lang="en-US" smtClean="0"/>
              <a:t>15</a:t>
            </a:fld>
            <a:endParaRPr lang="en-US"/>
          </a:p>
        </p:txBody>
      </p:sp>
    </p:spTree>
    <p:extLst>
      <p:ext uri="{BB962C8B-B14F-4D97-AF65-F5344CB8AC3E}">
        <p14:creationId xmlns:p14="http://schemas.microsoft.com/office/powerpoint/2010/main" val="2903242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5C43F-5C69-74AF-3BB5-31598D8BAD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8AA233-5EBC-049C-EF35-07461660E1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FCDAEC-FF17-20EB-9AEA-58B4A3B2F44C}"/>
              </a:ext>
            </a:extLst>
          </p:cNvPr>
          <p:cNvSpPr>
            <a:spLocks noGrp="1"/>
          </p:cNvSpPr>
          <p:nvPr>
            <p:ph type="dt" sz="half" idx="10"/>
          </p:nvPr>
        </p:nvSpPr>
        <p:spPr/>
        <p:txBody>
          <a:bodyPr/>
          <a:lstStyle/>
          <a:p>
            <a:fld id="{85F5C394-B2C3-451F-A7BF-0903B4A2D8B9}" type="datetime1">
              <a:rPr lang="en-US" smtClean="0"/>
              <a:t>5/2/2026</a:t>
            </a:fld>
            <a:endParaRPr lang="en-US"/>
          </a:p>
        </p:txBody>
      </p:sp>
      <p:sp>
        <p:nvSpPr>
          <p:cNvPr id="5" name="Footer Placeholder 4">
            <a:extLst>
              <a:ext uri="{FF2B5EF4-FFF2-40B4-BE49-F238E27FC236}">
                <a16:creationId xmlns:a16="http://schemas.microsoft.com/office/drawing/2014/main" id="{576649BD-B3AD-A123-4156-C0F70D402D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B1754F-561B-C655-7D18-334224ED9C3E}"/>
              </a:ext>
            </a:extLst>
          </p:cNvPr>
          <p:cNvSpPr>
            <a:spLocks noGrp="1"/>
          </p:cNvSpPr>
          <p:nvPr>
            <p:ph type="sldNum" sz="quarter" idx="12"/>
          </p:nvPr>
        </p:nvSpPr>
        <p:spPr/>
        <p:txBody>
          <a:bodyPr/>
          <a:lstStyle/>
          <a:p>
            <a:fld id="{9399B49A-23E5-4E23-96E7-AF330FA2964C}" type="slidenum">
              <a:rPr lang="en-US" smtClean="0"/>
              <a:t>‹#›</a:t>
            </a:fld>
            <a:endParaRPr lang="en-US"/>
          </a:p>
        </p:txBody>
      </p:sp>
    </p:spTree>
    <p:extLst>
      <p:ext uri="{BB962C8B-B14F-4D97-AF65-F5344CB8AC3E}">
        <p14:creationId xmlns:p14="http://schemas.microsoft.com/office/powerpoint/2010/main" val="396193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5E60B-75DF-66AE-F95C-69270539C6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1EA464-FA54-34D6-52C6-309A285B3E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20C60B-56F9-7A77-0ABB-1C72BE404BAC}"/>
              </a:ext>
            </a:extLst>
          </p:cNvPr>
          <p:cNvSpPr>
            <a:spLocks noGrp="1"/>
          </p:cNvSpPr>
          <p:nvPr>
            <p:ph type="dt" sz="half" idx="10"/>
          </p:nvPr>
        </p:nvSpPr>
        <p:spPr/>
        <p:txBody>
          <a:bodyPr/>
          <a:lstStyle/>
          <a:p>
            <a:fld id="{DD7F4CDE-5F0C-46DA-9D74-12BB365BEF36}" type="datetime1">
              <a:rPr lang="en-US" smtClean="0"/>
              <a:t>5/2/2026</a:t>
            </a:fld>
            <a:endParaRPr lang="en-US"/>
          </a:p>
        </p:txBody>
      </p:sp>
      <p:sp>
        <p:nvSpPr>
          <p:cNvPr id="5" name="Footer Placeholder 4">
            <a:extLst>
              <a:ext uri="{FF2B5EF4-FFF2-40B4-BE49-F238E27FC236}">
                <a16:creationId xmlns:a16="http://schemas.microsoft.com/office/drawing/2014/main" id="{0599A15B-AB82-15E1-3171-7084B1FE00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3BB39-F98C-8508-914F-5AA3A1DC2B10}"/>
              </a:ext>
            </a:extLst>
          </p:cNvPr>
          <p:cNvSpPr>
            <a:spLocks noGrp="1"/>
          </p:cNvSpPr>
          <p:nvPr>
            <p:ph type="sldNum" sz="quarter" idx="12"/>
          </p:nvPr>
        </p:nvSpPr>
        <p:spPr/>
        <p:txBody>
          <a:bodyPr/>
          <a:lstStyle/>
          <a:p>
            <a:fld id="{9399B49A-23E5-4E23-96E7-AF330FA2964C}" type="slidenum">
              <a:rPr lang="en-US" smtClean="0"/>
              <a:t>‹#›</a:t>
            </a:fld>
            <a:endParaRPr lang="en-US"/>
          </a:p>
        </p:txBody>
      </p:sp>
    </p:spTree>
    <p:extLst>
      <p:ext uri="{BB962C8B-B14F-4D97-AF65-F5344CB8AC3E}">
        <p14:creationId xmlns:p14="http://schemas.microsoft.com/office/powerpoint/2010/main" val="2905211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12F96-D2E5-88D7-100F-05693199A7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939442-8D68-21F4-DA5F-689AA4B107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47C58C-824F-B8F6-D097-F092302927C8}"/>
              </a:ext>
            </a:extLst>
          </p:cNvPr>
          <p:cNvSpPr>
            <a:spLocks noGrp="1"/>
          </p:cNvSpPr>
          <p:nvPr>
            <p:ph type="dt" sz="half" idx="10"/>
          </p:nvPr>
        </p:nvSpPr>
        <p:spPr/>
        <p:txBody>
          <a:bodyPr/>
          <a:lstStyle/>
          <a:p>
            <a:fld id="{4F16CF8D-1B0D-47CE-807A-5B9DA8E48D2A}" type="datetime1">
              <a:rPr lang="en-US" smtClean="0"/>
              <a:t>5/2/2026</a:t>
            </a:fld>
            <a:endParaRPr lang="en-US"/>
          </a:p>
        </p:txBody>
      </p:sp>
      <p:sp>
        <p:nvSpPr>
          <p:cNvPr id="5" name="Footer Placeholder 4">
            <a:extLst>
              <a:ext uri="{FF2B5EF4-FFF2-40B4-BE49-F238E27FC236}">
                <a16:creationId xmlns:a16="http://schemas.microsoft.com/office/drawing/2014/main" id="{787FFDBD-5184-0153-C62F-0A2F73E082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76C48-F1DC-69AD-1502-B52ACD0986D2}"/>
              </a:ext>
            </a:extLst>
          </p:cNvPr>
          <p:cNvSpPr>
            <a:spLocks noGrp="1"/>
          </p:cNvSpPr>
          <p:nvPr>
            <p:ph type="sldNum" sz="quarter" idx="12"/>
          </p:nvPr>
        </p:nvSpPr>
        <p:spPr/>
        <p:txBody>
          <a:bodyPr/>
          <a:lstStyle/>
          <a:p>
            <a:fld id="{9399B49A-23E5-4E23-96E7-AF330FA2964C}" type="slidenum">
              <a:rPr lang="en-US" smtClean="0"/>
              <a:t>‹#›</a:t>
            </a:fld>
            <a:endParaRPr lang="en-US"/>
          </a:p>
        </p:txBody>
      </p:sp>
    </p:spTree>
    <p:extLst>
      <p:ext uri="{BB962C8B-B14F-4D97-AF65-F5344CB8AC3E}">
        <p14:creationId xmlns:p14="http://schemas.microsoft.com/office/powerpoint/2010/main" val="442028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236D5-EA1D-2817-B17C-CAB2E75C24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207388-5B0F-BC1D-2CB6-3E0A1B4B37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FC12DB-4041-11BB-F6C4-0E98F52EDC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EB203F-AAA8-27F7-A2AA-2530955E221F}"/>
              </a:ext>
            </a:extLst>
          </p:cNvPr>
          <p:cNvSpPr>
            <a:spLocks noGrp="1"/>
          </p:cNvSpPr>
          <p:nvPr>
            <p:ph type="dt" sz="half" idx="10"/>
          </p:nvPr>
        </p:nvSpPr>
        <p:spPr/>
        <p:txBody>
          <a:bodyPr/>
          <a:lstStyle/>
          <a:p>
            <a:fld id="{A2D5D1C7-0965-4279-A4A5-10F843E78E72}" type="datetime1">
              <a:rPr lang="en-US" smtClean="0"/>
              <a:t>5/2/2026</a:t>
            </a:fld>
            <a:endParaRPr lang="en-US"/>
          </a:p>
        </p:txBody>
      </p:sp>
      <p:sp>
        <p:nvSpPr>
          <p:cNvPr id="6" name="Footer Placeholder 5">
            <a:extLst>
              <a:ext uri="{FF2B5EF4-FFF2-40B4-BE49-F238E27FC236}">
                <a16:creationId xmlns:a16="http://schemas.microsoft.com/office/drawing/2014/main" id="{8A361E4B-9E7D-BDC2-328B-62AA98021E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303A3E-313B-1ECD-1792-EBE6D8DD7045}"/>
              </a:ext>
            </a:extLst>
          </p:cNvPr>
          <p:cNvSpPr>
            <a:spLocks noGrp="1"/>
          </p:cNvSpPr>
          <p:nvPr>
            <p:ph type="sldNum" sz="quarter" idx="12"/>
          </p:nvPr>
        </p:nvSpPr>
        <p:spPr/>
        <p:txBody>
          <a:bodyPr/>
          <a:lstStyle/>
          <a:p>
            <a:fld id="{9399B49A-23E5-4E23-96E7-AF330FA2964C}" type="slidenum">
              <a:rPr lang="en-US" smtClean="0"/>
              <a:t>‹#›</a:t>
            </a:fld>
            <a:endParaRPr lang="en-US"/>
          </a:p>
        </p:txBody>
      </p:sp>
    </p:spTree>
    <p:extLst>
      <p:ext uri="{BB962C8B-B14F-4D97-AF65-F5344CB8AC3E}">
        <p14:creationId xmlns:p14="http://schemas.microsoft.com/office/powerpoint/2010/main" val="3934564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B4D2E-B6FF-BE44-FF96-EBDE74D57E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60009B-C724-1E65-9409-BF1CA9019A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C92992-F04F-6F2E-DC5F-B4215CB1F8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5D6E54-3666-A9C9-6C6F-81C1ECDC4F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E4A569-5D4F-780C-0407-FAC9DBD095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0177ED-7940-F72A-6369-29CB36233184}"/>
              </a:ext>
            </a:extLst>
          </p:cNvPr>
          <p:cNvSpPr>
            <a:spLocks noGrp="1"/>
          </p:cNvSpPr>
          <p:nvPr>
            <p:ph type="dt" sz="half" idx="10"/>
          </p:nvPr>
        </p:nvSpPr>
        <p:spPr/>
        <p:txBody>
          <a:bodyPr/>
          <a:lstStyle/>
          <a:p>
            <a:fld id="{5EB0E416-1700-4E2D-A126-8E0DC0CD6E99}" type="datetime1">
              <a:rPr lang="en-US" smtClean="0"/>
              <a:t>5/2/2026</a:t>
            </a:fld>
            <a:endParaRPr lang="en-US"/>
          </a:p>
        </p:txBody>
      </p:sp>
      <p:sp>
        <p:nvSpPr>
          <p:cNvPr id="8" name="Footer Placeholder 7">
            <a:extLst>
              <a:ext uri="{FF2B5EF4-FFF2-40B4-BE49-F238E27FC236}">
                <a16:creationId xmlns:a16="http://schemas.microsoft.com/office/drawing/2014/main" id="{6761EA65-3440-A8FF-52D5-96F7AA9020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C9D5DD-49E3-C200-BC71-E992DC73C6D6}"/>
              </a:ext>
            </a:extLst>
          </p:cNvPr>
          <p:cNvSpPr>
            <a:spLocks noGrp="1"/>
          </p:cNvSpPr>
          <p:nvPr>
            <p:ph type="sldNum" sz="quarter" idx="12"/>
          </p:nvPr>
        </p:nvSpPr>
        <p:spPr/>
        <p:txBody>
          <a:bodyPr/>
          <a:lstStyle/>
          <a:p>
            <a:fld id="{9399B49A-23E5-4E23-96E7-AF330FA2964C}" type="slidenum">
              <a:rPr lang="en-US" smtClean="0"/>
              <a:t>‹#›</a:t>
            </a:fld>
            <a:endParaRPr lang="en-US"/>
          </a:p>
        </p:txBody>
      </p:sp>
    </p:spTree>
    <p:extLst>
      <p:ext uri="{BB962C8B-B14F-4D97-AF65-F5344CB8AC3E}">
        <p14:creationId xmlns:p14="http://schemas.microsoft.com/office/powerpoint/2010/main" val="4024410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9DB2E-5FBD-D1C7-97FE-0CCCFD06F2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3978A7-E4ED-97A2-7302-CD07A0DE47C7}"/>
              </a:ext>
            </a:extLst>
          </p:cNvPr>
          <p:cNvSpPr>
            <a:spLocks noGrp="1"/>
          </p:cNvSpPr>
          <p:nvPr>
            <p:ph type="dt" sz="half" idx="10"/>
          </p:nvPr>
        </p:nvSpPr>
        <p:spPr/>
        <p:txBody>
          <a:bodyPr/>
          <a:lstStyle/>
          <a:p>
            <a:fld id="{6197EFD0-3C15-40BC-9999-7EFE1F4DF995}" type="datetime1">
              <a:rPr lang="en-US" smtClean="0"/>
              <a:t>5/2/2026</a:t>
            </a:fld>
            <a:endParaRPr lang="en-US"/>
          </a:p>
        </p:txBody>
      </p:sp>
      <p:sp>
        <p:nvSpPr>
          <p:cNvPr id="4" name="Footer Placeholder 3">
            <a:extLst>
              <a:ext uri="{FF2B5EF4-FFF2-40B4-BE49-F238E27FC236}">
                <a16:creationId xmlns:a16="http://schemas.microsoft.com/office/drawing/2014/main" id="{672D6C32-C648-9428-AD88-4FA62516DE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878174-35FB-47B9-D159-B6EABD10BE65}"/>
              </a:ext>
            </a:extLst>
          </p:cNvPr>
          <p:cNvSpPr>
            <a:spLocks noGrp="1"/>
          </p:cNvSpPr>
          <p:nvPr>
            <p:ph type="sldNum" sz="quarter" idx="12"/>
          </p:nvPr>
        </p:nvSpPr>
        <p:spPr/>
        <p:txBody>
          <a:bodyPr/>
          <a:lstStyle/>
          <a:p>
            <a:fld id="{9399B49A-23E5-4E23-96E7-AF330FA2964C}" type="slidenum">
              <a:rPr lang="en-US" smtClean="0"/>
              <a:t>‹#›</a:t>
            </a:fld>
            <a:endParaRPr lang="en-US"/>
          </a:p>
        </p:txBody>
      </p:sp>
    </p:spTree>
    <p:extLst>
      <p:ext uri="{BB962C8B-B14F-4D97-AF65-F5344CB8AC3E}">
        <p14:creationId xmlns:p14="http://schemas.microsoft.com/office/powerpoint/2010/main" val="3359919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362D06-3C03-EE1E-8103-2E267AB8EEFE}"/>
              </a:ext>
            </a:extLst>
          </p:cNvPr>
          <p:cNvSpPr>
            <a:spLocks noGrp="1"/>
          </p:cNvSpPr>
          <p:nvPr>
            <p:ph type="dt" sz="half" idx="10"/>
          </p:nvPr>
        </p:nvSpPr>
        <p:spPr/>
        <p:txBody>
          <a:bodyPr/>
          <a:lstStyle/>
          <a:p>
            <a:fld id="{56544A32-9666-4EA0-97C3-0E1656F0A4BB}" type="datetime1">
              <a:rPr lang="en-US" smtClean="0"/>
              <a:t>5/2/2026</a:t>
            </a:fld>
            <a:endParaRPr lang="en-US"/>
          </a:p>
        </p:txBody>
      </p:sp>
      <p:sp>
        <p:nvSpPr>
          <p:cNvPr id="3" name="Footer Placeholder 2">
            <a:extLst>
              <a:ext uri="{FF2B5EF4-FFF2-40B4-BE49-F238E27FC236}">
                <a16:creationId xmlns:a16="http://schemas.microsoft.com/office/drawing/2014/main" id="{8BB9CB09-929D-3B83-47E9-E84F1AC0B7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074DDD-88DF-5976-7B23-5ECEB01A8AA5}"/>
              </a:ext>
            </a:extLst>
          </p:cNvPr>
          <p:cNvSpPr>
            <a:spLocks noGrp="1"/>
          </p:cNvSpPr>
          <p:nvPr>
            <p:ph type="sldNum" sz="quarter" idx="12"/>
          </p:nvPr>
        </p:nvSpPr>
        <p:spPr/>
        <p:txBody>
          <a:bodyPr/>
          <a:lstStyle/>
          <a:p>
            <a:fld id="{9399B49A-23E5-4E23-96E7-AF330FA2964C}" type="slidenum">
              <a:rPr lang="en-US" smtClean="0"/>
              <a:t>‹#›</a:t>
            </a:fld>
            <a:endParaRPr lang="en-US"/>
          </a:p>
        </p:txBody>
      </p:sp>
    </p:spTree>
    <p:extLst>
      <p:ext uri="{BB962C8B-B14F-4D97-AF65-F5344CB8AC3E}">
        <p14:creationId xmlns:p14="http://schemas.microsoft.com/office/powerpoint/2010/main" val="3020933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DB1D6-C9A8-9DD1-745A-4D6C084F1F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8E860B-B82F-70AD-94EF-7D8219FC9D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3AAF05-E93B-1A75-FC21-8A750033EB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9A1854-4501-81B6-78E0-639AE50AE3BC}"/>
              </a:ext>
            </a:extLst>
          </p:cNvPr>
          <p:cNvSpPr>
            <a:spLocks noGrp="1"/>
          </p:cNvSpPr>
          <p:nvPr>
            <p:ph type="dt" sz="half" idx="10"/>
          </p:nvPr>
        </p:nvSpPr>
        <p:spPr/>
        <p:txBody>
          <a:bodyPr/>
          <a:lstStyle/>
          <a:p>
            <a:fld id="{6494494B-6ED3-4FAC-8E99-BAEA784E838C}" type="datetime1">
              <a:rPr lang="en-US" smtClean="0"/>
              <a:t>5/2/2026</a:t>
            </a:fld>
            <a:endParaRPr lang="en-US"/>
          </a:p>
        </p:txBody>
      </p:sp>
      <p:sp>
        <p:nvSpPr>
          <p:cNvPr id="6" name="Footer Placeholder 5">
            <a:extLst>
              <a:ext uri="{FF2B5EF4-FFF2-40B4-BE49-F238E27FC236}">
                <a16:creationId xmlns:a16="http://schemas.microsoft.com/office/drawing/2014/main" id="{72B49F5A-37DF-A680-AF98-31467AC208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7D5AD8-E25B-C1F2-7831-B9C8F955FB5D}"/>
              </a:ext>
            </a:extLst>
          </p:cNvPr>
          <p:cNvSpPr>
            <a:spLocks noGrp="1"/>
          </p:cNvSpPr>
          <p:nvPr>
            <p:ph type="sldNum" sz="quarter" idx="12"/>
          </p:nvPr>
        </p:nvSpPr>
        <p:spPr/>
        <p:txBody>
          <a:bodyPr/>
          <a:lstStyle/>
          <a:p>
            <a:fld id="{9399B49A-23E5-4E23-96E7-AF330FA2964C}" type="slidenum">
              <a:rPr lang="en-US" smtClean="0"/>
              <a:t>‹#›</a:t>
            </a:fld>
            <a:endParaRPr lang="en-US"/>
          </a:p>
        </p:txBody>
      </p:sp>
    </p:spTree>
    <p:extLst>
      <p:ext uri="{BB962C8B-B14F-4D97-AF65-F5344CB8AC3E}">
        <p14:creationId xmlns:p14="http://schemas.microsoft.com/office/powerpoint/2010/main" val="957892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8B015-DFC1-E3E6-80AC-ACEFF81B79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79AFCE-5FF1-3DBB-C439-C0DFCECC05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7C8599F-7B06-DEB0-238C-E28C829E9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82398F-0361-02DE-992D-0E2F3E54E765}"/>
              </a:ext>
            </a:extLst>
          </p:cNvPr>
          <p:cNvSpPr>
            <a:spLocks noGrp="1"/>
          </p:cNvSpPr>
          <p:nvPr>
            <p:ph type="dt" sz="half" idx="10"/>
          </p:nvPr>
        </p:nvSpPr>
        <p:spPr/>
        <p:txBody>
          <a:bodyPr/>
          <a:lstStyle/>
          <a:p>
            <a:fld id="{AD6190FB-0BEB-40A3-894D-5523FC4C5A10}" type="datetime1">
              <a:rPr lang="en-US" smtClean="0"/>
              <a:t>5/2/2026</a:t>
            </a:fld>
            <a:endParaRPr lang="en-US"/>
          </a:p>
        </p:txBody>
      </p:sp>
      <p:sp>
        <p:nvSpPr>
          <p:cNvPr id="6" name="Footer Placeholder 5">
            <a:extLst>
              <a:ext uri="{FF2B5EF4-FFF2-40B4-BE49-F238E27FC236}">
                <a16:creationId xmlns:a16="http://schemas.microsoft.com/office/drawing/2014/main" id="{4461D03C-D3AF-CF5F-8019-9957708B8F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E80DE0-E1F7-3E2B-EDC9-FD4BFE8C9F91}"/>
              </a:ext>
            </a:extLst>
          </p:cNvPr>
          <p:cNvSpPr>
            <a:spLocks noGrp="1"/>
          </p:cNvSpPr>
          <p:nvPr>
            <p:ph type="sldNum" sz="quarter" idx="12"/>
          </p:nvPr>
        </p:nvSpPr>
        <p:spPr/>
        <p:txBody>
          <a:bodyPr/>
          <a:lstStyle/>
          <a:p>
            <a:fld id="{9399B49A-23E5-4E23-96E7-AF330FA2964C}" type="slidenum">
              <a:rPr lang="en-US" smtClean="0"/>
              <a:t>‹#›</a:t>
            </a:fld>
            <a:endParaRPr lang="en-US"/>
          </a:p>
        </p:txBody>
      </p:sp>
    </p:spTree>
    <p:extLst>
      <p:ext uri="{BB962C8B-B14F-4D97-AF65-F5344CB8AC3E}">
        <p14:creationId xmlns:p14="http://schemas.microsoft.com/office/powerpoint/2010/main" val="2898613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CCE88-8E8A-1D0F-5503-8505D58561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E25CE2-D65E-4DAD-C111-354E0D85C0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3F05C0-9B38-1C36-D637-8B070607337F}"/>
              </a:ext>
            </a:extLst>
          </p:cNvPr>
          <p:cNvSpPr>
            <a:spLocks noGrp="1"/>
          </p:cNvSpPr>
          <p:nvPr>
            <p:ph type="dt" sz="half" idx="10"/>
          </p:nvPr>
        </p:nvSpPr>
        <p:spPr/>
        <p:txBody>
          <a:bodyPr/>
          <a:lstStyle/>
          <a:p>
            <a:fld id="{007F5C96-8A1A-4619-A3B9-2CE5D884FCB2}" type="datetime1">
              <a:rPr lang="en-US" smtClean="0"/>
              <a:t>5/2/2026</a:t>
            </a:fld>
            <a:endParaRPr lang="en-US"/>
          </a:p>
        </p:txBody>
      </p:sp>
      <p:sp>
        <p:nvSpPr>
          <p:cNvPr id="5" name="Footer Placeholder 4">
            <a:extLst>
              <a:ext uri="{FF2B5EF4-FFF2-40B4-BE49-F238E27FC236}">
                <a16:creationId xmlns:a16="http://schemas.microsoft.com/office/drawing/2014/main" id="{89AA57FE-1455-5E36-92A3-63116B216B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979797-2A46-2BD2-C8B7-AE2EE51CF3E0}"/>
              </a:ext>
            </a:extLst>
          </p:cNvPr>
          <p:cNvSpPr>
            <a:spLocks noGrp="1"/>
          </p:cNvSpPr>
          <p:nvPr>
            <p:ph type="sldNum" sz="quarter" idx="12"/>
          </p:nvPr>
        </p:nvSpPr>
        <p:spPr/>
        <p:txBody>
          <a:bodyPr/>
          <a:lstStyle/>
          <a:p>
            <a:fld id="{9399B49A-23E5-4E23-96E7-AF330FA2964C}" type="slidenum">
              <a:rPr lang="en-US" smtClean="0"/>
              <a:t>‹#›</a:t>
            </a:fld>
            <a:endParaRPr lang="en-US"/>
          </a:p>
        </p:txBody>
      </p:sp>
    </p:spTree>
    <p:extLst>
      <p:ext uri="{BB962C8B-B14F-4D97-AF65-F5344CB8AC3E}">
        <p14:creationId xmlns:p14="http://schemas.microsoft.com/office/powerpoint/2010/main" val="1300085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8197D3-E297-40EB-9F79-599E5EFC5A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33D0FD-3542-4338-14C4-322104AE7F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03BAAB-0774-2C90-A45D-F167E09F284A}"/>
              </a:ext>
            </a:extLst>
          </p:cNvPr>
          <p:cNvSpPr>
            <a:spLocks noGrp="1"/>
          </p:cNvSpPr>
          <p:nvPr>
            <p:ph type="dt" sz="half" idx="10"/>
          </p:nvPr>
        </p:nvSpPr>
        <p:spPr/>
        <p:txBody>
          <a:bodyPr/>
          <a:lstStyle/>
          <a:p>
            <a:fld id="{9099DCF2-003A-43D1-940E-E772A0B2D665}" type="datetime1">
              <a:rPr lang="en-US" smtClean="0"/>
              <a:t>5/2/2026</a:t>
            </a:fld>
            <a:endParaRPr lang="en-US"/>
          </a:p>
        </p:txBody>
      </p:sp>
      <p:sp>
        <p:nvSpPr>
          <p:cNvPr id="5" name="Footer Placeholder 4">
            <a:extLst>
              <a:ext uri="{FF2B5EF4-FFF2-40B4-BE49-F238E27FC236}">
                <a16:creationId xmlns:a16="http://schemas.microsoft.com/office/drawing/2014/main" id="{4E131A2B-3F68-457E-3475-22FC91B55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E60C35-5CD0-CA55-A8A4-529F9F5CE15B}"/>
              </a:ext>
            </a:extLst>
          </p:cNvPr>
          <p:cNvSpPr>
            <a:spLocks noGrp="1"/>
          </p:cNvSpPr>
          <p:nvPr>
            <p:ph type="sldNum" sz="quarter" idx="12"/>
          </p:nvPr>
        </p:nvSpPr>
        <p:spPr/>
        <p:txBody>
          <a:bodyPr/>
          <a:lstStyle/>
          <a:p>
            <a:fld id="{9399B49A-23E5-4E23-96E7-AF330FA2964C}" type="slidenum">
              <a:rPr lang="en-US" smtClean="0"/>
              <a:t>‹#›</a:t>
            </a:fld>
            <a:endParaRPr lang="en-US"/>
          </a:p>
        </p:txBody>
      </p:sp>
    </p:spTree>
    <p:extLst>
      <p:ext uri="{BB962C8B-B14F-4D97-AF65-F5344CB8AC3E}">
        <p14:creationId xmlns:p14="http://schemas.microsoft.com/office/powerpoint/2010/main" val="3932041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6" name="bg object 16"/>
          <p:cNvPicPr/>
          <p:nvPr/>
        </p:nvPicPr>
        <p:blipFill>
          <a:blip r:embed="rId13" cstate="print"/>
          <a:stretch>
            <a:fillRect/>
          </a:stretch>
        </p:blipFill>
        <p:spPr>
          <a:xfrm>
            <a:off x="1" y="0"/>
            <a:ext cx="12192000" cy="6858000"/>
          </a:xfrm>
          <a:prstGeom prst="rect">
            <a:avLst/>
          </a:prstGeom>
        </p:spPr>
      </p:pic>
      <p:sp>
        <p:nvSpPr>
          <p:cNvPr id="2" name="Title Placeholder 1">
            <a:extLst>
              <a:ext uri="{FF2B5EF4-FFF2-40B4-BE49-F238E27FC236}">
                <a16:creationId xmlns:a16="http://schemas.microsoft.com/office/drawing/2014/main" id="{EB817603-107E-4EA0-248D-F9BD0AAD56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7F91E70-4D11-4776-0DF8-7B3BB11CCA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F547FE-E248-4CEC-33E3-0A20047D70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DCF2B7-E57F-4482-A8C5-B77E09D7A16D}" type="datetime1">
              <a:rPr lang="en-US" smtClean="0"/>
              <a:t>5/2/2026</a:t>
            </a:fld>
            <a:endParaRPr lang="en-US"/>
          </a:p>
        </p:txBody>
      </p:sp>
      <p:sp>
        <p:nvSpPr>
          <p:cNvPr id="5" name="Footer Placeholder 4">
            <a:extLst>
              <a:ext uri="{FF2B5EF4-FFF2-40B4-BE49-F238E27FC236}">
                <a16:creationId xmlns:a16="http://schemas.microsoft.com/office/drawing/2014/main" id="{10741E97-CA35-EAB9-D1A2-96B80672DB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007F8C7-F392-2A48-E6AD-B2E46C35B1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99B49A-23E5-4E23-96E7-AF330FA2964C}" type="slidenum">
              <a:rPr lang="en-US" smtClean="0"/>
              <a:t>‹#›</a:t>
            </a:fld>
            <a:endParaRPr lang="en-US"/>
          </a:p>
        </p:txBody>
      </p:sp>
    </p:spTree>
    <p:extLst>
      <p:ext uri="{BB962C8B-B14F-4D97-AF65-F5344CB8AC3E}">
        <p14:creationId xmlns:p14="http://schemas.microsoft.com/office/powerpoint/2010/main" val="35670521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800" b="1" kern="1200">
          <a:solidFill>
            <a:srgbClr val="000066"/>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150000"/>
        </a:lnSpc>
        <a:spcBef>
          <a:spcPts val="1000"/>
        </a:spcBef>
        <a:buFont typeface="Wingdings" panose="05000000000000000000" pitchFamily="2" charset="2"/>
        <a:buChar char="v"/>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50000"/>
        </a:lnSpc>
        <a:spcBef>
          <a:spcPts val="5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50000"/>
        </a:lnSpc>
        <a:spcBef>
          <a:spcPts val="5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10" Type="http://schemas.openxmlformats.org/officeDocument/2006/relationships/image" Target="../media/image15.jpeg"/><Relationship Id="rId4" Type="http://schemas.openxmlformats.org/officeDocument/2006/relationships/image" Target="../media/image9.png"/><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onsemi.com/download/data-sheet/pdf/bc547-d.pdf" TargetMode="External"/><Relationship Id="rId2" Type="http://schemas.openxmlformats.org/officeDocument/2006/relationships/hyperlink" Target="https://www.e-switch.com/news-events/blog/switches-simplified/what-is-a-magnetic-reed-switch/" TargetMode="External"/><Relationship Id="rId1" Type="http://schemas.openxmlformats.org/officeDocument/2006/relationships/slideLayout" Target="../slideLayouts/slideLayout2.xml"/><Relationship Id="rId4" Type="http://schemas.openxmlformats.org/officeDocument/2006/relationships/hyperlink" Target="https://www.vishay.com/docs/88503/1n4007.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CF2B4-E64F-A6E6-2528-9CA130AD362B}"/>
              </a:ext>
            </a:extLst>
          </p:cNvPr>
          <p:cNvSpPr>
            <a:spLocks noGrp="1"/>
          </p:cNvSpPr>
          <p:nvPr>
            <p:ph type="ctrTitle"/>
          </p:nvPr>
        </p:nvSpPr>
        <p:spPr>
          <a:xfrm>
            <a:off x="525739" y="1706797"/>
            <a:ext cx="10409853" cy="1669349"/>
          </a:xfrm>
        </p:spPr>
        <p:txBody>
          <a:bodyPr>
            <a:noAutofit/>
          </a:bodyPr>
          <a:lstStyle/>
          <a:p>
            <a:r>
              <a:rPr lang="en-US" sz="3600" dirty="0">
                <a:solidFill>
                  <a:schemeClr val="tx1"/>
                </a:solidFill>
                <a:latin typeface="Tahoma" panose="020B0604030504040204" pitchFamily="34" charset="0"/>
                <a:ea typeface="Tahoma" panose="020B0604030504040204" pitchFamily="34" charset="0"/>
                <a:cs typeface="Tahoma" panose="020B0604030504040204" pitchFamily="34" charset="0"/>
              </a:rPr>
              <a:t>Design and Implementation of a Door Security Alarm System Using BJT Switching</a:t>
            </a:r>
          </a:p>
        </p:txBody>
      </p:sp>
      <p:pic>
        <p:nvPicPr>
          <p:cNvPr id="4" name="Picture 3">
            <a:extLst>
              <a:ext uri="{FF2B5EF4-FFF2-40B4-BE49-F238E27FC236}">
                <a16:creationId xmlns:a16="http://schemas.microsoft.com/office/drawing/2014/main" id="{988EAB53-F485-F938-35DA-682DD09F7B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19334" y="580865"/>
            <a:ext cx="5622666" cy="1231838"/>
          </a:xfrm>
          <a:prstGeom prst="rect">
            <a:avLst/>
          </a:prstGeom>
        </p:spPr>
      </p:pic>
      <p:graphicFrame>
        <p:nvGraphicFramePr>
          <p:cNvPr id="5" name="Table 4">
            <a:extLst>
              <a:ext uri="{FF2B5EF4-FFF2-40B4-BE49-F238E27FC236}">
                <a16:creationId xmlns:a16="http://schemas.microsoft.com/office/drawing/2014/main" id="{16035EF9-FF87-C3E3-B546-19A35AB0FC85}"/>
              </a:ext>
            </a:extLst>
          </p:cNvPr>
          <p:cNvGraphicFramePr>
            <a:graphicFrameLocks noGrp="1"/>
          </p:cNvGraphicFramePr>
          <p:nvPr>
            <p:extLst>
              <p:ext uri="{D42A27DB-BD31-4B8C-83A1-F6EECF244321}">
                <p14:modId xmlns:p14="http://schemas.microsoft.com/office/powerpoint/2010/main" val="4142322434"/>
              </p:ext>
            </p:extLst>
          </p:nvPr>
        </p:nvGraphicFramePr>
        <p:xfrm>
          <a:off x="2706117" y="4236803"/>
          <a:ext cx="6049095" cy="1828800"/>
        </p:xfrm>
        <a:graphic>
          <a:graphicData uri="http://schemas.openxmlformats.org/drawingml/2006/table">
            <a:tbl>
              <a:tblPr firstRow="1" bandRow="1">
                <a:tableStyleId>{E8B1032C-EA38-4F05-BA0D-38AFFFC7BED3}</a:tableStyleId>
              </a:tblPr>
              <a:tblGrid>
                <a:gridCol w="4628332">
                  <a:extLst>
                    <a:ext uri="{9D8B030D-6E8A-4147-A177-3AD203B41FA5}">
                      <a16:colId xmlns:a16="http://schemas.microsoft.com/office/drawing/2014/main" val="574340536"/>
                    </a:ext>
                  </a:extLst>
                </a:gridCol>
                <a:gridCol w="1420763">
                  <a:extLst>
                    <a:ext uri="{9D8B030D-6E8A-4147-A177-3AD203B41FA5}">
                      <a16:colId xmlns:a16="http://schemas.microsoft.com/office/drawing/2014/main" val="22690801"/>
                    </a:ext>
                  </a:extLst>
                </a:gridCol>
              </a:tblGrid>
              <a:tr h="441576">
                <a:tc>
                  <a:txBody>
                    <a:bodyPr/>
                    <a:lstStyle/>
                    <a:p>
                      <a:pPr algn="ctr"/>
                      <a:r>
                        <a:rPr lang="en-US" sz="2400" dirty="0"/>
                        <a:t>Name</a:t>
                      </a:r>
                    </a:p>
                  </a:txBody>
                  <a:tcPr/>
                </a:tc>
                <a:tc>
                  <a:txBody>
                    <a:bodyPr/>
                    <a:lstStyle/>
                    <a:p>
                      <a:pPr algn="ctr"/>
                      <a:r>
                        <a:rPr lang="en-US" sz="2400" dirty="0"/>
                        <a:t>ID</a:t>
                      </a:r>
                    </a:p>
                  </a:txBody>
                  <a:tcPr/>
                </a:tc>
                <a:extLst>
                  <a:ext uri="{0D108BD9-81ED-4DB2-BD59-A6C34878D82A}">
                    <a16:rowId xmlns:a16="http://schemas.microsoft.com/office/drawing/2014/main" val="2403133772"/>
                  </a:ext>
                </a:extLst>
              </a:tr>
              <a:tr h="438143">
                <a:tc>
                  <a:txBody>
                    <a:bodyPr/>
                    <a:lstStyle/>
                    <a:p>
                      <a:pPr algn="ctr"/>
                      <a:r>
                        <a:rPr lang="en-US" sz="2400" dirty="0">
                          <a:latin typeface="Times New Roman" panose="02020603050405020304" pitchFamily="18" charset="0"/>
                          <a:cs typeface="Times New Roman" panose="02020603050405020304" pitchFamily="18" charset="0"/>
                        </a:rPr>
                        <a:t>Abdullah </a:t>
                      </a:r>
                      <a:r>
                        <a:rPr lang="en-US" sz="2400" dirty="0" err="1">
                          <a:latin typeface="Times New Roman" panose="02020603050405020304" pitchFamily="18" charset="0"/>
                          <a:cs typeface="Times New Roman" panose="02020603050405020304" pitchFamily="18" charset="0"/>
                        </a:rPr>
                        <a:t>Shebairm</a:t>
                      </a:r>
                      <a:r>
                        <a:rPr lang="en-US" sz="2400" dirty="0">
                          <a:latin typeface="Times New Roman" panose="02020603050405020304" pitchFamily="18" charset="0"/>
                          <a:cs typeface="Times New Roman" panose="02020603050405020304" pitchFamily="18" charset="0"/>
                        </a:rPr>
                        <a:t> </a:t>
                      </a:r>
                    </a:p>
                  </a:txBody>
                  <a:tcPr/>
                </a:tc>
                <a:tc>
                  <a:txBody>
                    <a:bodyPr/>
                    <a:lstStyle/>
                    <a:p>
                      <a:pPr algn="ctr"/>
                      <a:r>
                        <a:rPr lang="en-US" sz="2400" b="1" dirty="0"/>
                        <a:t>10081271</a:t>
                      </a: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3794109"/>
                  </a:ext>
                </a:extLst>
              </a:tr>
              <a:tr h="428204">
                <a:tc>
                  <a:txBody>
                    <a:bodyPr/>
                    <a:lstStyle/>
                    <a:p>
                      <a:pPr algn="ctr"/>
                      <a:r>
                        <a:rPr lang="en-US" sz="2400" dirty="0">
                          <a:latin typeface="Times New Roman" panose="02020603050405020304" pitchFamily="18" charset="0"/>
                          <a:cs typeface="Times New Roman" panose="02020603050405020304" pitchFamily="18" charset="0"/>
                        </a:rPr>
                        <a:t>Yousef AlAbdulrazzaq</a:t>
                      </a:r>
                    </a:p>
                  </a:txBody>
                  <a:tcPr/>
                </a:tc>
                <a:tc>
                  <a:txBody>
                    <a:bodyPr/>
                    <a:lstStyle/>
                    <a:p>
                      <a:pPr algn="ctr"/>
                      <a:r>
                        <a:rPr lang="en-US" sz="2400" b="1" dirty="0">
                          <a:latin typeface="Times New Roman" panose="02020603050405020304" pitchFamily="18" charset="0"/>
                          <a:cs typeface="Times New Roman" panose="02020603050405020304" pitchFamily="18" charset="0"/>
                        </a:rPr>
                        <a:t>75018</a:t>
                      </a:r>
                    </a:p>
                  </a:txBody>
                  <a:tcPr/>
                </a:tc>
                <a:extLst>
                  <a:ext uri="{0D108BD9-81ED-4DB2-BD59-A6C34878D82A}">
                    <a16:rowId xmlns:a16="http://schemas.microsoft.com/office/drawing/2014/main" val="852195225"/>
                  </a:ext>
                </a:extLst>
              </a:tr>
              <a:tr h="348690">
                <a:tc>
                  <a:txBody>
                    <a:bodyPr/>
                    <a:lstStyle/>
                    <a:p>
                      <a:pPr algn="ctr"/>
                      <a:r>
                        <a:rPr lang="en-US" sz="2400" dirty="0">
                          <a:latin typeface="Times New Roman" panose="02020603050405020304" pitchFamily="18" charset="0"/>
                          <a:cs typeface="Times New Roman" panose="02020603050405020304" pitchFamily="18" charset="0"/>
                        </a:rPr>
                        <a:t>Fahad Mutlaq </a:t>
                      </a:r>
                      <a:r>
                        <a:rPr lang="en-US" sz="2400" dirty="0" err="1">
                          <a:latin typeface="Times New Roman" panose="02020603050405020304" pitchFamily="18" charset="0"/>
                          <a:cs typeface="Times New Roman" panose="02020603050405020304" pitchFamily="18" charset="0"/>
                        </a:rPr>
                        <a:t>Alazmi</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10085539</a:t>
                      </a:r>
                    </a:p>
                  </a:txBody>
                  <a:tcPr/>
                </a:tc>
                <a:extLst>
                  <a:ext uri="{0D108BD9-81ED-4DB2-BD59-A6C34878D82A}">
                    <a16:rowId xmlns:a16="http://schemas.microsoft.com/office/drawing/2014/main" val="133288275"/>
                  </a:ext>
                </a:extLst>
              </a:tr>
            </a:tbl>
          </a:graphicData>
        </a:graphic>
      </p:graphicFrame>
      <p:sp>
        <p:nvSpPr>
          <p:cNvPr id="3" name="Slide Number Placeholder 2">
            <a:extLst>
              <a:ext uri="{FF2B5EF4-FFF2-40B4-BE49-F238E27FC236}">
                <a16:creationId xmlns:a16="http://schemas.microsoft.com/office/drawing/2014/main" id="{096B2245-6386-C744-94B1-86387A4C0035}"/>
              </a:ext>
            </a:extLst>
          </p:cNvPr>
          <p:cNvSpPr>
            <a:spLocks noGrp="1"/>
          </p:cNvSpPr>
          <p:nvPr>
            <p:ph type="sldNum" sz="quarter" idx="12"/>
          </p:nvPr>
        </p:nvSpPr>
        <p:spPr/>
        <p:txBody>
          <a:bodyPr/>
          <a:lstStyle/>
          <a:p>
            <a:fld id="{9399B49A-23E5-4E23-96E7-AF330FA2964C}" type="slidenum">
              <a:rPr lang="en-US" smtClean="0"/>
              <a:t>1</a:t>
            </a:fld>
            <a:endParaRPr lang="en-US"/>
          </a:p>
        </p:txBody>
      </p:sp>
      <p:sp>
        <p:nvSpPr>
          <p:cNvPr id="6" name="TextBox 5">
            <a:extLst>
              <a:ext uri="{FF2B5EF4-FFF2-40B4-BE49-F238E27FC236}">
                <a16:creationId xmlns:a16="http://schemas.microsoft.com/office/drawing/2014/main" id="{9407C553-8D25-BFCE-98CD-E91932D8A21B}"/>
              </a:ext>
            </a:extLst>
          </p:cNvPr>
          <p:cNvSpPr txBox="1"/>
          <p:nvPr/>
        </p:nvSpPr>
        <p:spPr>
          <a:xfrm>
            <a:off x="2052082" y="3447176"/>
            <a:ext cx="7688266" cy="523220"/>
          </a:xfrm>
          <a:prstGeom prst="rect">
            <a:avLst/>
          </a:prstGeom>
          <a:noFill/>
        </p:spPr>
        <p:txBody>
          <a:bodyPr wrap="square">
            <a:spAutoFit/>
          </a:bodyPr>
          <a:lstStyle/>
          <a:p>
            <a:pPr algn="ctr"/>
            <a:r>
              <a:rPr lang="en-US" sz="2800" dirty="0">
                <a:latin typeface="Tahoma" panose="020B0604030504040204" pitchFamily="34" charset="0"/>
                <a:ea typeface="Tahoma" panose="020B0604030504040204" pitchFamily="34" charset="0"/>
                <a:cs typeface="Tahoma" panose="020B0604030504040204" pitchFamily="34" charset="0"/>
              </a:rPr>
              <a:t>Electronic Devices and Design Lab - EE-CE 208</a:t>
            </a:r>
          </a:p>
        </p:txBody>
      </p:sp>
      <p:sp>
        <p:nvSpPr>
          <p:cNvPr id="8" name="TextBox 7">
            <a:extLst>
              <a:ext uri="{FF2B5EF4-FFF2-40B4-BE49-F238E27FC236}">
                <a16:creationId xmlns:a16="http://schemas.microsoft.com/office/drawing/2014/main" id="{F4110186-0972-8350-1DC0-EA949F610269}"/>
              </a:ext>
            </a:extLst>
          </p:cNvPr>
          <p:cNvSpPr txBox="1"/>
          <p:nvPr/>
        </p:nvSpPr>
        <p:spPr>
          <a:xfrm>
            <a:off x="4324857" y="6094740"/>
            <a:ext cx="2649643" cy="523220"/>
          </a:xfrm>
          <a:prstGeom prst="rect">
            <a:avLst/>
          </a:prstGeom>
          <a:noFill/>
        </p:spPr>
        <p:txBody>
          <a:bodyPr wrap="square">
            <a:spAutoFit/>
          </a:bodyPr>
          <a:lstStyle/>
          <a:p>
            <a:pPr algn="ctr"/>
            <a:r>
              <a:rPr lang="en-US" sz="2800" b="1" dirty="0">
                <a:latin typeface="Tahoma" panose="020B0604030504040204" pitchFamily="34" charset="0"/>
                <a:ea typeface="Tahoma" panose="020B0604030504040204" pitchFamily="34" charset="0"/>
                <a:cs typeface="Tahoma" panose="020B0604030504040204" pitchFamily="34" charset="0"/>
              </a:rPr>
              <a:t>Spring 2026 </a:t>
            </a:r>
          </a:p>
        </p:txBody>
      </p:sp>
    </p:spTree>
    <p:extLst>
      <p:ext uri="{BB962C8B-B14F-4D97-AF65-F5344CB8AC3E}">
        <p14:creationId xmlns:p14="http://schemas.microsoft.com/office/powerpoint/2010/main" val="2003469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399F3-FE49-57EF-C77B-610521DF63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1463B-DC95-EE09-AB36-EB023EAB3219}"/>
              </a:ext>
            </a:extLst>
          </p:cNvPr>
          <p:cNvSpPr>
            <a:spLocks noGrp="1"/>
          </p:cNvSpPr>
          <p:nvPr>
            <p:ph type="title"/>
          </p:nvPr>
        </p:nvSpPr>
        <p:spPr/>
        <p:txBody>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Introduction</a:t>
            </a:r>
          </a:p>
        </p:txBody>
      </p:sp>
      <p:sp>
        <p:nvSpPr>
          <p:cNvPr id="4" name="Slide Number Placeholder 3">
            <a:extLst>
              <a:ext uri="{FF2B5EF4-FFF2-40B4-BE49-F238E27FC236}">
                <a16:creationId xmlns:a16="http://schemas.microsoft.com/office/drawing/2014/main" id="{25450C87-6BC3-A974-89F7-DA17C7142B12}"/>
              </a:ext>
            </a:extLst>
          </p:cNvPr>
          <p:cNvSpPr>
            <a:spLocks noGrp="1"/>
          </p:cNvSpPr>
          <p:nvPr>
            <p:ph type="sldNum" sz="quarter" idx="12"/>
          </p:nvPr>
        </p:nvSpPr>
        <p:spPr/>
        <p:txBody>
          <a:bodyPr/>
          <a:lstStyle/>
          <a:p>
            <a:fld id="{9399B49A-23E5-4E23-96E7-AF330FA2964C}" type="slidenum">
              <a:rPr lang="en-US" smtClean="0"/>
              <a:t>2</a:t>
            </a:fld>
            <a:endParaRPr lang="en-US"/>
          </a:p>
        </p:txBody>
      </p:sp>
      <p:sp>
        <p:nvSpPr>
          <p:cNvPr id="3" name="Content Placeholder 2">
            <a:extLst>
              <a:ext uri="{FF2B5EF4-FFF2-40B4-BE49-F238E27FC236}">
                <a16:creationId xmlns:a16="http://schemas.microsoft.com/office/drawing/2014/main" id="{CED0F059-798C-7D15-DD6A-4611A6602C28}"/>
              </a:ext>
            </a:extLst>
          </p:cNvPr>
          <p:cNvSpPr>
            <a:spLocks noGrp="1"/>
          </p:cNvSpPr>
          <p:nvPr>
            <p:ph idx="1"/>
          </p:nvPr>
        </p:nvSpPr>
        <p:spPr>
          <a:xfrm>
            <a:off x="285750" y="1520456"/>
            <a:ext cx="8220076" cy="5201019"/>
          </a:xfrm>
        </p:spPr>
        <p:txBody>
          <a:bodyPr>
            <a:normAutofit/>
          </a:bodyPr>
          <a:lstStyle/>
          <a:p>
            <a:pPr marL="857250" lvl="1" indent="-400050"/>
            <a:r>
              <a:rPr lang="en-US" sz="2400" dirty="0">
                <a:latin typeface="Tahoma" panose="020B0604030504040204" pitchFamily="34" charset="0"/>
                <a:ea typeface="Tahoma" panose="020B0604030504040204" pitchFamily="34" charset="0"/>
                <a:cs typeface="Tahoma" panose="020B0604030504040204" pitchFamily="34" charset="0"/>
              </a:rPr>
              <a:t>Modern security systems require reliable and fast detection mechanisms to prevent unauthorized access.</a:t>
            </a:r>
          </a:p>
          <a:p>
            <a:pPr marL="857250" lvl="1" indent="-400050"/>
            <a:r>
              <a:rPr lang="en-US" sz="2400" dirty="0">
                <a:latin typeface="Tahoma" panose="020B0604030504040204" pitchFamily="34" charset="0"/>
                <a:ea typeface="Tahoma" panose="020B0604030504040204" pitchFamily="34" charset="0"/>
                <a:cs typeface="Tahoma" panose="020B0604030504040204" pitchFamily="34" charset="0"/>
              </a:rPr>
              <a:t>This project presents a door alarm system that detects the opening of a door and immediately activates an alert.</a:t>
            </a:r>
          </a:p>
          <a:p>
            <a:pPr marL="857250" lvl="1" indent="-400050"/>
            <a:r>
              <a:rPr lang="en-US" sz="2400" dirty="0">
                <a:latin typeface="Tahoma" panose="020B0604030504040204" pitchFamily="34" charset="0"/>
                <a:ea typeface="Tahoma" panose="020B0604030504040204" pitchFamily="34" charset="0"/>
                <a:cs typeface="Tahoma" panose="020B0604030504040204" pitchFamily="34" charset="0"/>
              </a:rPr>
              <a:t>The system converts a mechanical action (door movement) into an electrical response, ensuring real-time monitoring and enhanced safety.</a:t>
            </a:r>
          </a:p>
        </p:txBody>
      </p:sp>
      <p:pic>
        <p:nvPicPr>
          <p:cNvPr id="1026" name="Picture 2" descr="Door security alarm system circuit. 📌 Components: MCB (circuit breaker) →  cuts off electricity when there is a short circuit. Power supply → converts  220V AC to 12V DC. Infrared sensor (Tx">
            <a:extLst>
              <a:ext uri="{FF2B5EF4-FFF2-40B4-BE49-F238E27FC236}">
                <a16:creationId xmlns:a16="http://schemas.microsoft.com/office/drawing/2014/main" id="{6EBE6BA7-0C90-847B-C395-15A56B0814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7857" y="1816100"/>
            <a:ext cx="3323912" cy="4414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3611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D1F70-AAC6-2555-077A-4A1D7BC63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BA732-327C-EBA3-2611-03490980AA2F}"/>
              </a:ext>
            </a:extLst>
          </p:cNvPr>
          <p:cNvSpPr>
            <a:spLocks noGrp="1"/>
          </p:cNvSpPr>
          <p:nvPr>
            <p:ph type="title"/>
          </p:nvPr>
        </p:nvSpPr>
        <p:spPr/>
        <p:txBody>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Aim and Objectives</a:t>
            </a:r>
          </a:p>
        </p:txBody>
      </p:sp>
      <p:sp>
        <p:nvSpPr>
          <p:cNvPr id="4" name="Slide Number Placeholder 3">
            <a:extLst>
              <a:ext uri="{FF2B5EF4-FFF2-40B4-BE49-F238E27FC236}">
                <a16:creationId xmlns:a16="http://schemas.microsoft.com/office/drawing/2014/main" id="{9791D950-2928-3C34-C5EB-89D40B2BE87A}"/>
              </a:ext>
            </a:extLst>
          </p:cNvPr>
          <p:cNvSpPr>
            <a:spLocks noGrp="1"/>
          </p:cNvSpPr>
          <p:nvPr>
            <p:ph type="sldNum" sz="quarter" idx="12"/>
          </p:nvPr>
        </p:nvSpPr>
        <p:spPr/>
        <p:txBody>
          <a:bodyPr/>
          <a:lstStyle/>
          <a:p>
            <a:fld id="{9399B49A-23E5-4E23-96E7-AF330FA2964C}" type="slidenum">
              <a:rPr lang="en-US" smtClean="0"/>
              <a:t>3</a:t>
            </a:fld>
            <a:endParaRPr lang="en-US"/>
          </a:p>
        </p:txBody>
      </p:sp>
      <p:sp>
        <p:nvSpPr>
          <p:cNvPr id="3" name="Content Placeholder 2">
            <a:extLst>
              <a:ext uri="{FF2B5EF4-FFF2-40B4-BE49-F238E27FC236}">
                <a16:creationId xmlns:a16="http://schemas.microsoft.com/office/drawing/2014/main" id="{60BF2C45-E4DD-0789-D323-5903146D6933}"/>
              </a:ext>
            </a:extLst>
          </p:cNvPr>
          <p:cNvSpPr>
            <a:spLocks noGrp="1"/>
          </p:cNvSpPr>
          <p:nvPr>
            <p:ph idx="1"/>
          </p:nvPr>
        </p:nvSpPr>
        <p:spPr>
          <a:xfrm>
            <a:off x="838201" y="1520456"/>
            <a:ext cx="10515599" cy="5201019"/>
          </a:xfrm>
        </p:spPr>
        <p:txBody>
          <a:bodyPr>
            <a:normAutofit fontScale="77500" lnSpcReduction="20000"/>
          </a:bodyPr>
          <a:lstStyle/>
          <a:p>
            <a:pPr marL="1028700" lvl="1" indent="-571500">
              <a:buFont typeface="+mj-lt"/>
              <a:buAutoNum type="romanUcPeriod"/>
            </a:pPr>
            <a:r>
              <a:rPr lang="en-US" b="1" dirty="0">
                <a:latin typeface="Tahoma" panose="020B0604030504040204" pitchFamily="34" charset="0"/>
                <a:ea typeface="Tahoma" panose="020B0604030504040204" pitchFamily="34" charset="0"/>
                <a:cs typeface="Tahoma" panose="020B0604030504040204" pitchFamily="34" charset="0"/>
              </a:rPr>
              <a:t>Aim:</a:t>
            </a:r>
          </a:p>
          <a:p>
            <a:pPr marL="1311275" lvl="2" indent="-396875"/>
            <a:r>
              <a:rPr lang="en-US" dirty="0">
                <a:latin typeface="Tahoma" panose="020B0604030504040204" pitchFamily="34" charset="0"/>
                <a:ea typeface="Tahoma" panose="020B0604030504040204" pitchFamily="34" charset="0"/>
                <a:cs typeface="Tahoma" panose="020B0604030504040204" pitchFamily="34" charset="0"/>
              </a:rPr>
              <a:t>To design and implement a door alarm system using discrete electronic components.</a:t>
            </a:r>
          </a:p>
          <a:p>
            <a:pPr marL="1028700" lvl="1" indent="-571500">
              <a:buFont typeface="+mj-lt"/>
              <a:buAutoNum type="romanUcPeriod"/>
            </a:pPr>
            <a:r>
              <a:rPr lang="en-US" sz="2900" b="1" dirty="0">
                <a:latin typeface="Tahoma" panose="020B0604030504040204" pitchFamily="34" charset="0"/>
                <a:ea typeface="Tahoma" panose="020B0604030504040204" pitchFamily="34" charset="0"/>
                <a:cs typeface="Tahoma" panose="020B0604030504040204" pitchFamily="34" charset="0"/>
              </a:rPr>
              <a:t>Overview:</a:t>
            </a:r>
          </a:p>
          <a:p>
            <a:pPr marL="1311275" lvl="2" indent="-396875"/>
            <a:r>
              <a:rPr lang="en-US" dirty="0">
                <a:latin typeface="Tahoma" panose="020B0604030504040204" pitchFamily="34" charset="0"/>
                <a:ea typeface="Tahoma" panose="020B0604030504040204" pitchFamily="34" charset="0"/>
                <a:cs typeface="Tahoma" panose="020B0604030504040204" pitchFamily="34" charset="0"/>
              </a:rPr>
              <a:t>Detect door opening using a magnetic sensor</a:t>
            </a:r>
          </a:p>
          <a:p>
            <a:pPr marL="1311275" lvl="2" indent="-396875"/>
            <a:r>
              <a:rPr lang="en-US" dirty="0">
                <a:latin typeface="Tahoma" panose="020B0604030504040204" pitchFamily="34" charset="0"/>
                <a:ea typeface="Tahoma" panose="020B0604030504040204" pitchFamily="34" charset="0"/>
                <a:cs typeface="Tahoma" panose="020B0604030504040204" pitchFamily="34" charset="0"/>
              </a:rPr>
              <a:t>Activate an audible and visual alert</a:t>
            </a:r>
          </a:p>
          <a:p>
            <a:pPr marL="1311275" lvl="2" indent="-396875"/>
            <a:r>
              <a:rPr lang="en-US" dirty="0">
                <a:latin typeface="Tahoma" panose="020B0604030504040204" pitchFamily="34" charset="0"/>
                <a:ea typeface="Tahoma" panose="020B0604030504040204" pitchFamily="34" charset="0"/>
                <a:cs typeface="Tahoma" panose="020B0604030504040204" pitchFamily="34" charset="0"/>
              </a:rPr>
              <a:t>Ensure stable operation at Vdc​=11.96V</a:t>
            </a:r>
          </a:p>
          <a:p>
            <a:pPr marL="1311275" lvl="2" indent="-396875"/>
            <a:r>
              <a:rPr lang="en-US" dirty="0">
                <a:latin typeface="Tahoma" panose="020B0604030504040204" pitchFamily="34" charset="0"/>
                <a:ea typeface="Tahoma" panose="020B0604030504040204" pitchFamily="34" charset="0"/>
                <a:cs typeface="Tahoma" panose="020B0604030504040204" pitchFamily="34" charset="0"/>
              </a:rPr>
              <a:t>Demonstrate transistor switching behavior</a:t>
            </a:r>
          </a:p>
          <a:p>
            <a:pPr marL="1311275" lvl="2" indent="-396875"/>
            <a:r>
              <a:rPr lang="en-US" dirty="0">
                <a:latin typeface="Tahoma" panose="020B0604030504040204" pitchFamily="34" charset="0"/>
                <a:ea typeface="Tahoma" panose="020B0604030504040204" pitchFamily="34" charset="0"/>
                <a:cs typeface="Tahoma" panose="020B0604030504040204" pitchFamily="34" charset="0"/>
              </a:rPr>
              <a:t>Validate performance using simulation and hardware implementation</a:t>
            </a:r>
          </a:p>
        </p:txBody>
      </p:sp>
    </p:spTree>
    <p:extLst>
      <p:ext uri="{BB962C8B-B14F-4D97-AF65-F5344CB8AC3E}">
        <p14:creationId xmlns:p14="http://schemas.microsoft.com/office/powerpoint/2010/main" val="1572956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E2E74-B7BB-4B06-8022-6E9C63D289C9}"/>
              </a:ext>
            </a:extLst>
          </p:cNvPr>
          <p:cNvSpPr>
            <a:spLocks noGrp="1"/>
          </p:cNvSpPr>
          <p:nvPr>
            <p:ph type="title"/>
          </p:nvPr>
        </p:nvSpPr>
        <p:spPr/>
        <p:txBody>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Criteria and Constraints</a:t>
            </a:r>
          </a:p>
        </p:txBody>
      </p:sp>
      <p:sp>
        <p:nvSpPr>
          <p:cNvPr id="4" name="Slide Number Placeholder 3">
            <a:extLst>
              <a:ext uri="{FF2B5EF4-FFF2-40B4-BE49-F238E27FC236}">
                <a16:creationId xmlns:a16="http://schemas.microsoft.com/office/drawing/2014/main" id="{7DBBBAB5-F3E8-44CB-AC83-D3F815B2CE9C}"/>
              </a:ext>
            </a:extLst>
          </p:cNvPr>
          <p:cNvSpPr>
            <a:spLocks noGrp="1"/>
          </p:cNvSpPr>
          <p:nvPr>
            <p:ph type="sldNum" sz="quarter" idx="12"/>
          </p:nvPr>
        </p:nvSpPr>
        <p:spPr/>
        <p:txBody>
          <a:bodyPr/>
          <a:lstStyle/>
          <a:p>
            <a:fld id="{9399B49A-23E5-4E23-96E7-AF330FA2964C}" type="slidenum">
              <a:rPr lang="en-US" smtClean="0"/>
              <a:t>4</a:t>
            </a:fld>
            <a:endParaRPr lang="en-US"/>
          </a:p>
        </p:txBody>
      </p:sp>
      <p:sp>
        <p:nvSpPr>
          <p:cNvPr id="3" name="Rectangle 2">
            <a:extLst>
              <a:ext uri="{FF2B5EF4-FFF2-40B4-BE49-F238E27FC236}">
                <a16:creationId xmlns:a16="http://schemas.microsoft.com/office/drawing/2014/main" id="{C470661A-C311-056F-87E1-E0FCD443C938}"/>
              </a:ext>
            </a:extLst>
          </p:cNvPr>
          <p:cNvSpPr/>
          <p:nvPr/>
        </p:nvSpPr>
        <p:spPr>
          <a:xfrm>
            <a:off x="701246" y="1690688"/>
            <a:ext cx="9589357" cy="5030787"/>
          </a:xfrm>
          <a:prstGeom prst="rect">
            <a:avLst/>
          </a:prstGeom>
        </p:spPr>
        <p:txBody>
          <a:bodyPr/>
          <a:lstStyle/>
          <a:p>
            <a:pPr marL="1028700" lvl="1" indent="-571500">
              <a:spcBef>
                <a:spcPts val="500"/>
              </a:spcBef>
              <a:buFont typeface="+mj-lt"/>
              <a:buAutoNum type="romanUcPeriod"/>
            </a:pPr>
            <a:r>
              <a:rPr lang="en-US" b="1" dirty="0">
                <a:latin typeface="Tahoma" panose="020B0604030504040204" pitchFamily="34" charset="0"/>
                <a:ea typeface="Tahoma" panose="020B0604030504040204" pitchFamily="34" charset="0"/>
                <a:cs typeface="Tahoma" panose="020B0604030504040204" pitchFamily="34" charset="0"/>
              </a:rPr>
              <a:t>Design Criteria:</a:t>
            </a:r>
          </a:p>
          <a:p>
            <a:pPr marL="1311275" lvl="2" indent="-396875">
              <a:spcBef>
                <a:spcPts val="500"/>
              </a:spcBef>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The system must detect door opening accurately</a:t>
            </a:r>
          </a:p>
          <a:p>
            <a:pPr marL="1311275" lvl="2" indent="-396875">
              <a:spcBef>
                <a:spcPts val="500"/>
              </a:spcBef>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The alarm (buzzer and LED) must activate immediately</a:t>
            </a:r>
          </a:p>
          <a:p>
            <a:pPr marL="1311275" lvl="2" indent="-396875">
              <a:spcBef>
                <a:spcPts val="500"/>
              </a:spcBef>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The circuit must operate reliably under all conditions</a:t>
            </a:r>
          </a:p>
          <a:p>
            <a:pPr marL="1311275" lvl="2" indent="-396875">
              <a:spcBef>
                <a:spcPts val="500"/>
              </a:spcBef>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Transistors must switch correctly between cutoff and saturation</a:t>
            </a:r>
          </a:p>
          <a:p>
            <a:pPr marL="1311275" lvl="2" indent="-396875">
              <a:spcBef>
                <a:spcPts val="500"/>
              </a:spcBef>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The design should ensure stable and continuous operation</a:t>
            </a:r>
          </a:p>
          <a:p>
            <a:pPr marL="1028700" lvl="1" indent="-571500">
              <a:spcBef>
                <a:spcPts val="1800"/>
              </a:spcBef>
              <a:buFont typeface="+mj-lt"/>
              <a:buAutoNum type="romanUcPeriod"/>
            </a:pPr>
            <a:r>
              <a:rPr lang="en-US" b="1" dirty="0">
                <a:latin typeface="Tahoma" panose="020B0604030504040204" pitchFamily="34" charset="0"/>
                <a:ea typeface="Tahoma" panose="020B0604030504040204" pitchFamily="34" charset="0"/>
                <a:cs typeface="Tahoma" panose="020B0604030504040204" pitchFamily="34" charset="0"/>
              </a:rPr>
              <a:t>Design Constraints:</a:t>
            </a:r>
          </a:p>
          <a:p>
            <a:pPr marL="1311275" lvl="2" indent="-396875">
              <a:spcBef>
                <a:spcPts val="500"/>
              </a:spcBef>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Use only the specified components provided in the lab kit</a:t>
            </a:r>
          </a:p>
          <a:p>
            <a:pPr marL="1311275" lvl="2" indent="-396875">
              <a:spcBef>
                <a:spcPts val="500"/>
              </a:spcBef>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Operate at assigned supply voltage: 11.96 V</a:t>
            </a:r>
          </a:p>
          <a:p>
            <a:pPr marL="1311275" lvl="2" indent="-396875">
              <a:spcBef>
                <a:spcPts val="500"/>
              </a:spcBef>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Implementation must be on a breadboard</a:t>
            </a:r>
          </a:p>
          <a:p>
            <a:pPr marL="1311275" lvl="2" indent="-396875">
              <a:spcBef>
                <a:spcPts val="500"/>
              </a:spcBef>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Limited to given resistor values (1 </a:t>
            </a:r>
            <a:r>
              <a:rPr lang="en-US" dirty="0" err="1">
                <a:latin typeface="Tahoma" panose="020B0604030504040204" pitchFamily="34" charset="0"/>
                <a:ea typeface="Tahoma" panose="020B0604030504040204" pitchFamily="34" charset="0"/>
                <a:cs typeface="Tahoma" panose="020B0604030504040204" pitchFamily="34" charset="0"/>
              </a:rPr>
              <a:t>kΩ</a:t>
            </a:r>
            <a:r>
              <a:rPr lang="en-US" dirty="0">
                <a:latin typeface="Tahoma" panose="020B0604030504040204" pitchFamily="34" charset="0"/>
                <a:ea typeface="Tahoma" panose="020B0604030504040204" pitchFamily="34" charset="0"/>
                <a:cs typeface="Tahoma" panose="020B0604030504040204" pitchFamily="34" charset="0"/>
              </a:rPr>
              <a:t>, 2.2 </a:t>
            </a:r>
            <a:r>
              <a:rPr lang="en-US" dirty="0" err="1">
                <a:latin typeface="Tahoma" panose="020B0604030504040204" pitchFamily="34" charset="0"/>
                <a:ea typeface="Tahoma" panose="020B0604030504040204" pitchFamily="34" charset="0"/>
                <a:cs typeface="Tahoma" panose="020B0604030504040204" pitchFamily="34" charset="0"/>
              </a:rPr>
              <a:t>kΩ</a:t>
            </a:r>
            <a:r>
              <a:rPr lang="en-US" dirty="0">
                <a:latin typeface="Tahoma" panose="020B0604030504040204" pitchFamily="34" charset="0"/>
                <a:ea typeface="Tahoma" panose="020B0604030504040204" pitchFamily="34" charset="0"/>
                <a:cs typeface="Tahoma" panose="020B0604030504040204" pitchFamily="34" charset="0"/>
              </a:rPr>
              <a:t>, 330 Ω)</a:t>
            </a:r>
          </a:p>
          <a:p>
            <a:pPr marL="1311275" lvl="2" indent="-396875">
              <a:spcBef>
                <a:spcPts val="500"/>
              </a:spcBef>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The circuit must remain simple and energy-efficient</a:t>
            </a:r>
          </a:p>
        </p:txBody>
      </p:sp>
    </p:spTree>
    <p:extLst>
      <p:ext uri="{BB962C8B-B14F-4D97-AF65-F5344CB8AC3E}">
        <p14:creationId xmlns:p14="http://schemas.microsoft.com/office/powerpoint/2010/main" val="262813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1DD24-8803-4C35-A243-68B4AEDD47EC}"/>
              </a:ext>
            </a:extLst>
          </p:cNvPr>
          <p:cNvSpPr>
            <a:spLocks noGrp="1"/>
          </p:cNvSpPr>
          <p:nvPr>
            <p:ph type="title"/>
          </p:nvPr>
        </p:nvSpPr>
        <p:spPr/>
        <p:txBody>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Components Specifications </a:t>
            </a:r>
          </a:p>
        </p:txBody>
      </p:sp>
      <p:sp>
        <p:nvSpPr>
          <p:cNvPr id="4" name="Slide Number Placeholder 3">
            <a:extLst>
              <a:ext uri="{FF2B5EF4-FFF2-40B4-BE49-F238E27FC236}">
                <a16:creationId xmlns:a16="http://schemas.microsoft.com/office/drawing/2014/main" id="{95F41398-5433-4FB2-BD4C-7B7A5FA59DCC}"/>
              </a:ext>
            </a:extLst>
          </p:cNvPr>
          <p:cNvSpPr>
            <a:spLocks noGrp="1"/>
          </p:cNvSpPr>
          <p:nvPr>
            <p:ph type="sldNum" sz="quarter" idx="12"/>
          </p:nvPr>
        </p:nvSpPr>
        <p:spPr/>
        <p:txBody>
          <a:bodyPr/>
          <a:lstStyle/>
          <a:p>
            <a:fld id="{9399B49A-23E5-4E23-96E7-AF330FA2964C}" type="slidenum">
              <a:rPr lang="en-US" smtClean="0"/>
              <a:t>5</a:t>
            </a:fld>
            <a:endParaRPr lang="en-US"/>
          </a:p>
        </p:txBody>
      </p:sp>
      <p:graphicFrame>
        <p:nvGraphicFramePr>
          <p:cNvPr id="14" name="Content Placeholder 13">
            <a:extLst>
              <a:ext uri="{FF2B5EF4-FFF2-40B4-BE49-F238E27FC236}">
                <a16:creationId xmlns:a16="http://schemas.microsoft.com/office/drawing/2014/main" id="{B2064531-F4B2-A8A2-3E85-B825325DEECC}"/>
              </a:ext>
            </a:extLst>
          </p:cNvPr>
          <p:cNvGraphicFramePr>
            <a:graphicFrameLocks noGrp="1"/>
          </p:cNvGraphicFramePr>
          <p:nvPr>
            <p:ph idx="1"/>
            <p:extLst>
              <p:ext uri="{D42A27DB-BD31-4B8C-83A1-F6EECF244321}">
                <p14:modId xmlns:p14="http://schemas.microsoft.com/office/powerpoint/2010/main" val="3225062570"/>
              </p:ext>
            </p:extLst>
          </p:nvPr>
        </p:nvGraphicFramePr>
        <p:xfrm>
          <a:off x="1540092" y="1590805"/>
          <a:ext cx="8446406" cy="5025078"/>
        </p:xfrm>
        <a:graphic>
          <a:graphicData uri="http://schemas.openxmlformats.org/drawingml/2006/table">
            <a:tbl>
              <a:tblPr firstRow="1" bandRow="1">
                <a:tableStyleId>{F5AB1C69-6EDB-4FF4-983F-18BD219EF322}</a:tableStyleId>
              </a:tblPr>
              <a:tblGrid>
                <a:gridCol w="2015227">
                  <a:extLst>
                    <a:ext uri="{9D8B030D-6E8A-4147-A177-3AD203B41FA5}">
                      <a16:colId xmlns:a16="http://schemas.microsoft.com/office/drawing/2014/main" val="1776694109"/>
                    </a:ext>
                  </a:extLst>
                </a:gridCol>
                <a:gridCol w="2180432">
                  <a:extLst>
                    <a:ext uri="{9D8B030D-6E8A-4147-A177-3AD203B41FA5}">
                      <a16:colId xmlns:a16="http://schemas.microsoft.com/office/drawing/2014/main" val="2098441920"/>
                    </a:ext>
                  </a:extLst>
                </a:gridCol>
                <a:gridCol w="4250747">
                  <a:extLst>
                    <a:ext uri="{9D8B030D-6E8A-4147-A177-3AD203B41FA5}">
                      <a16:colId xmlns:a16="http://schemas.microsoft.com/office/drawing/2014/main" val="652857206"/>
                    </a:ext>
                  </a:extLst>
                </a:gridCol>
              </a:tblGrid>
              <a:tr h="462043">
                <a:tc>
                  <a:txBody>
                    <a:bodyPr/>
                    <a:lstStyle/>
                    <a:p>
                      <a:pPr marL="0" algn="l" defTabSz="914400" rtl="0" eaLnBrk="1" latinLnBrk="0" hangingPunct="1">
                        <a:buNone/>
                      </a:pPr>
                      <a:r>
                        <a:rPr lang="en-US" sz="2400" b="1" kern="1200" dirty="0">
                          <a:solidFill>
                            <a:schemeClr val="lt1"/>
                          </a:solidFill>
                          <a:latin typeface="Tahoma" panose="020B0604030504040204" pitchFamily="34" charset="0"/>
                          <a:ea typeface="Tahoma" panose="020B0604030504040204" pitchFamily="34" charset="0"/>
                          <a:cs typeface="Tahoma" panose="020B0604030504040204" pitchFamily="34" charset="0"/>
                        </a:rPr>
                        <a:t>Component</a:t>
                      </a:r>
                    </a:p>
                  </a:txBody>
                  <a:tcPr marL="82101" marR="82101" marT="41050" marB="41050" anchor="ctr"/>
                </a:tc>
                <a:tc>
                  <a:txBody>
                    <a:bodyPr/>
                    <a:lstStyle/>
                    <a:p>
                      <a:pPr marL="0" algn="ctr" defTabSz="914400" rtl="0" eaLnBrk="1" latinLnBrk="0" hangingPunct="1">
                        <a:buNone/>
                      </a:pPr>
                      <a:r>
                        <a:rPr lang="en-US" sz="2400" b="1" kern="1200" dirty="0">
                          <a:solidFill>
                            <a:schemeClr val="lt1"/>
                          </a:solidFill>
                          <a:latin typeface="Tahoma" panose="020B0604030504040204" pitchFamily="34" charset="0"/>
                          <a:ea typeface="Tahoma" panose="020B0604030504040204" pitchFamily="34" charset="0"/>
                          <a:cs typeface="Tahoma" panose="020B0604030504040204" pitchFamily="34" charset="0"/>
                        </a:rPr>
                        <a:t>Value / Type</a:t>
                      </a:r>
                    </a:p>
                  </a:txBody>
                  <a:tcPr marL="82101" marR="82101" marT="41050" marB="41050" anchor="ctr"/>
                </a:tc>
                <a:tc>
                  <a:txBody>
                    <a:bodyPr/>
                    <a:lstStyle/>
                    <a:p>
                      <a:pPr marL="0" algn="ctr" defTabSz="914400" rtl="0" eaLnBrk="1" latinLnBrk="0" hangingPunct="1">
                        <a:buNone/>
                      </a:pPr>
                      <a:r>
                        <a:rPr lang="en-US" sz="2400" b="1" kern="1200" dirty="0">
                          <a:solidFill>
                            <a:schemeClr val="lt1"/>
                          </a:solidFill>
                          <a:latin typeface="Tahoma" panose="020B0604030504040204" pitchFamily="34" charset="0"/>
                          <a:ea typeface="Tahoma" panose="020B0604030504040204" pitchFamily="34" charset="0"/>
                          <a:cs typeface="Tahoma" panose="020B0604030504040204" pitchFamily="34" charset="0"/>
                        </a:rPr>
                        <a:t>Function</a:t>
                      </a:r>
                    </a:p>
                  </a:txBody>
                  <a:tcPr marL="82101" marR="82101" marT="41050" marB="41050" anchor="ctr"/>
                </a:tc>
                <a:extLst>
                  <a:ext uri="{0D108BD9-81ED-4DB2-BD59-A6C34878D82A}">
                    <a16:rowId xmlns:a16="http://schemas.microsoft.com/office/drawing/2014/main" val="915053138"/>
                  </a:ext>
                </a:extLst>
              </a:tr>
              <a:tr h="497776">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Transistor Q1</a:t>
                      </a:r>
                    </a:p>
                  </a:txBody>
                  <a:tcPr marL="82101" marR="82101" marT="41050" marB="4105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BC547 (NPN)</a:t>
                      </a:r>
                    </a:p>
                  </a:txBody>
                  <a:tcPr marL="82101" marR="82101" marT="41050" marB="41050" anchor="ctr"/>
                </a:tc>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Controls the switching behavior of Q2</a:t>
                      </a:r>
                    </a:p>
                  </a:txBody>
                  <a:tcPr marL="82101" marR="82101" marT="41050" marB="41050" anchor="ctr"/>
                </a:tc>
                <a:extLst>
                  <a:ext uri="{0D108BD9-81ED-4DB2-BD59-A6C34878D82A}">
                    <a16:rowId xmlns:a16="http://schemas.microsoft.com/office/drawing/2014/main" val="2119521009"/>
                  </a:ext>
                </a:extLst>
              </a:tr>
              <a:tr h="374768">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Transistor Q2</a:t>
                      </a:r>
                    </a:p>
                  </a:txBody>
                  <a:tcPr marL="82101" marR="82101" marT="41050" marB="41050" anchor="ctr"/>
                </a:tc>
                <a:tc>
                  <a:txBody>
                    <a:bodyPr/>
                    <a:lstStyle/>
                    <a:p>
                      <a:pPr marL="0" algn="ctr"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SL100 (NPN)</a:t>
                      </a:r>
                    </a:p>
                  </a:txBody>
                  <a:tcPr marL="82101" marR="82101" marT="41050" marB="4105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Acts as a power switch to drive the buzzer and LED</a:t>
                      </a:r>
                    </a:p>
                  </a:txBody>
                  <a:tcPr marL="82101" marR="82101" marT="41050" marB="41050" anchor="ctr"/>
                </a:tc>
                <a:extLst>
                  <a:ext uri="{0D108BD9-81ED-4DB2-BD59-A6C34878D82A}">
                    <a16:rowId xmlns:a16="http://schemas.microsoft.com/office/drawing/2014/main" val="2701972238"/>
                  </a:ext>
                </a:extLst>
              </a:tr>
              <a:tr h="374768">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Resistor R1</a:t>
                      </a:r>
                    </a:p>
                  </a:txBody>
                  <a:tcPr marL="82101" marR="82101" marT="41050" marB="41050" anchor="ctr"/>
                </a:tc>
                <a:tc>
                  <a:txBody>
                    <a:bodyPr/>
                    <a:lstStyle/>
                    <a:p>
                      <a:pPr marL="0" algn="ctr"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1 k</a:t>
                      </a:r>
                      <a:r>
                        <a:rPr lang="el-GR"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Ω</a:t>
                      </a:r>
                    </a:p>
                  </a:txBody>
                  <a:tcPr marL="82101" marR="82101" marT="41050" marB="41050" anchor="ctr"/>
                </a:tc>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Limits base current of Q1</a:t>
                      </a:r>
                    </a:p>
                  </a:txBody>
                  <a:tcPr marL="82101" marR="82101" marT="41050" marB="41050" anchor="ctr"/>
                </a:tc>
                <a:extLst>
                  <a:ext uri="{0D108BD9-81ED-4DB2-BD59-A6C34878D82A}">
                    <a16:rowId xmlns:a16="http://schemas.microsoft.com/office/drawing/2014/main" val="3066604920"/>
                  </a:ext>
                </a:extLst>
              </a:tr>
              <a:tr h="374768">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Resistor R2</a:t>
                      </a:r>
                    </a:p>
                  </a:txBody>
                  <a:tcPr marL="82101" marR="82101" marT="41050" marB="41050" anchor="ctr"/>
                </a:tc>
                <a:tc>
                  <a:txBody>
                    <a:bodyPr/>
                    <a:lstStyle/>
                    <a:p>
                      <a:pPr marL="0" algn="ctr"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2.2 k</a:t>
                      </a:r>
                      <a:r>
                        <a:rPr lang="el-GR"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Ω</a:t>
                      </a:r>
                    </a:p>
                  </a:txBody>
                  <a:tcPr marL="82101" marR="82101" marT="41050" marB="41050" anchor="ctr"/>
                </a:tc>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Provides base bias for Q1 (pull-up)</a:t>
                      </a:r>
                    </a:p>
                  </a:txBody>
                  <a:tcPr marL="82101" marR="82101" marT="41050" marB="41050" anchor="ctr"/>
                </a:tc>
                <a:extLst>
                  <a:ext uri="{0D108BD9-81ED-4DB2-BD59-A6C34878D82A}">
                    <a16:rowId xmlns:a16="http://schemas.microsoft.com/office/drawing/2014/main" val="3706974177"/>
                  </a:ext>
                </a:extLst>
              </a:tr>
              <a:tr h="374768">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Resistor R3</a:t>
                      </a:r>
                    </a:p>
                  </a:txBody>
                  <a:tcPr marL="82101" marR="82101" marT="41050" marB="41050" anchor="ctr"/>
                </a:tc>
                <a:tc>
                  <a:txBody>
                    <a:bodyPr/>
                    <a:lstStyle/>
                    <a:p>
                      <a:pPr marL="0" algn="ctr" defTabSz="914400" rtl="0" eaLnBrk="1" latinLnBrk="0" hangingPunct="1">
                        <a:buNone/>
                      </a:pPr>
                      <a:r>
                        <a:rPr lang="el-GR"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330 Ω</a:t>
                      </a:r>
                    </a:p>
                  </a:txBody>
                  <a:tcPr marL="82101" marR="82101" marT="41050" marB="41050" anchor="ctr"/>
                </a:tc>
                <a:tc>
                  <a:txBody>
                    <a:bodyPr/>
                    <a:lstStyle/>
                    <a:p>
                      <a:pPr marL="0" algn="l" defTabSz="914400" rtl="0" eaLnBrk="1" latinLnBrk="0" hangingPunct="1">
                        <a:buNone/>
                      </a:pPr>
                      <a:r>
                        <a:rPr lang="en-US" sz="1800" kern="1200">
                          <a:solidFill>
                            <a:schemeClr val="dk1"/>
                          </a:solidFill>
                          <a:latin typeface="Tahoma" panose="020B0604030504040204" pitchFamily="34" charset="0"/>
                          <a:ea typeface="Tahoma" panose="020B0604030504040204" pitchFamily="34" charset="0"/>
                          <a:cs typeface="Tahoma" panose="020B0604030504040204" pitchFamily="34" charset="0"/>
                        </a:rPr>
                        <a:t>Limits current through the LED</a:t>
                      </a:r>
                    </a:p>
                  </a:txBody>
                  <a:tcPr marL="82101" marR="82101" marT="41050" marB="41050" anchor="ctr"/>
                </a:tc>
                <a:extLst>
                  <a:ext uri="{0D108BD9-81ED-4DB2-BD59-A6C34878D82A}">
                    <a16:rowId xmlns:a16="http://schemas.microsoft.com/office/drawing/2014/main" val="3422262975"/>
                  </a:ext>
                </a:extLst>
              </a:tr>
              <a:tr h="462043">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Reed Switch</a:t>
                      </a:r>
                    </a:p>
                  </a:txBody>
                  <a:tcPr marL="82101" marR="82101" marT="41050" marB="41050" anchor="ctr"/>
                </a:tc>
                <a:tc>
                  <a:txBody>
                    <a:bodyPr/>
                    <a:lstStyle/>
                    <a:p>
                      <a:pPr marL="0" algn="ctr"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Magnetic sensor</a:t>
                      </a:r>
                    </a:p>
                  </a:txBody>
                  <a:tcPr marL="82101" marR="82101" marT="41050" marB="41050" anchor="ctr"/>
                </a:tc>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Detects door position (open/close)</a:t>
                      </a:r>
                    </a:p>
                  </a:txBody>
                  <a:tcPr marL="82101" marR="82101" marT="41050" marB="41050" anchor="ctr"/>
                </a:tc>
                <a:extLst>
                  <a:ext uri="{0D108BD9-81ED-4DB2-BD59-A6C34878D82A}">
                    <a16:rowId xmlns:a16="http://schemas.microsoft.com/office/drawing/2014/main" val="859122675"/>
                  </a:ext>
                </a:extLst>
              </a:tr>
              <a:tr h="462043">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Buzzer</a:t>
                      </a:r>
                    </a:p>
                  </a:txBody>
                  <a:tcPr marL="82101" marR="82101" marT="41050" marB="41050" anchor="ctr"/>
                </a:tc>
                <a:tc>
                  <a:txBody>
                    <a:bodyPr/>
                    <a:lstStyle/>
                    <a:p>
                      <a:pPr marL="0" algn="ctr"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a:t>
                      </a:r>
                    </a:p>
                  </a:txBody>
                  <a:tcPr marL="82101" marR="82101" marT="41050" marB="41050" anchor="ctr"/>
                </a:tc>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Produces audible alarm</a:t>
                      </a:r>
                    </a:p>
                  </a:txBody>
                  <a:tcPr marL="82101" marR="82101" marT="41050" marB="41050" anchor="ctr"/>
                </a:tc>
                <a:extLst>
                  <a:ext uri="{0D108BD9-81ED-4DB2-BD59-A6C34878D82A}">
                    <a16:rowId xmlns:a16="http://schemas.microsoft.com/office/drawing/2014/main" val="1662700810"/>
                  </a:ext>
                </a:extLst>
              </a:tr>
              <a:tr h="462043">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LED</a:t>
                      </a:r>
                    </a:p>
                  </a:txBody>
                  <a:tcPr marL="82101" marR="82101" marT="41050" marB="41050" anchor="ctr"/>
                </a:tc>
                <a:tc>
                  <a:txBody>
                    <a:bodyPr/>
                    <a:lstStyle/>
                    <a:p>
                      <a:pPr marL="0" algn="ctr"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a:t>
                      </a:r>
                    </a:p>
                  </a:txBody>
                  <a:tcPr marL="82101" marR="82101" marT="41050" marB="41050" anchor="ctr"/>
                </a:tc>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Provides visual indication</a:t>
                      </a:r>
                    </a:p>
                  </a:txBody>
                  <a:tcPr marL="82101" marR="82101" marT="41050" marB="41050" anchor="ctr"/>
                </a:tc>
                <a:extLst>
                  <a:ext uri="{0D108BD9-81ED-4DB2-BD59-A6C34878D82A}">
                    <a16:rowId xmlns:a16="http://schemas.microsoft.com/office/drawing/2014/main" val="1848945644"/>
                  </a:ext>
                </a:extLst>
              </a:tr>
              <a:tr h="462043">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Diode D1</a:t>
                      </a:r>
                    </a:p>
                  </a:txBody>
                  <a:tcPr marL="82101" marR="82101" marT="41050" marB="41050" anchor="ctr"/>
                </a:tc>
                <a:tc>
                  <a:txBody>
                    <a:bodyPr/>
                    <a:lstStyle/>
                    <a:p>
                      <a:pPr marL="0" algn="ctr"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1N4007</a:t>
                      </a:r>
                    </a:p>
                  </a:txBody>
                  <a:tcPr marL="82101" marR="82101" marT="41050" marB="41050" anchor="ctr"/>
                </a:tc>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Protects circuit from reverse voltage</a:t>
                      </a:r>
                    </a:p>
                  </a:txBody>
                  <a:tcPr marL="82101" marR="82101" marT="41050" marB="41050" anchor="ctr"/>
                </a:tc>
                <a:extLst>
                  <a:ext uri="{0D108BD9-81ED-4DB2-BD59-A6C34878D82A}">
                    <a16:rowId xmlns:a16="http://schemas.microsoft.com/office/drawing/2014/main" val="15358412"/>
                  </a:ext>
                </a:extLst>
              </a:tr>
              <a:tr h="462043">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DC Power Supply</a:t>
                      </a:r>
                    </a:p>
                  </a:txBody>
                  <a:tcPr marL="82101" marR="82101" marT="41050" marB="41050" anchor="ctr"/>
                </a:tc>
                <a:tc>
                  <a:txBody>
                    <a:bodyPr/>
                    <a:lstStyle/>
                    <a:p>
                      <a:pPr marL="0" algn="ctr"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11.96 V</a:t>
                      </a:r>
                    </a:p>
                  </a:txBody>
                  <a:tcPr marL="82101" marR="82101" marT="41050" marB="41050" anchor="ctr"/>
                </a:tc>
                <a:tc>
                  <a:txBody>
                    <a:bodyPr/>
                    <a:lstStyle/>
                    <a:p>
                      <a:pPr marL="0" algn="l" defTabSz="914400" rtl="0" eaLnBrk="1" latinLnBrk="0" hangingPunct="1">
                        <a:buNone/>
                      </a:pPr>
                      <a:r>
                        <a:rPr lang="en-US" sz="1800" kern="1200" dirty="0">
                          <a:solidFill>
                            <a:schemeClr val="dk1"/>
                          </a:solidFill>
                          <a:latin typeface="Tahoma" panose="020B0604030504040204" pitchFamily="34" charset="0"/>
                          <a:ea typeface="Tahoma" panose="020B0604030504040204" pitchFamily="34" charset="0"/>
                          <a:cs typeface="Tahoma" panose="020B0604030504040204" pitchFamily="34" charset="0"/>
                        </a:rPr>
                        <a:t>Provides required operating voltage</a:t>
                      </a:r>
                    </a:p>
                  </a:txBody>
                  <a:tcPr marL="82101" marR="82101" marT="41050" marB="41050" anchor="ctr"/>
                </a:tc>
                <a:extLst>
                  <a:ext uri="{0D108BD9-81ED-4DB2-BD59-A6C34878D82A}">
                    <a16:rowId xmlns:a16="http://schemas.microsoft.com/office/drawing/2014/main" val="1087390443"/>
                  </a:ext>
                </a:extLst>
              </a:tr>
            </a:tbl>
          </a:graphicData>
        </a:graphic>
      </p:graphicFrame>
    </p:spTree>
    <p:extLst>
      <p:ext uri="{BB962C8B-B14F-4D97-AF65-F5344CB8AC3E}">
        <p14:creationId xmlns:p14="http://schemas.microsoft.com/office/powerpoint/2010/main" val="2302634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F2839-2937-D8A8-15DA-BF4D9B731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68243-5BF2-2D04-395A-19DA3A5F7338}"/>
              </a:ext>
            </a:extLst>
          </p:cNvPr>
          <p:cNvSpPr>
            <a:spLocks noGrp="1"/>
          </p:cNvSpPr>
          <p:nvPr>
            <p:ph type="title"/>
          </p:nvPr>
        </p:nvSpPr>
        <p:spPr>
          <a:xfrm>
            <a:off x="838200" y="237668"/>
            <a:ext cx="8883041" cy="1325563"/>
          </a:xfrm>
        </p:spPr>
        <p:txBody>
          <a:bodyPr>
            <a:normAutofit fontScale="90000"/>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Project Description and Applications</a:t>
            </a:r>
          </a:p>
        </p:txBody>
      </p:sp>
      <p:sp>
        <p:nvSpPr>
          <p:cNvPr id="4" name="Slide Number Placeholder 3">
            <a:extLst>
              <a:ext uri="{FF2B5EF4-FFF2-40B4-BE49-F238E27FC236}">
                <a16:creationId xmlns:a16="http://schemas.microsoft.com/office/drawing/2014/main" id="{884E61B0-12B0-971D-D035-1FA98043C3C6}"/>
              </a:ext>
            </a:extLst>
          </p:cNvPr>
          <p:cNvSpPr>
            <a:spLocks noGrp="1"/>
          </p:cNvSpPr>
          <p:nvPr>
            <p:ph type="sldNum" sz="quarter" idx="12"/>
          </p:nvPr>
        </p:nvSpPr>
        <p:spPr/>
        <p:txBody>
          <a:bodyPr/>
          <a:lstStyle/>
          <a:p>
            <a:fld id="{9399B49A-23E5-4E23-96E7-AF330FA2964C}" type="slidenum">
              <a:rPr lang="en-US" smtClean="0"/>
              <a:t>6</a:t>
            </a:fld>
            <a:endParaRPr lang="en-US"/>
          </a:p>
        </p:txBody>
      </p:sp>
      <p:graphicFrame>
        <p:nvGraphicFramePr>
          <p:cNvPr id="6" name="Diagram 5">
            <a:extLst>
              <a:ext uri="{FF2B5EF4-FFF2-40B4-BE49-F238E27FC236}">
                <a16:creationId xmlns:a16="http://schemas.microsoft.com/office/drawing/2014/main" id="{8323035E-03B8-7316-69A7-CAE87BB03D6A}"/>
              </a:ext>
            </a:extLst>
          </p:cNvPr>
          <p:cNvGraphicFramePr/>
          <p:nvPr>
            <p:extLst>
              <p:ext uri="{D42A27DB-BD31-4B8C-83A1-F6EECF244321}">
                <p14:modId xmlns:p14="http://schemas.microsoft.com/office/powerpoint/2010/main" val="1014487914"/>
              </p:ext>
            </p:extLst>
          </p:nvPr>
        </p:nvGraphicFramePr>
        <p:xfrm>
          <a:off x="838200" y="1772990"/>
          <a:ext cx="10272601" cy="47659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0640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934E1-1943-4073-BF28-AE4298475283}"/>
              </a:ext>
            </a:extLst>
          </p:cNvPr>
          <p:cNvSpPr>
            <a:spLocks noGrp="1"/>
          </p:cNvSpPr>
          <p:nvPr>
            <p:ph type="title"/>
          </p:nvPr>
        </p:nvSpPr>
        <p:spPr>
          <a:xfrm>
            <a:off x="838200" y="365125"/>
            <a:ext cx="9173901" cy="1325563"/>
          </a:xfrm>
        </p:spPr>
        <p:txBody>
          <a:bodyPr>
            <a:normAutofit fontScale="90000"/>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Proposed Solution and Design Evaluation</a:t>
            </a:r>
          </a:p>
        </p:txBody>
      </p:sp>
      <p:sp>
        <p:nvSpPr>
          <p:cNvPr id="4" name="Slide Number Placeholder 3">
            <a:extLst>
              <a:ext uri="{FF2B5EF4-FFF2-40B4-BE49-F238E27FC236}">
                <a16:creationId xmlns:a16="http://schemas.microsoft.com/office/drawing/2014/main" id="{18274BB1-07DA-46D7-B4C9-AD6A7726262A}"/>
              </a:ext>
            </a:extLst>
          </p:cNvPr>
          <p:cNvSpPr>
            <a:spLocks noGrp="1"/>
          </p:cNvSpPr>
          <p:nvPr>
            <p:ph type="sldNum" sz="quarter" idx="12"/>
          </p:nvPr>
        </p:nvSpPr>
        <p:spPr/>
        <p:txBody>
          <a:bodyPr/>
          <a:lstStyle/>
          <a:p>
            <a:fld id="{9399B49A-23E5-4E23-96E7-AF330FA2964C}" type="slidenum">
              <a:rPr lang="en-US" smtClean="0"/>
              <a:t>7</a:t>
            </a:fld>
            <a:endParaRPr lang="en-US"/>
          </a:p>
        </p:txBody>
      </p:sp>
      <p:graphicFrame>
        <p:nvGraphicFramePr>
          <p:cNvPr id="5" name="Content Placeholder 4">
            <a:extLst>
              <a:ext uri="{FF2B5EF4-FFF2-40B4-BE49-F238E27FC236}">
                <a16:creationId xmlns:a16="http://schemas.microsoft.com/office/drawing/2014/main" id="{2C645FC7-DA0E-EF8D-2F92-4CB1391BAEFE}"/>
              </a:ext>
            </a:extLst>
          </p:cNvPr>
          <p:cNvGraphicFramePr>
            <a:graphicFrameLocks noGrp="1"/>
          </p:cNvGraphicFramePr>
          <p:nvPr>
            <p:ph idx="1"/>
            <p:extLst>
              <p:ext uri="{D42A27DB-BD31-4B8C-83A1-F6EECF244321}">
                <p14:modId xmlns:p14="http://schemas.microsoft.com/office/powerpoint/2010/main" val="2394877886"/>
              </p:ext>
            </p:extLst>
          </p:nvPr>
        </p:nvGraphicFramePr>
        <p:xfrm>
          <a:off x="838200" y="1296452"/>
          <a:ext cx="10515600" cy="52138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EF1CC388-9541-3C9A-4BF7-16C98F3B57E4}"/>
              </a:ext>
            </a:extLst>
          </p:cNvPr>
          <p:cNvSpPr txBox="1"/>
          <p:nvPr/>
        </p:nvSpPr>
        <p:spPr>
          <a:xfrm>
            <a:off x="3524376" y="5000000"/>
            <a:ext cx="5861849" cy="646331"/>
          </a:xfrm>
          <a:prstGeom prst="rect">
            <a:avLst/>
          </a:prstGeom>
          <a:noFill/>
        </p:spPr>
        <p:txBody>
          <a:bodyPr wrap="square" rtlCol="0">
            <a:spAutoFit/>
          </a:bodyPr>
          <a:lstStyle/>
          <a:p>
            <a:r>
              <a:rPr lang="en-US" dirty="0"/>
              <a:t>When switch is closed → buzzer and LED OFF (alarm OFF)</a:t>
            </a:r>
          </a:p>
          <a:p>
            <a:r>
              <a:rPr lang="en-US" dirty="0"/>
              <a:t>When switch is open → buzzer and LED ON (alarm ON)</a:t>
            </a:r>
          </a:p>
        </p:txBody>
      </p:sp>
    </p:spTree>
    <p:extLst>
      <p:ext uri="{BB962C8B-B14F-4D97-AF65-F5344CB8AC3E}">
        <p14:creationId xmlns:p14="http://schemas.microsoft.com/office/powerpoint/2010/main" val="195294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BCD3F-E297-43CD-95CB-77C6BC295B84}"/>
              </a:ext>
            </a:extLst>
          </p:cNvPr>
          <p:cNvSpPr>
            <a:spLocks noGrp="1"/>
          </p:cNvSpPr>
          <p:nvPr>
            <p:ph type="title"/>
          </p:nvPr>
        </p:nvSpPr>
        <p:spPr>
          <a:xfrm>
            <a:off x="309880" y="282892"/>
            <a:ext cx="9584372" cy="1325563"/>
          </a:xfrm>
        </p:spPr>
        <p:txBody>
          <a:bodyPr>
            <a:normAutofit/>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Magnetic Reed Switch</a:t>
            </a:r>
          </a:p>
        </p:txBody>
      </p:sp>
      <p:sp>
        <p:nvSpPr>
          <p:cNvPr id="4" name="Slide Number Placeholder 3">
            <a:extLst>
              <a:ext uri="{FF2B5EF4-FFF2-40B4-BE49-F238E27FC236}">
                <a16:creationId xmlns:a16="http://schemas.microsoft.com/office/drawing/2014/main" id="{ED92A5DA-DAEA-479B-A17C-884104C087AA}"/>
              </a:ext>
            </a:extLst>
          </p:cNvPr>
          <p:cNvSpPr>
            <a:spLocks noGrp="1"/>
          </p:cNvSpPr>
          <p:nvPr>
            <p:ph type="sldNum" sz="quarter" idx="12"/>
          </p:nvPr>
        </p:nvSpPr>
        <p:spPr/>
        <p:txBody>
          <a:bodyPr/>
          <a:lstStyle/>
          <a:p>
            <a:fld id="{9399B49A-23E5-4E23-96E7-AF330FA2964C}" type="slidenum">
              <a:rPr lang="en-US" smtClean="0"/>
              <a:t>8</a:t>
            </a:fld>
            <a:endParaRPr lang="en-US"/>
          </a:p>
        </p:txBody>
      </p:sp>
      <p:sp>
        <p:nvSpPr>
          <p:cNvPr id="5" name="Content Placeholder 4">
            <a:extLst>
              <a:ext uri="{FF2B5EF4-FFF2-40B4-BE49-F238E27FC236}">
                <a16:creationId xmlns:a16="http://schemas.microsoft.com/office/drawing/2014/main" id="{7A6871ED-8946-5E8E-C269-D5D58ACF1C8E}"/>
              </a:ext>
            </a:extLst>
          </p:cNvPr>
          <p:cNvSpPr>
            <a:spLocks noGrp="1"/>
          </p:cNvSpPr>
          <p:nvPr>
            <p:ph idx="1"/>
          </p:nvPr>
        </p:nvSpPr>
        <p:spPr>
          <a:xfrm>
            <a:off x="447674" y="1690688"/>
            <a:ext cx="10106025" cy="4884420"/>
          </a:xfrm>
        </p:spPr>
        <p:txBody>
          <a:bodyPr>
            <a:normAutofit/>
          </a:bodyPr>
          <a:lstStyle/>
          <a:p>
            <a:pPr>
              <a:buNone/>
            </a:pPr>
            <a:r>
              <a:rPr lang="en-US" sz="2000" dirty="0">
                <a:latin typeface="Tahoma" panose="020B0604030504040204" pitchFamily="34" charset="0"/>
                <a:ea typeface="Tahoma" panose="020B0604030504040204" pitchFamily="34" charset="0"/>
                <a:cs typeface="Tahoma" panose="020B0604030504040204" pitchFamily="34" charset="0"/>
              </a:rPr>
              <a:t>A reed switch consists of two ferromagnetic contacts enclosed in a glass tube.</a:t>
            </a:r>
          </a:p>
          <a:p>
            <a:pPr>
              <a:buFont typeface="Arial" panose="020B0604020202020204" pitchFamily="34" charset="0"/>
              <a:buChar char="•"/>
            </a:pPr>
            <a:r>
              <a:rPr lang="en-US" sz="2000" dirty="0">
                <a:latin typeface="Tahoma" panose="020B0604030504040204" pitchFamily="34" charset="0"/>
                <a:ea typeface="Tahoma" panose="020B0604030504040204" pitchFamily="34" charset="0"/>
                <a:cs typeface="Tahoma" panose="020B0604030504040204" pitchFamily="34" charset="0"/>
              </a:rPr>
              <a:t>Presence of a magnetic field → contacts close </a:t>
            </a:r>
          </a:p>
          <a:p>
            <a:pPr>
              <a:buFont typeface="Arial" panose="020B0604020202020204" pitchFamily="34" charset="0"/>
              <a:buChar char="•"/>
            </a:pPr>
            <a:r>
              <a:rPr lang="en-US" sz="2000" dirty="0">
                <a:latin typeface="Tahoma" panose="020B0604030504040204" pitchFamily="34" charset="0"/>
                <a:ea typeface="Tahoma" panose="020B0604030504040204" pitchFamily="34" charset="0"/>
                <a:cs typeface="Tahoma" panose="020B0604030504040204" pitchFamily="34" charset="0"/>
              </a:rPr>
              <a:t>Absence of magnetic field → contacts open </a:t>
            </a:r>
          </a:p>
          <a:p>
            <a:pPr>
              <a:buNone/>
            </a:pPr>
            <a:r>
              <a:rPr lang="en-US" sz="2000" dirty="0">
                <a:latin typeface="Tahoma" panose="020B0604030504040204" pitchFamily="34" charset="0"/>
                <a:ea typeface="Tahoma" panose="020B0604030504040204" pitchFamily="34" charset="0"/>
                <a:cs typeface="Tahoma" panose="020B0604030504040204" pitchFamily="34" charset="0"/>
              </a:rPr>
              <a:t>This allows the device to function as a </a:t>
            </a:r>
            <a:r>
              <a:rPr lang="en-US" sz="2000" b="1" dirty="0">
                <a:latin typeface="Tahoma" panose="020B0604030504040204" pitchFamily="34" charset="0"/>
                <a:ea typeface="Tahoma" panose="020B0604030504040204" pitchFamily="34" charset="0"/>
                <a:cs typeface="Tahoma" panose="020B0604030504040204" pitchFamily="34" charset="0"/>
              </a:rPr>
              <a:t>non-contact sensor</a:t>
            </a:r>
            <a:r>
              <a:rPr lang="en-US" sz="2000" dirty="0">
                <a:latin typeface="Tahoma" panose="020B0604030504040204" pitchFamily="34" charset="0"/>
                <a:ea typeface="Tahoma" panose="020B0604030504040204" pitchFamily="34" charset="0"/>
                <a:cs typeface="Tahoma" panose="020B0604030504040204" pitchFamily="34" charset="0"/>
              </a:rPr>
              <a:t>, making it suitable for security systems.</a:t>
            </a:r>
          </a:p>
        </p:txBody>
      </p:sp>
      <p:pic>
        <p:nvPicPr>
          <p:cNvPr id="2054" name="Picture 6">
            <a:extLst>
              <a:ext uri="{FF2B5EF4-FFF2-40B4-BE49-F238E27FC236}">
                <a16:creationId xmlns:a16="http://schemas.microsoft.com/office/drawing/2014/main" id="{5E522387-E859-F7AD-C3F8-F3663C5AAC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4188180" y="4227388"/>
            <a:ext cx="5706072" cy="2311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6291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39C22-4AD5-4228-9035-62C19DC09AFB}"/>
              </a:ext>
            </a:extLst>
          </p:cNvPr>
          <p:cNvSpPr>
            <a:spLocks noGrp="1"/>
          </p:cNvSpPr>
          <p:nvPr>
            <p:ph type="title"/>
          </p:nvPr>
        </p:nvSpPr>
        <p:spPr>
          <a:xfrm>
            <a:off x="838200" y="365125"/>
            <a:ext cx="9028813" cy="1325563"/>
          </a:xfrm>
        </p:spPr>
        <p:txBody>
          <a:bodyPr>
            <a:normAutofit fontScale="90000"/>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BJT Transistor Fundamentals</a:t>
            </a:r>
          </a:p>
        </p:txBody>
      </p:sp>
      <p:sp>
        <p:nvSpPr>
          <p:cNvPr id="4" name="Slide Number Placeholder 3">
            <a:extLst>
              <a:ext uri="{FF2B5EF4-FFF2-40B4-BE49-F238E27FC236}">
                <a16:creationId xmlns:a16="http://schemas.microsoft.com/office/drawing/2014/main" id="{48304B07-9305-4FA2-AA84-9450D493DFE2}"/>
              </a:ext>
            </a:extLst>
          </p:cNvPr>
          <p:cNvSpPr>
            <a:spLocks noGrp="1"/>
          </p:cNvSpPr>
          <p:nvPr>
            <p:ph type="sldNum" sz="quarter" idx="12"/>
          </p:nvPr>
        </p:nvSpPr>
        <p:spPr/>
        <p:txBody>
          <a:bodyPr/>
          <a:lstStyle/>
          <a:p>
            <a:fld id="{9399B49A-23E5-4E23-96E7-AF330FA2964C}" type="slidenum">
              <a:rPr lang="en-US" smtClean="0"/>
              <a:t>9</a:t>
            </a:fld>
            <a:endParaRPr lang="en-US"/>
          </a:p>
        </p:txBody>
      </p:sp>
      <p:sp>
        <p:nvSpPr>
          <p:cNvPr id="3" name="Content Placeholder 2">
            <a:extLst>
              <a:ext uri="{FF2B5EF4-FFF2-40B4-BE49-F238E27FC236}">
                <a16:creationId xmlns:a16="http://schemas.microsoft.com/office/drawing/2014/main" id="{74753653-32F3-6F9B-4F57-1DA3C0BE7A8D}"/>
              </a:ext>
            </a:extLst>
          </p:cNvPr>
          <p:cNvSpPr>
            <a:spLocks noGrp="1"/>
          </p:cNvSpPr>
          <p:nvPr>
            <p:ph idx="1"/>
          </p:nvPr>
        </p:nvSpPr>
        <p:spPr>
          <a:xfrm>
            <a:off x="504825" y="1690688"/>
            <a:ext cx="7524750" cy="4351338"/>
          </a:xfrm>
        </p:spPr>
        <p:txBody>
          <a:bodyPr>
            <a:normAutofit fontScale="92500" lnSpcReduction="10000"/>
          </a:bodyPr>
          <a:lstStyle/>
          <a:p>
            <a:pPr>
              <a:buNone/>
            </a:pPr>
            <a:r>
              <a:rPr lang="en-US" sz="2400" dirty="0">
                <a:latin typeface="Tahoma" panose="020B0604030504040204" pitchFamily="34" charset="0"/>
                <a:ea typeface="Tahoma" panose="020B0604030504040204" pitchFamily="34" charset="0"/>
                <a:cs typeface="Tahoma" panose="020B0604030504040204" pitchFamily="34" charset="0"/>
              </a:rPr>
              <a:t>A BJT operates in three regions:</a:t>
            </a:r>
          </a:p>
          <a:p>
            <a:pPr lvl="1">
              <a:buFont typeface="Arial" panose="020B0604020202020204" pitchFamily="34" charset="0"/>
              <a:buChar char="•"/>
            </a:pPr>
            <a:r>
              <a:rPr lang="en-US" sz="2400" b="1" dirty="0">
                <a:latin typeface="Tahoma" panose="020B0604030504040204" pitchFamily="34" charset="0"/>
                <a:ea typeface="Tahoma" panose="020B0604030504040204" pitchFamily="34" charset="0"/>
                <a:cs typeface="Tahoma" panose="020B0604030504040204" pitchFamily="34" charset="0"/>
              </a:rPr>
              <a:t>Cutoff:</a:t>
            </a:r>
            <a:r>
              <a:rPr lang="en-US" sz="2400" dirty="0">
                <a:latin typeface="Tahoma" panose="020B0604030504040204" pitchFamily="34" charset="0"/>
                <a:ea typeface="Tahoma" panose="020B0604030504040204" pitchFamily="34" charset="0"/>
                <a:cs typeface="Tahoma" panose="020B0604030504040204" pitchFamily="34" charset="0"/>
              </a:rPr>
              <a:t> No current flow (OFF state) </a:t>
            </a:r>
          </a:p>
          <a:p>
            <a:pPr lvl="1">
              <a:buFont typeface="Arial" panose="020B0604020202020204" pitchFamily="34" charset="0"/>
              <a:buChar char="•"/>
            </a:pPr>
            <a:r>
              <a:rPr lang="en-US" sz="2400" b="1" dirty="0">
                <a:latin typeface="Tahoma" panose="020B0604030504040204" pitchFamily="34" charset="0"/>
                <a:ea typeface="Tahoma" panose="020B0604030504040204" pitchFamily="34" charset="0"/>
                <a:cs typeface="Tahoma" panose="020B0604030504040204" pitchFamily="34" charset="0"/>
              </a:rPr>
              <a:t>Active:</a:t>
            </a:r>
            <a:r>
              <a:rPr lang="en-US" sz="2400" dirty="0">
                <a:latin typeface="Tahoma" panose="020B0604030504040204" pitchFamily="34" charset="0"/>
                <a:ea typeface="Tahoma" panose="020B0604030504040204" pitchFamily="34" charset="0"/>
                <a:cs typeface="Tahoma" panose="020B0604030504040204" pitchFamily="34" charset="0"/>
              </a:rPr>
              <a:t> Amplification region </a:t>
            </a:r>
          </a:p>
          <a:p>
            <a:pPr lvl="1">
              <a:buFont typeface="Arial" panose="020B0604020202020204" pitchFamily="34" charset="0"/>
              <a:buChar char="•"/>
            </a:pPr>
            <a:r>
              <a:rPr lang="en-US" sz="2400" b="1" dirty="0">
                <a:latin typeface="Tahoma" panose="020B0604030504040204" pitchFamily="34" charset="0"/>
                <a:ea typeface="Tahoma" panose="020B0604030504040204" pitchFamily="34" charset="0"/>
                <a:cs typeface="Tahoma" panose="020B0604030504040204" pitchFamily="34" charset="0"/>
              </a:rPr>
              <a:t>Saturation:</a:t>
            </a:r>
            <a:r>
              <a:rPr lang="en-US" sz="2400" dirty="0">
                <a:latin typeface="Tahoma" panose="020B0604030504040204" pitchFamily="34" charset="0"/>
                <a:ea typeface="Tahoma" panose="020B0604030504040204" pitchFamily="34" charset="0"/>
                <a:cs typeface="Tahoma" panose="020B0604030504040204" pitchFamily="34" charset="0"/>
              </a:rPr>
              <a:t> Maximum conduction (ON state) </a:t>
            </a:r>
          </a:p>
          <a:p>
            <a:pPr>
              <a:buNone/>
            </a:pPr>
            <a:r>
              <a:rPr lang="en-US" sz="2400" dirty="0">
                <a:latin typeface="Tahoma" panose="020B0604030504040204" pitchFamily="34" charset="0"/>
                <a:ea typeface="Tahoma" panose="020B0604030504040204" pitchFamily="34" charset="0"/>
                <a:cs typeface="Tahoma" panose="020B0604030504040204" pitchFamily="34" charset="0"/>
              </a:rPr>
              <a:t>In this design:</a:t>
            </a:r>
          </a:p>
          <a:p>
            <a:pPr lvl="1">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Transistors operate between </a:t>
            </a:r>
            <a:r>
              <a:rPr lang="en-US" sz="2400" b="1" dirty="0">
                <a:latin typeface="Tahoma" panose="020B0604030504040204" pitchFamily="34" charset="0"/>
                <a:ea typeface="Tahoma" panose="020B0604030504040204" pitchFamily="34" charset="0"/>
                <a:cs typeface="Tahoma" panose="020B0604030504040204" pitchFamily="34" charset="0"/>
              </a:rPr>
              <a:t>cutoff and saturation</a:t>
            </a:r>
            <a:r>
              <a:rPr lang="en-US" sz="2400" dirty="0">
                <a:latin typeface="Tahoma" panose="020B0604030504040204" pitchFamily="34" charset="0"/>
                <a:ea typeface="Tahoma" panose="020B0604030504040204" pitchFamily="34" charset="0"/>
                <a:cs typeface="Tahoma" panose="020B0604030504040204" pitchFamily="34" charset="0"/>
              </a:rPr>
              <a:t> </a:t>
            </a:r>
          </a:p>
          <a:p>
            <a:pPr lvl="1">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This ensures efficient switching and reliable load control</a:t>
            </a:r>
          </a:p>
        </p:txBody>
      </p:sp>
      <p:pic>
        <p:nvPicPr>
          <p:cNvPr id="3074" name="Picture 2" descr="Working of BJT transistor and how to use transistors in circuits -  Gadgetronicx">
            <a:extLst>
              <a:ext uri="{FF2B5EF4-FFF2-40B4-BE49-F238E27FC236}">
                <a16:creationId xmlns:a16="http://schemas.microsoft.com/office/drawing/2014/main" id="{AAD0A215-B4CA-589B-622A-FE2B8D2F18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7575" y="2047082"/>
            <a:ext cx="4800600" cy="344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28289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556A5-AA9B-F2C0-C0F8-CD87AF596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D0F5B-E487-7CB3-6502-4DC5B69BEFFB}"/>
              </a:ext>
            </a:extLst>
          </p:cNvPr>
          <p:cNvSpPr>
            <a:spLocks noGrp="1"/>
          </p:cNvSpPr>
          <p:nvPr>
            <p:ph type="title"/>
          </p:nvPr>
        </p:nvSpPr>
        <p:spPr>
          <a:xfrm>
            <a:off x="838200" y="365125"/>
            <a:ext cx="9028813" cy="1325563"/>
          </a:xfrm>
        </p:spPr>
        <p:txBody>
          <a:bodyPr>
            <a:normAutofit/>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Control System Concept</a:t>
            </a:r>
          </a:p>
        </p:txBody>
      </p:sp>
      <p:sp>
        <p:nvSpPr>
          <p:cNvPr id="4" name="Slide Number Placeholder 3">
            <a:extLst>
              <a:ext uri="{FF2B5EF4-FFF2-40B4-BE49-F238E27FC236}">
                <a16:creationId xmlns:a16="http://schemas.microsoft.com/office/drawing/2014/main" id="{DA6EB85E-5A63-F39A-B0CA-E711CEA7BFC6}"/>
              </a:ext>
            </a:extLst>
          </p:cNvPr>
          <p:cNvSpPr>
            <a:spLocks noGrp="1"/>
          </p:cNvSpPr>
          <p:nvPr>
            <p:ph type="sldNum" sz="quarter" idx="12"/>
          </p:nvPr>
        </p:nvSpPr>
        <p:spPr/>
        <p:txBody>
          <a:bodyPr/>
          <a:lstStyle/>
          <a:p>
            <a:fld id="{9399B49A-23E5-4E23-96E7-AF330FA2964C}" type="slidenum">
              <a:rPr lang="en-US" smtClean="0"/>
              <a:t>10</a:t>
            </a:fld>
            <a:endParaRPr lang="en-US"/>
          </a:p>
        </p:txBody>
      </p:sp>
      <p:sp>
        <p:nvSpPr>
          <p:cNvPr id="3" name="Content Placeholder 2">
            <a:extLst>
              <a:ext uri="{FF2B5EF4-FFF2-40B4-BE49-F238E27FC236}">
                <a16:creationId xmlns:a16="http://schemas.microsoft.com/office/drawing/2014/main" id="{5DCA5FF2-EDAC-7DD1-85B3-262B03398095}"/>
              </a:ext>
            </a:extLst>
          </p:cNvPr>
          <p:cNvSpPr>
            <a:spLocks noGrp="1"/>
          </p:cNvSpPr>
          <p:nvPr>
            <p:ph idx="1"/>
          </p:nvPr>
        </p:nvSpPr>
        <p:spPr>
          <a:xfrm>
            <a:off x="838200" y="1690688"/>
            <a:ext cx="9248775" cy="4351338"/>
          </a:xfrm>
        </p:spPr>
        <p:txBody>
          <a:bodyPr>
            <a:normAutofit/>
          </a:bodyPr>
          <a:lstStyle/>
          <a:p>
            <a:pPr>
              <a:buNone/>
            </a:pPr>
            <a:r>
              <a:rPr lang="en-US" sz="2400" dirty="0">
                <a:latin typeface="Tahoma" panose="020B0604030504040204" pitchFamily="34" charset="0"/>
                <a:ea typeface="Tahoma" panose="020B0604030504040204" pitchFamily="34" charset="0"/>
                <a:cs typeface="Tahoma" panose="020B0604030504040204" pitchFamily="34" charset="0"/>
              </a:rPr>
              <a:t>The circuit behaves as a </a:t>
            </a:r>
            <a:r>
              <a:rPr lang="en-US" sz="2400" b="1" dirty="0">
                <a:latin typeface="Tahoma" panose="020B0604030504040204" pitchFamily="34" charset="0"/>
                <a:ea typeface="Tahoma" panose="020B0604030504040204" pitchFamily="34" charset="0"/>
                <a:cs typeface="Tahoma" panose="020B0604030504040204" pitchFamily="34" charset="0"/>
              </a:rPr>
              <a:t>two-stage control system</a:t>
            </a:r>
            <a:r>
              <a:rPr lang="en-US" sz="2400" dirty="0">
                <a:latin typeface="Tahoma" panose="020B0604030504040204" pitchFamily="34" charset="0"/>
                <a:ea typeface="Tahoma" panose="020B0604030504040204" pitchFamily="34" charset="0"/>
                <a:cs typeface="Tahoma" panose="020B0604030504040204" pitchFamily="34" charset="0"/>
              </a:rPr>
              <a:t>:</a:t>
            </a:r>
          </a:p>
          <a:p>
            <a:pPr lvl="1">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The input (reed switch) determines the state of Q1 </a:t>
            </a:r>
          </a:p>
          <a:p>
            <a:pPr lvl="1">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Q1 controls the voltage applied to Q2 </a:t>
            </a:r>
          </a:p>
          <a:p>
            <a:pPr lvl="1">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Q2 drives the output devices (buzzer and LED) </a:t>
            </a:r>
          </a:p>
          <a:p>
            <a:pPr>
              <a:buNone/>
            </a:pPr>
            <a:r>
              <a:rPr lang="en-US" sz="2400" dirty="0">
                <a:latin typeface="Tahoma" panose="020B0604030504040204" pitchFamily="34" charset="0"/>
                <a:ea typeface="Tahoma" panose="020B0604030504040204" pitchFamily="34" charset="0"/>
                <a:cs typeface="Tahoma" panose="020B0604030504040204" pitchFamily="34" charset="0"/>
              </a:rPr>
              <a:t>This sequential control ensures that the output responds directly to changes in the input condition.</a:t>
            </a:r>
          </a:p>
        </p:txBody>
      </p:sp>
    </p:spTree>
    <p:extLst>
      <p:ext uri="{BB962C8B-B14F-4D97-AF65-F5344CB8AC3E}">
        <p14:creationId xmlns:p14="http://schemas.microsoft.com/office/powerpoint/2010/main" val="1441338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496D0-7839-753E-F9E3-E48B2767BA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AB450-8C7E-097B-999F-CC9E12D00001}"/>
              </a:ext>
            </a:extLst>
          </p:cNvPr>
          <p:cNvSpPr>
            <a:spLocks noGrp="1"/>
          </p:cNvSpPr>
          <p:nvPr>
            <p:ph type="title"/>
          </p:nvPr>
        </p:nvSpPr>
        <p:spPr>
          <a:xfrm>
            <a:off x="838200" y="365125"/>
            <a:ext cx="9028813" cy="1325563"/>
          </a:xfrm>
        </p:spPr>
        <p:txBody>
          <a:bodyPr>
            <a:normAutofit/>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Block Diagram</a:t>
            </a:r>
          </a:p>
        </p:txBody>
      </p:sp>
      <p:sp>
        <p:nvSpPr>
          <p:cNvPr id="4" name="Slide Number Placeholder 3">
            <a:extLst>
              <a:ext uri="{FF2B5EF4-FFF2-40B4-BE49-F238E27FC236}">
                <a16:creationId xmlns:a16="http://schemas.microsoft.com/office/drawing/2014/main" id="{98529189-7760-1E72-26D0-5C854BDF6924}"/>
              </a:ext>
            </a:extLst>
          </p:cNvPr>
          <p:cNvSpPr>
            <a:spLocks noGrp="1"/>
          </p:cNvSpPr>
          <p:nvPr>
            <p:ph type="sldNum" sz="quarter" idx="12"/>
          </p:nvPr>
        </p:nvSpPr>
        <p:spPr/>
        <p:txBody>
          <a:bodyPr/>
          <a:lstStyle/>
          <a:p>
            <a:fld id="{9399B49A-23E5-4E23-96E7-AF330FA2964C}" type="slidenum">
              <a:rPr lang="en-US" smtClean="0"/>
              <a:t>11</a:t>
            </a:fld>
            <a:endParaRPr lang="en-US"/>
          </a:p>
        </p:txBody>
      </p:sp>
      <p:graphicFrame>
        <p:nvGraphicFramePr>
          <p:cNvPr id="5" name="Content Placeholder 4">
            <a:extLst>
              <a:ext uri="{FF2B5EF4-FFF2-40B4-BE49-F238E27FC236}">
                <a16:creationId xmlns:a16="http://schemas.microsoft.com/office/drawing/2014/main" id="{ED6D4E68-43AD-4BE6-80E3-037E216ECEC1}"/>
              </a:ext>
            </a:extLst>
          </p:cNvPr>
          <p:cNvGraphicFramePr>
            <a:graphicFrameLocks noGrp="1"/>
          </p:cNvGraphicFramePr>
          <p:nvPr>
            <p:ph idx="1"/>
            <p:extLst>
              <p:ext uri="{D42A27DB-BD31-4B8C-83A1-F6EECF244321}">
                <p14:modId xmlns:p14="http://schemas.microsoft.com/office/powerpoint/2010/main" val="3248550783"/>
              </p:ext>
            </p:extLst>
          </p:nvPr>
        </p:nvGraphicFramePr>
        <p:xfrm>
          <a:off x="838200" y="1690688"/>
          <a:ext cx="924877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98912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8CE62-5145-40E9-81D8-DC753FDE76A1}"/>
              </a:ext>
            </a:extLst>
          </p:cNvPr>
          <p:cNvSpPr>
            <a:spLocks noGrp="1"/>
          </p:cNvSpPr>
          <p:nvPr>
            <p:ph type="title"/>
          </p:nvPr>
        </p:nvSpPr>
        <p:spPr>
          <a:xfrm>
            <a:off x="838200" y="365125"/>
            <a:ext cx="9268838" cy="1325563"/>
          </a:xfrm>
        </p:spPr>
        <p:txBody>
          <a:bodyPr>
            <a:normAutofit/>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Simulation (OrCAD)</a:t>
            </a:r>
          </a:p>
        </p:txBody>
      </p:sp>
      <p:sp>
        <p:nvSpPr>
          <p:cNvPr id="4" name="Slide Number Placeholder 3">
            <a:extLst>
              <a:ext uri="{FF2B5EF4-FFF2-40B4-BE49-F238E27FC236}">
                <a16:creationId xmlns:a16="http://schemas.microsoft.com/office/drawing/2014/main" id="{CC66211B-3BAA-42E8-8BF3-EEC24D6D5D3A}"/>
              </a:ext>
            </a:extLst>
          </p:cNvPr>
          <p:cNvSpPr>
            <a:spLocks noGrp="1"/>
          </p:cNvSpPr>
          <p:nvPr>
            <p:ph type="sldNum" sz="quarter" idx="12"/>
          </p:nvPr>
        </p:nvSpPr>
        <p:spPr/>
        <p:txBody>
          <a:bodyPr/>
          <a:lstStyle/>
          <a:p>
            <a:fld id="{9399B49A-23E5-4E23-96E7-AF330FA2964C}" type="slidenum">
              <a:rPr lang="en-US" smtClean="0"/>
              <a:t>12</a:t>
            </a:fld>
            <a:endParaRPr lang="en-US"/>
          </a:p>
        </p:txBody>
      </p:sp>
      <p:pic>
        <p:nvPicPr>
          <p:cNvPr id="6" name="Picture 5">
            <a:extLst>
              <a:ext uri="{FF2B5EF4-FFF2-40B4-BE49-F238E27FC236}">
                <a16:creationId xmlns:a16="http://schemas.microsoft.com/office/drawing/2014/main" id="{F5B5AC7E-7233-5841-50F6-FFEE1C20BAF3}"/>
              </a:ext>
            </a:extLst>
          </p:cNvPr>
          <p:cNvPicPr>
            <a:picLocks noChangeAspect="1"/>
          </p:cNvPicPr>
          <p:nvPr/>
        </p:nvPicPr>
        <p:blipFill>
          <a:blip r:embed="rId3"/>
          <a:stretch>
            <a:fillRect/>
          </a:stretch>
        </p:blipFill>
        <p:spPr>
          <a:xfrm>
            <a:off x="161217" y="2146684"/>
            <a:ext cx="5401383" cy="2945406"/>
          </a:xfrm>
          <a:prstGeom prst="rect">
            <a:avLst/>
          </a:prstGeom>
        </p:spPr>
      </p:pic>
      <p:pic>
        <p:nvPicPr>
          <p:cNvPr id="15" name="Picture 14">
            <a:extLst>
              <a:ext uri="{FF2B5EF4-FFF2-40B4-BE49-F238E27FC236}">
                <a16:creationId xmlns:a16="http://schemas.microsoft.com/office/drawing/2014/main" id="{224ED193-31B2-1CE0-D4F4-1BA5AC729DDB}"/>
              </a:ext>
            </a:extLst>
          </p:cNvPr>
          <p:cNvPicPr>
            <a:picLocks noChangeAspect="1"/>
          </p:cNvPicPr>
          <p:nvPr/>
        </p:nvPicPr>
        <p:blipFill>
          <a:blip r:embed="rId4"/>
          <a:stretch>
            <a:fillRect/>
          </a:stretch>
        </p:blipFill>
        <p:spPr>
          <a:xfrm>
            <a:off x="5669228" y="1767878"/>
            <a:ext cx="6012819" cy="3703017"/>
          </a:xfrm>
          <a:prstGeom prst="rect">
            <a:avLst/>
          </a:prstGeom>
        </p:spPr>
      </p:pic>
    </p:spTree>
    <p:extLst>
      <p:ext uri="{BB962C8B-B14F-4D97-AF65-F5344CB8AC3E}">
        <p14:creationId xmlns:p14="http://schemas.microsoft.com/office/powerpoint/2010/main" val="941556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702F712-EA48-D937-D4C6-FBA87E1424A1}"/>
              </a:ext>
            </a:extLst>
          </p:cNvPr>
          <p:cNvPicPr>
            <a:picLocks noChangeAspect="1"/>
          </p:cNvPicPr>
          <p:nvPr/>
        </p:nvPicPr>
        <p:blipFill>
          <a:blip r:embed="rId3"/>
          <a:stretch>
            <a:fillRect/>
          </a:stretch>
        </p:blipFill>
        <p:spPr>
          <a:xfrm>
            <a:off x="2770571" y="1804561"/>
            <a:ext cx="6421417" cy="4290982"/>
          </a:xfrm>
          <a:prstGeom prst="rect">
            <a:avLst/>
          </a:prstGeom>
        </p:spPr>
      </p:pic>
      <p:sp>
        <p:nvSpPr>
          <p:cNvPr id="2" name="Title 1">
            <a:extLst>
              <a:ext uri="{FF2B5EF4-FFF2-40B4-BE49-F238E27FC236}">
                <a16:creationId xmlns:a16="http://schemas.microsoft.com/office/drawing/2014/main" id="{C0BDDBFC-2999-4075-8E04-78D997FAC291}"/>
              </a:ext>
            </a:extLst>
          </p:cNvPr>
          <p:cNvSpPr>
            <a:spLocks noGrp="1"/>
          </p:cNvSpPr>
          <p:nvPr>
            <p:ph type="title"/>
          </p:nvPr>
        </p:nvSpPr>
        <p:spPr/>
        <p:txBody>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Prototype Explanation </a:t>
            </a:r>
          </a:p>
        </p:txBody>
      </p:sp>
      <p:sp>
        <p:nvSpPr>
          <p:cNvPr id="4" name="Slide Number Placeholder 3">
            <a:extLst>
              <a:ext uri="{FF2B5EF4-FFF2-40B4-BE49-F238E27FC236}">
                <a16:creationId xmlns:a16="http://schemas.microsoft.com/office/drawing/2014/main" id="{A776AD51-F693-4ECE-B12E-ABB05FBB6F91}"/>
              </a:ext>
            </a:extLst>
          </p:cNvPr>
          <p:cNvSpPr>
            <a:spLocks noGrp="1"/>
          </p:cNvSpPr>
          <p:nvPr>
            <p:ph type="sldNum" sz="quarter" idx="12"/>
          </p:nvPr>
        </p:nvSpPr>
        <p:spPr/>
        <p:txBody>
          <a:bodyPr/>
          <a:lstStyle/>
          <a:p>
            <a:fld id="{9399B49A-23E5-4E23-96E7-AF330FA2964C}" type="slidenum">
              <a:rPr lang="en-US" smtClean="0"/>
              <a:t>13</a:t>
            </a:fld>
            <a:endParaRPr lang="en-US"/>
          </a:p>
        </p:txBody>
      </p:sp>
      <p:pic>
        <p:nvPicPr>
          <p:cNvPr id="3074" name="Picture 2" descr="Resistor 1kΩ 5% 1/4W CR25 1k">
            <a:extLst>
              <a:ext uri="{FF2B5EF4-FFF2-40B4-BE49-F238E27FC236}">
                <a16:creationId xmlns:a16="http://schemas.microsoft.com/office/drawing/2014/main" id="{AC598A8E-1808-B25A-7018-235E742D71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608816">
            <a:off x="5896247" y="2279308"/>
            <a:ext cx="736231" cy="73623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uy 5V Piezo Buzzer B 10N (Pack of 5) Online At Best Price in India -  Robomart">
            <a:extLst>
              <a:ext uri="{FF2B5EF4-FFF2-40B4-BE49-F238E27FC236}">
                <a16:creationId xmlns:a16="http://schemas.microsoft.com/office/drawing/2014/main" id="{B34AECF1-0B2A-FF64-23F8-EB51E384BEA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3544" t="11928" r="15953" b="17107"/>
          <a:stretch/>
        </p:blipFill>
        <p:spPr bwMode="auto">
          <a:xfrm rot="5400000">
            <a:off x="7197272" y="2747565"/>
            <a:ext cx="633567" cy="84053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A5979E07-C468-FBAB-54C9-18F01AF1E128}"/>
              </a:ext>
            </a:extLst>
          </p:cNvPr>
          <p:cNvPicPr>
            <a:picLocks noChangeAspect="1"/>
          </p:cNvPicPr>
          <p:nvPr/>
        </p:nvPicPr>
        <p:blipFill>
          <a:blip r:embed="rId6">
            <a:extLst>
              <a:ext uri="{28A0092B-C50C-407E-A947-70E740481C1C}">
                <a14:useLocalDpi xmlns:a14="http://schemas.microsoft.com/office/drawing/2010/main" val="0"/>
              </a:ext>
            </a:extLst>
          </a:blip>
          <a:srcRect t="18258" b="18258"/>
          <a:stretch/>
        </p:blipFill>
        <p:spPr>
          <a:xfrm>
            <a:off x="7866266" y="3352278"/>
            <a:ext cx="1325721" cy="759173"/>
          </a:xfrm>
          <a:prstGeom prst="rect">
            <a:avLst/>
          </a:prstGeom>
        </p:spPr>
      </p:pic>
      <p:pic>
        <p:nvPicPr>
          <p:cNvPr id="3078" name="Picture 6" descr="1N4001 Diode: Pinout, Details, Equivalents, Datasheet">
            <a:extLst>
              <a:ext uri="{FF2B5EF4-FFF2-40B4-BE49-F238E27FC236}">
                <a16:creationId xmlns:a16="http://schemas.microsoft.com/office/drawing/2014/main" id="{B69B15D7-9CBD-0A01-7AF2-5E768DDC8CE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4830" t="40256" r="33857" b="40080"/>
          <a:stretch>
            <a:fillRect/>
          </a:stretch>
        </p:blipFill>
        <p:spPr bwMode="auto">
          <a:xfrm rot="5400000">
            <a:off x="4934738" y="2922652"/>
            <a:ext cx="1370400" cy="248026"/>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NPN Transistor 2N3904 H331 40V 200mA 200MHz 625mW TO-92 - OTRONIC">
            <a:extLst>
              <a:ext uri="{FF2B5EF4-FFF2-40B4-BE49-F238E27FC236}">
                <a16:creationId xmlns:a16="http://schemas.microsoft.com/office/drawing/2014/main" id="{802A159D-906A-038F-7615-6511533779D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43180" y="4111451"/>
            <a:ext cx="842367" cy="90097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0" descr="NPN Transistor 2N3904 H331 40V 200mA 200MHz 625mW TO-92 - OTRONIC">
            <a:extLst>
              <a:ext uri="{FF2B5EF4-FFF2-40B4-BE49-F238E27FC236}">
                <a16:creationId xmlns:a16="http://schemas.microsoft.com/office/drawing/2014/main" id="{37CE0D63-C0ED-1A12-7D17-7DC3BAA9ADD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70831" y="4044776"/>
            <a:ext cx="929794" cy="90097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Resistor 1kΩ 5% 1/4W CR25 1k">
            <a:extLst>
              <a:ext uri="{FF2B5EF4-FFF2-40B4-BE49-F238E27FC236}">
                <a16:creationId xmlns:a16="http://schemas.microsoft.com/office/drawing/2014/main" id="{E294E0AC-0372-5B2D-866F-2A0DA6C6A2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608816">
            <a:off x="4021239" y="2779257"/>
            <a:ext cx="949431" cy="94943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Resistor 1kΩ 5% 1/4W CR25 1k">
            <a:extLst>
              <a:ext uri="{FF2B5EF4-FFF2-40B4-BE49-F238E27FC236}">
                <a16:creationId xmlns:a16="http://schemas.microsoft.com/office/drawing/2014/main" id="{B8E11E4D-6E15-9A11-2D21-7E0BD16083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7972909">
            <a:off x="3195620" y="1749374"/>
            <a:ext cx="949431" cy="9494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B1FDA439-49D4-D1BE-19BB-7AA7FC5DD772}"/>
              </a:ext>
            </a:extLst>
          </p:cNvPr>
          <p:cNvPicPr>
            <a:picLocks noChangeAspect="1"/>
          </p:cNvPicPr>
          <p:nvPr/>
        </p:nvPicPr>
        <p:blipFill>
          <a:blip r:embed="rId9"/>
          <a:srcRect t="30620" b="27640"/>
          <a:stretch>
            <a:fillRect/>
          </a:stretch>
        </p:blipFill>
        <p:spPr>
          <a:xfrm rot="16200000">
            <a:off x="2444983" y="3174226"/>
            <a:ext cx="1135899" cy="266700"/>
          </a:xfrm>
          <a:prstGeom prst="rect">
            <a:avLst/>
          </a:prstGeom>
        </p:spPr>
      </p:pic>
      <p:pic>
        <p:nvPicPr>
          <p:cNvPr id="4098" name="Picture 2" descr="Lite-On 2.6 V Red LED 5 mm Through Hole LTL LTL-307P | RS">
            <a:extLst>
              <a:ext uri="{FF2B5EF4-FFF2-40B4-BE49-F238E27FC236}">
                <a16:creationId xmlns:a16="http://schemas.microsoft.com/office/drawing/2014/main" id="{196E93D8-8546-D7E6-92E3-0E4FB70D940A}"/>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6091" t="-5101"/>
          <a:stretch>
            <a:fillRect/>
          </a:stretch>
        </p:blipFill>
        <p:spPr bwMode="auto">
          <a:xfrm rot="8042096">
            <a:off x="5967906" y="3057549"/>
            <a:ext cx="506865" cy="72078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AAA2ED2-BCAE-E8F6-E79D-BE324798444B}"/>
              </a:ext>
            </a:extLst>
          </p:cNvPr>
          <p:cNvSpPr txBox="1"/>
          <p:nvPr/>
        </p:nvSpPr>
        <p:spPr>
          <a:xfrm>
            <a:off x="8796602" y="3686320"/>
            <a:ext cx="918956" cy="261610"/>
          </a:xfrm>
          <a:prstGeom prst="rect">
            <a:avLst/>
          </a:prstGeom>
          <a:noFill/>
        </p:spPr>
        <p:txBody>
          <a:bodyPr wrap="square" rtlCol="0">
            <a:spAutoFit/>
          </a:bodyPr>
          <a:lstStyle/>
          <a:p>
            <a:r>
              <a:rPr lang="en-US" sz="1100" dirty="0"/>
              <a:t>11.96V</a:t>
            </a:r>
          </a:p>
        </p:txBody>
      </p:sp>
    </p:spTree>
    <p:extLst>
      <p:ext uri="{BB962C8B-B14F-4D97-AF65-F5344CB8AC3E}">
        <p14:creationId xmlns:p14="http://schemas.microsoft.com/office/powerpoint/2010/main" val="1762428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AA2B2-BD3F-4392-94E3-2947D746C8D0}"/>
              </a:ext>
            </a:extLst>
          </p:cNvPr>
          <p:cNvSpPr>
            <a:spLocks noGrp="1"/>
          </p:cNvSpPr>
          <p:nvPr>
            <p:ph type="title"/>
          </p:nvPr>
        </p:nvSpPr>
        <p:spPr>
          <a:xfrm>
            <a:off x="838200" y="365125"/>
            <a:ext cx="10515600" cy="1325563"/>
          </a:xfrm>
        </p:spPr>
        <p:txBody>
          <a:bodyPr>
            <a:normAutofit/>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Problems and Difficulties</a:t>
            </a:r>
          </a:p>
        </p:txBody>
      </p:sp>
      <p:sp>
        <p:nvSpPr>
          <p:cNvPr id="4" name="Slide Number Placeholder 3">
            <a:extLst>
              <a:ext uri="{FF2B5EF4-FFF2-40B4-BE49-F238E27FC236}">
                <a16:creationId xmlns:a16="http://schemas.microsoft.com/office/drawing/2014/main" id="{B6EFF439-E57B-4C70-A2BF-F87D774AE581}"/>
              </a:ext>
            </a:extLst>
          </p:cNvPr>
          <p:cNvSpPr>
            <a:spLocks noGrp="1"/>
          </p:cNvSpPr>
          <p:nvPr>
            <p:ph type="sldNum" sz="quarter" idx="12"/>
          </p:nvPr>
        </p:nvSpPr>
        <p:spPr/>
        <p:txBody>
          <a:bodyPr/>
          <a:lstStyle/>
          <a:p>
            <a:fld id="{9399B49A-23E5-4E23-96E7-AF330FA2964C}" type="slidenum">
              <a:rPr lang="en-US" smtClean="0"/>
              <a:t>14</a:t>
            </a:fld>
            <a:endParaRPr lang="en-US"/>
          </a:p>
        </p:txBody>
      </p:sp>
      <p:sp>
        <p:nvSpPr>
          <p:cNvPr id="3" name="Content Placeholder 2">
            <a:extLst>
              <a:ext uri="{FF2B5EF4-FFF2-40B4-BE49-F238E27FC236}">
                <a16:creationId xmlns:a16="http://schemas.microsoft.com/office/drawing/2014/main" id="{03A9D822-5BC5-8AB3-3DA5-4D11BDB8ED72}"/>
              </a:ext>
            </a:extLst>
          </p:cNvPr>
          <p:cNvSpPr>
            <a:spLocks noGrp="1"/>
          </p:cNvSpPr>
          <p:nvPr>
            <p:ph idx="1"/>
          </p:nvPr>
        </p:nvSpPr>
        <p:spPr/>
        <p:txBody>
          <a:bodyPr>
            <a:normAutofit/>
          </a:bodyPr>
          <a:lstStyle/>
          <a:p>
            <a:pPr marL="403225" lvl="0" indent="-403225">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Ensuring correct transistor biasing</a:t>
            </a:r>
          </a:p>
          <a:p>
            <a:pPr marL="403225" lvl="0" indent="-403225">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Maintaining stable operation at 11.96 V</a:t>
            </a:r>
          </a:p>
          <a:p>
            <a:pPr marL="403225" lvl="0" indent="-403225">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Finding replacements for components missing from Pspice simulation libraries</a:t>
            </a:r>
          </a:p>
          <a:p>
            <a:pPr marL="403225" lvl="0" indent="-403225">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Verifying correct switching behavior during testing</a:t>
            </a:r>
          </a:p>
        </p:txBody>
      </p:sp>
    </p:spTree>
    <p:extLst>
      <p:ext uri="{BB962C8B-B14F-4D97-AF65-F5344CB8AC3E}">
        <p14:creationId xmlns:p14="http://schemas.microsoft.com/office/powerpoint/2010/main" val="22111157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44F24-5661-4BB5-AC67-926F0FBD6197}"/>
              </a:ext>
            </a:extLst>
          </p:cNvPr>
          <p:cNvSpPr>
            <a:spLocks noGrp="1"/>
          </p:cNvSpPr>
          <p:nvPr>
            <p:ph type="title"/>
          </p:nvPr>
        </p:nvSpPr>
        <p:spPr/>
        <p:txBody>
          <a:bodyPr>
            <a:normAutofit/>
          </a:bodyPr>
          <a:lstStyle/>
          <a:p>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Conclusion</a:t>
            </a:r>
            <a:r>
              <a:rPr lang="en-US" dirty="0">
                <a:solidFill>
                  <a:schemeClr val="tx1"/>
                </a:solidFill>
                <a:latin typeface="Adobe Gothic Std B" panose="020B0800000000000000" pitchFamily="34" charset="-128"/>
                <a:ea typeface="Adobe Gothic Std B" panose="020B0800000000000000" pitchFamily="34" charset="-128"/>
              </a:rPr>
              <a:t> </a:t>
            </a:r>
          </a:p>
        </p:txBody>
      </p:sp>
      <p:sp>
        <p:nvSpPr>
          <p:cNvPr id="4" name="Slide Number Placeholder 3">
            <a:extLst>
              <a:ext uri="{FF2B5EF4-FFF2-40B4-BE49-F238E27FC236}">
                <a16:creationId xmlns:a16="http://schemas.microsoft.com/office/drawing/2014/main" id="{06FFBE19-2E78-4AFC-9973-7248446E4615}"/>
              </a:ext>
            </a:extLst>
          </p:cNvPr>
          <p:cNvSpPr>
            <a:spLocks noGrp="1"/>
          </p:cNvSpPr>
          <p:nvPr>
            <p:ph type="sldNum" sz="quarter" idx="12"/>
          </p:nvPr>
        </p:nvSpPr>
        <p:spPr/>
        <p:txBody>
          <a:bodyPr/>
          <a:lstStyle/>
          <a:p>
            <a:fld id="{9399B49A-23E5-4E23-96E7-AF330FA2964C}" type="slidenum">
              <a:rPr lang="en-US" smtClean="0"/>
              <a:t>15</a:t>
            </a:fld>
            <a:endParaRPr lang="en-US"/>
          </a:p>
        </p:txBody>
      </p:sp>
      <p:sp>
        <p:nvSpPr>
          <p:cNvPr id="6" name="Content Placeholder 5">
            <a:extLst>
              <a:ext uri="{FF2B5EF4-FFF2-40B4-BE49-F238E27FC236}">
                <a16:creationId xmlns:a16="http://schemas.microsoft.com/office/drawing/2014/main" id="{0781C2C2-CC1B-B7CA-F8AC-F959E353A0A0}"/>
              </a:ext>
            </a:extLst>
          </p:cNvPr>
          <p:cNvSpPr>
            <a:spLocks noGrp="1"/>
          </p:cNvSpPr>
          <p:nvPr>
            <p:ph idx="1"/>
          </p:nvPr>
        </p:nvSpPr>
        <p:spPr>
          <a:xfrm>
            <a:off x="1176020" y="1684338"/>
            <a:ext cx="9339580" cy="4667250"/>
          </a:xfrm>
        </p:spPr>
        <p:txBody>
          <a:bodyPr>
            <a:normAutofit lnSpcReduction="10000"/>
          </a:bodyPr>
          <a:lstStyle/>
          <a:p>
            <a:pPr marL="0" indent="0">
              <a:buNone/>
            </a:pPr>
            <a:r>
              <a:rPr lang="en-US" sz="2400" dirty="0">
                <a:latin typeface="Tahoma" panose="020B0604030504040204" pitchFamily="34" charset="0"/>
                <a:ea typeface="Tahoma" panose="020B0604030504040204" pitchFamily="34" charset="0"/>
                <a:cs typeface="Tahoma" panose="020B0604030504040204" pitchFamily="34" charset="0"/>
              </a:rPr>
              <a:t>The designed door alarm system successfully detects door opening and activates an alert.</a:t>
            </a:r>
          </a:p>
          <a:p>
            <a:pPr>
              <a:buNone/>
            </a:pPr>
            <a:r>
              <a:rPr lang="en-US" sz="2400" b="1" dirty="0">
                <a:latin typeface="Tahoma" panose="020B0604030504040204" pitchFamily="34" charset="0"/>
                <a:ea typeface="Tahoma" panose="020B0604030504040204" pitchFamily="34" charset="0"/>
                <a:cs typeface="Tahoma" panose="020B0604030504040204" pitchFamily="34" charset="0"/>
              </a:rPr>
              <a:t>The circuit demonstrates:</a:t>
            </a:r>
          </a:p>
          <a:p>
            <a:pPr lvl="1">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Reliable switching using BJTs </a:t>
            </a:r>
          </a:p>
          <a:p>
            <a:pPr lvl="1">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Effective use of a magnetic sensor </a:t>
            </a:r>
          </a:p>
          <a:p>
            <a:pPr lvl="1">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Stable performance under assigned conditions </a:t>
            </a:r>
          </a:p>
          <a:p>
            <a:pPr marL="0" indent="0">
              <a:buNone/>
            </a:pPr>
            <a:r>
              <a:rPr lang="en-US" sz="2400" dirty="0">
                <a:latin typeface="Tahoma" panose="020B0604030504040204" pitchFamily="34" charset="0"/>
                <a:ea typeface="Tahoma" panose="020B0604030504040204" pitchFamily="34" charset="0"/>
                <a:cs typeface="Tahoma" panose="020B0604030504040204" pitchFamily="34" charset="0"/>
              </a:rPr>
              <a:t>This project highlights the practical application of electronic devices in security systems.</a:t>
            </a:r>
          </a:p>
        </p:txBody>
      </p:sp>
    </p:spTree>
    <p:extLst>
      <p:ext uri="{BB962C8B-B14F-4D97-AF65-F5344CB8AC3E}">
        <p14:creationId xmlns:p14="http://schemas.microsoft.com/office/powerpoint/2010/main" val="3805310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7E064-938C-4200-A5C5-1069B7311F6F}"/>
              </a:ext>
            </a:extLst>
          </p:cNvPr>
          <p:cNvSpPr>
            <a:spLocks noGrp="1"/>
          </p:cNvSpPr>
          <p:nvPr>
            <p:ph type="title"/>
          </p:nvPr>
        </p:nvSpPr>
        <p:spPr/>
        <p:txBody>
          <a:bodyPr/>
          <a:lstStyle/>
          <a:p>
            <a:r>
              <a:rPr lang="en-US" sz="4300" dirty="0">
                <a:solidFill>
                  <a:schemeClr val="tx1"/>
                </a:solidFill>
                <a:latin typeface="Tahoma" panose="020B0604030504040204" pitchFamily="34" charset="0"/>
                <a:ea typeface="Tahoma" panose="020B0604030504040204" pitchFamily="34" charset="0"/>
                <a:cs typeface="Tahoma" panose="020B0604030504040204" pitchFamily="34" charset="0"/>
              </a:rPr>
              <a:t>References</a:t>
            </a:r>
          </a:p>
        </p:txBody>
      </p:sp>
      <p:sp>
        <p:nvSpPr>
          <p:cNvPr id="3" name="Content Placeholder 2">
            <a:extLst>
              <a:ext uri="{FF2B5EF4-FFF2-40B4-BE49-F238E27FC236}">
                <a16:creationId xmlns:a16="http://schemas.microsoft.com/office/drawing/2014/main" id="{F1172DE0-074B-4261-BD50-757F0EF9CB3C}"/>
              </a:ext>
            </a:extLst>
          </p:cNvPr>
          <p:cNvSpPr>
            <a:spLocks noGrp="1"/>
          </p:cNvSpPr>
          <p:nvPr>
            <p:ph idx="1"/>
          </p:nvPr>
        </p:nvSpPr>
        <p:spPr>
          <a:xfrm>
            <a:off x="838200" y="1643857"/>
            <a:ext cx="9379688" cy="4759325"/>
          </a:xfrm>
        </p:spPr>
        <p:txBody>
          <a:bodyPr>
            <a:normAutofit/>
          </a:bodyPr>
          <a:lstStyle/>
          <a:p>
            <a:pPr algn="just">
              <a:buFont typeface="Wingdings" panose="05000000000000000000" pitchFamily="2" charset="2"/>
              <a:buChar char="§"/>
            </a:pPr>
            <a:r>
              <a:rPr lang="en-US" sz="2000" dirty="0" err="1">
                <a:latin typeface="Tahoma" panose="020B0604030504040204" pitchFamily="34" charset="0"/>
                <a:ea typeface="Tahoma" panose="020B0604030504040204" pitchFamily="34" charset="0"/>
                <a:cs typeface="Tahoma" panose="020B0604030504040204" pitchFamily="34" charset="0"/>
              </a:rPr>
              <a:t>Eswitch</a:t>
            </a:r>
            <a:r>
              <a:rPr lang="en-US" sz="2000" dirty="0">
                <a:latin typeface="Tahoma" panose="020B0604030504040204" pitchFamily="34" charset="0"/>
                <a:ea typeface="Tahoma" panose="020B0604030504040204" pitchFamily="34" charset="0"/>
                <a:cs typeface="Tahoma" panose="020B0604030504040204" pitchFamily="34" charset="0"/>
              </a:rPr>
              <a:t>, “What is a Magnetic Reed Switch and How Does it Work? - E-Switch,” E-Switch, Feb. 13, 2026. </a:t>
            </a:r>
            <a:r>
              <a:rPr lang="en-US" sz="2000" dirty="0">
                <a:latin typeface="Tahoma" panose="020B0604030504040204" pitchFamily="34" charset="0"/>
                <a:ea typeface="Tahoma" panose="020B0604030504040204" pitchFamily="34" charset="0"/>
                <a:cs typeface="Tahoma" panose="020B0604030504040204" pitchFamily="34" charset="0"/>
                <a:hlinkClick r:id="rId2"/>
              </a:rPr>
              <a:t>https://www.e-switch.com/news-events/blog/switches-simplified/what-is-a-magnetic-reed-switch/</a:t>
            </a:r>
            <a:endParaRPr lang="en-US" sz="2000" dirty="0">
              <a:latin typeface="Tahoma" panose="020B0604030504040204" pitchFamily="34" charset="0"/>
              <a:ea typeface="Tahoma" panose="020B0604030504040204" pitchFamily="34" charset="0"/>
              <a:cs typeface="Tahoma" panose="020B0604030504040204" pitchFamily="34" charset="0"/>
            </a:endParaRPr>
          </a:p>
          <a:p>
            <a:pPr algn="just">
              <a:buFont typeface="Wingdings" panose="05000000000000000000" pitchFamily="2" charset="2"/>
              <a:buChar char="§"/>
            </a:pPr>
            <a:r>
              <a:rPr lang="en-US" sz="2000" dirty="0">
                <a:latin typeface="Tahoma" panose="020B0604030504040204" pitchFamily="34" charset="0"/>
                <a:ea typeface="Tahoma" panose="020B0604030504040204" pitchFamily="34" charset="0"/>
                <a:cs typeface="Tahoma" panose="020B0604030504040204" pitchFamily="34" charset="0"/>
                <a:hlinkClick r:id="rId3"/>
              </a:rPr>
              <a:t>https://www.onsemi.com/download/data-sheet/pdf/bc547-d.pdf</a:t>
            </a:r>
            <a:endParaRPr lang="en-US" sz="2000" dirty="0">
              <a:latin typeface="Tahoma" panose="020B0604030504040204" pitchFamily="34" charset="0"/>
              <a:ea typeface="Tahoma" panose="020B0604030504040204" pitchFamily="34" charset="0"/>
              <a:cs typeface="Tahoma" panose="020B0604030504040204" pitchFamily="34" charset="0"/>
            </a:endParaRPr>
          </a:p>
          <a:p>
            <a:pPr algn="just">
              <a:buFont typeface="Wingdings" panose="05000000000000000000" pitchFamily="2" charset="2"/>
              <a:buChar char="§"/>
            </a:pPr>
            <a:r>
              <a:rPr lang="en-US" sz="2000" dirty="0">
                <a:latin typeface="Tahoma" panose="020B0604030504040204" pitchFamily="34" charset="0"/>
                <a:ea typeface="Tahoma" panose="020B0604030504040204" pitchFamily="34" charset="0"/>
                <a:cs typeface="Tahoma" panose="020B0604030504040204" pitchFamily="34" charset="0"/>
              </a:rPr>
              <a:t>Vishay General Semiconductor, “General Purpose Plastic Rectifier,” technical report Document Number: 88503, Mar. 2020. [Online]. Available: </a:t>
            </a:r>
            <a:r>
              <a:rPr lang="en-US" sz="2000" dirty="0">
                <a:latin typeface="Tahoma" panose="020B0604030504040204" pitchFamily="34" charset="0"/>
                <a:ea typeface="Tahoma" panose="020B0604030504040204" pitchFamily="34" charset="0"/>
                <a:cs typeface="Tahoma" panose="020B0604030504040204" pitchFamily="34" charset="0"/>
                <a:hlinkClick r:id="rId4"/>
              </a:rPr>
              <a:t>https://www.vishay.com/docs/88503/1n4007.pdf</a:t>
            </a:r>
            <a:endParaRPr lang="en-US" sz="2000" dirty="0">
              <a:latin typeface="Tahoma" panose="020B0604030504040204" pitchFamily="34" charset="0"/>
              <a:ea typeface="Tahoma" panose="020B0604030504040204" pitchFamily="34" charset="0"/>
              <a:cs typeface="Tahoma" panose="020B0604030504040204" pitchFamily="34" charset="0"/>
            </a:endParaRPr>
          </a:p>
          <a:p>
            <a:pPr algn="just">
              <a:buFont typeface="Wingdings" panose="05000000000000000000" pitchFamily="2" charset="2"/>
              <a:buChar char="§"/>
            </a:pP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a:extLst>
              <a:ext uri="{FF2B5EF4-FFF2-40B4-BE49-F238E27FC236}">
                <a16:creationId xmlns:a16="http://schemas.microsoft.com/office/drawing/2014/main" id="{733FF90D-AFC4-4216-BC45-CEA1338C9990}"/>
              </a:ext>
            </a:extLst>
          </p:cNvPr>
          <p:cNvSpPr>
            <a:spLocks noGrp="1"/>
          </p:cNvSpPr>
          <p:nvPr>
            <p:ph type="sldNum" sz="quarter" idx="12"/>
          </p:nvPr>
        </p:nvSpPr>
        <p:spPr/>
        <p:txBody>
          <a:bodyPr/>
          <a:lstStyle/>
          <a:p>
            <a:fld id="{9399B49A-23E5-4E23-96E7-AF330FA2964C}" type="slidenum">
              <a:rPr lang="en-US" smtClean="0"/>
              <a:t>16</a:t>
            </a:fld>
            <a:endParaRPr lang="en-US" dirty="0"/>
          </a:p>
        </p:txBody>
      </p:sp>
    </p:spTree>
    <p:extLst>
      <p:ext uri="{BB962C8B-B14F-4D97-AF65-F5344CB8AC3E}">
        <p14:creationId xmlns:p14="http://schemas.microsoft.com/office/powerpoint/2010/main" val="3401492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heme1(spr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spring)" id="{0C341263-65AA-413C-BBDF-6530123594D0}" vid="{15FC9F93-5FDD-4404-BD75-DF4E3C3DA2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Theme1(spring)</Template>
  <TotalTime>3477</TotalTime>
  <Words>950</Words>
  <Application>Microsoft Office PowerPoint</Application>
  <PresentationFormat>Widescreen</PresentationFormat>
  <Paragraphs>157</Paragraphs>
  <Slides>16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Adobe Gothic Std B</vt:lpstr>
      <vt:lpstr>Arial</vt:lpstr>
      <vt:lpstr>Calibri</vt:lpstr>
      <vt:lpstr>Tahoma</vt:lpstr>
      <vt:lpstr>Times New Roman</vt:lpstr>
      <vt:lpstr>Wingdings</vt:lpstr>
      <vt:lpstr>Theme1(spring)</vt:lpstr>
      <vt:lpstr>Design and Implementation of a Door Security Alarm System Using BJT Switching</vt:lpstr>
      <vt:lpstr>Introduction</vt:lpstr>
      <vt:lpstr>Aim and Objectives</vt:lpstr>
      <vt:lpstr>Criteria and Constraints</vt:lpstr>
      <vt:lpstr>Components Specifications </vt:lpstr>
      <vt:lpstr>Project Description and Applications</vt:lpstr>
      <vt:lpstr>Proposed Solution and Design Evaluation</vt:lpstr>
      <vt:lpstr>Magnetic Reed Switch</vt:lpstr>
      <vt:lpstr>BJT Transistor Fundamentals</vt:lpstr>
      <vt:lpstr>Control System Concept</vt:lpstr>
      <vt:lpstr>Block Diagram</vt:lpstr>
      <vt:lpstr>Simulation (OrCAD)</vt:lpstr>
      <vt:lpstr>Prototype Explanation </vt:lpstr>
      <vt:lpstr>Problems and Difficulties</vt:lpstr>
      <vt:lpstr>Conclusion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Parking Management System</dc:title>
  <dc:creator>Muhammad</dc:creator>
  <cp:lastModifiedBy>Yousef AlAbdulrazzaq</cp:lastModifiedBy>
  <cp:revision>645</cp:revision>
  <dcterms:created xsi:type="dcterms:W3CDTF">2024-03-09T02:51:18Z</dcterms:created>
  <dcterms:modified xsi:type="dcterms:W3CDTF">2026-05-02T16:52:17Z</dcterms:modified>
</cp:coreProperties>
</file>